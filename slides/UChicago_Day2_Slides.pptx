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embeddedFontLst>
    <p:embeddedFont>
      <p:font typeface="Fira Code" panose="020B0809050000020004" pitchFamily="49" charset="0"/>
      <p:regular r:id="rId49"/>
      <p:bold r:id="rId50"/>
    </p:embeddedFont>
    <p:embeddedFont>
      <p:font typeface="Nunito" pitchFamily="2" charset="77"/>
      <p:regular r:id="rId51"/>
      <p:bold r:id="rId52"/>
      <p:italic r:id="rId53"/>
      <p:boldItalic r:id="rId54"/>
    </p:embeddedFont>
    <p:embeddedFont>
      <p:font typeface="Quicksand"/>
      <p:bold r:id="rId5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5"/>
  </p:normalViewPr>
  <p:slideViewPr>
    <p:cSldViewPr snapToGrid="0" snapToObjects="1">
      <p:cViewPr varScale="1">
        <p:scale>
          <a:sx n="117" d="100"/>
          <a:sy n="117" d="100"/>
        </p:scale>
        <p:origin x="55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7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limorigu/uchicago-python-ai-workshop/blob/main/notebooks/03_news_dashboard_STARTER.ipynb" TargetMode="Externa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bit.ly/4yRXFva" TargetMode="Externa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81.png"/><Relationship Id="rId7" Type="http://schemas.openxmlformats.org/officeDocument/2006/relationships/image" Target="../media/image83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8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1.png"/><Relationship Id="rId7" Type="http://schemas.openxmlformats.org/officeDocument/2006/relationships/image" Target="../media/image88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limorigu/uchicago-python-ai-workshop/blob/main/notebooks/03_news_dashboard_STARTER.ipynb" TargetMode="Externa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6.png"/><Relationship Id="rId7" Type="http://schemas.openxmlformats.org/officeDocument/2006/relationships/image" Target="../media/image9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6.png"/><Relationship Id="rId7" Type="http://schemas.openxmlformats.org/officeDocument/2006/relationships/image" Target="../media/image9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962650"/>
            <a:ext cx="10972800" cy="438150"/>
          </a:xfrm>
          <a:prstGeom prst="roundRect">
            <a:avLst>
              <a:gd name="adj" fmla="val 50000"/>
            </a:avLst>
          </a:prstGeom>
          <a:solidFill>
            <a:srgbClr val="263B2F"/>
          </a:solidFill>
          <a:ln w="9525">
            <a:solidFill>
              <a:srgbClr val="3B5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955035" y="2173634"/>
            <a:ext cx="4627364" cy="2367855"/>
          </a:xfrm>
          <a:prstGeom prst="roundRect">
            <a:avLst>
              <a:gd name="adj" fmla="val 11263"/>
            </a:avLst>
          </a:prstGeom>
          <a:solidFill>
            <a:srgbClr val="263B2F"/>
          </a:solidFill>
          <a:ln w="19050">
            <a:solidFill>
              <a:srgbClr val="3B5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3775" y="6096000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0785" y="2459384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6035" y="2554634"/>
            <a:ext cx="1524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6775" y="6086475"/>
            <a:ext cx="67508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DCE5DF"/>
                </a:solidFill>
                <a:latin typeface="Fira Code"/>
              </a:rPr>
              <a:t>9:00 – 3:00 · laptops required · everything runs in the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387947"/>
            <a:ext cx="7828322" cy="7771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6120"/>
              </a:lnSpc>
            </a:pPr>
            <a:r>
              <a:rPr sz="6000" b="1" i="0" u="none">
                <a:solidFill>
                  <a:srgbClr val="FAF7F0"/>
                </a:solidFill>
                <a:latin typeface="Quicksand"/>
              </a:rPr>
              <a:t>Python </a:t>
            </a:r>
            <a:r>
              <a:rPr sz="6000" b="1" i="0" u="none">
                <a:solidFill>
                  <a:srgbClr val="80ED99"/>
                </a:solidFill>
                <a:latin typeface="Quicksand"/>
              </a:rPr>
              <a:t>and</a:t>
            </a:r>
            <a:r>
              <a:rPr sz="6000" b="1" i="0" u="none">
                <a:solidFill>
                  <a:srgbClr val="FAF7F0"/>
                </a:solidFill>
                <a:latin typeface="Quicksand"/>
              </a:rPr>
              <a:t>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374677"/>
            <a:ext cx="605968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C8DFD0"/>
                </a:solidFill>
                <a:latin typeface="Nunito"/>
              </a:rPr>
              <a:t>Day 2 of 2 · AI for finance — joint with UChicago tech majors · University of Chicago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079527"/>
            <a:ext cx="5342809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 dirty="0">
                <a:solidFill>
                  <a:srgbClr val="F4845F"/>
                </a:solidFill>
                <a:latin typeface="Nunito"/>
              </a:rPr>
              <a:t>Limor Gultchin · </a:t>
            </a:r>
            <a:r>
              <a:rPr lang="en-US" sz="1425" b="1" i="0" u="none" dirty="0">
                <a:solidFill>
                  <a:srgbClr val="F4845F"/>
                </a:solidFill>
                <a:latin typeface="Nunito"/>
              </a:rPr>
              <a:t>Director</a:t>
            </a:r>
            <a:r>
              <a:rPr sz="1425" b="1" i="0" u="none" dirty="0">
                <a:solidFill>
                  <a:srgbClr val="F4845F"/>
                </a:solidFill>
                <a:latin typeface="Nunito"/>
              </a:rPr>
              <a:t> AI</a:t>
            </a:r>
            <a:r>
              <a:rPr lang="en-US" sz="1425" b="1" i="0" u="none" dirty="0">
                <a:solidFill>
                  <a:srgbClr val="F4845F"/>
                </a:solidFill>
                <a:latin typeface="Nunito"/>
              </a:rPr>
              <a:t> &amp; Data Science</a:t>
            </a:r>
            <a:r>
              <a:rPr sz="1425" b="1" i="0" u="none" dirty="0">
                <a:solidFill>
                  <a:srgbClr val="F4845F"/>
                </a:solidFill>
                <a:latin typeface="Nunito"/>
              </a:rPr>
              <a:t>, Berkshire Partners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0785" y="3078509"/>
            <a:ext cx="4951214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A3BFA8"/>
                </a:solidFill>
                <a:latin typeface="Fira Code"/>
              </a:rPr>
              <a:t># Measure before you 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0785" y="3304430"/>
            <a:ext cx="4951214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FDE68A"/>
                </a:solidFill>
                <a:latin typeface="Fira Code"/>
              </a:rPr>
              <a:t>gold_agreement</a:t>
            </a:r>
            <a:r>
              <a:rPr sz="1050" b="0" i="0" u="none">
                <a:solidFill>
                  <a:srgbClr val="FAF7F0"/>
                </a:solidFill>
                <a:latin typeface="Fira Code"/>
              </a:rPr>
              <a:t> = </a:t>
            </a:r>
            <a:r>
              <a:rPr sz="1050" b="0" i="0" u="none">
                <a:solidFill>
                  <a:srgbClr val="F4845F"/>
                </a:solidFill>
                <a:latin typeface="Fira Code"/>
              </a:rPr>
              <a:t>0.80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0785" y="3530351"/>
            <a:ext cx="4951214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FDE68A"/>
                </a:solidFill>
                <a:latin typeface="Fira Code"/>
              </a:rPr>
              <a:t>lexicon_acc</a:t>
            </a:r>
            <a:r>
              <a:rPr sz="1050" b="0" i="0" u="none">
                <a:solidFill>
                  <a:srgbClr val="FAF7F0"/>
                </a:solidFill>
                <a:latin typeface="Fira Code"/>
              </a:rPr>
              <a:t>    = </a:t>
            </a:r>
            <a:r>
              <a:rPr sz="1050" b="0" i="0" u="none">
                <a:solidFill>
                  <a:srgbClr val="F4845F"/>
                </a:solidFill>
                <a:latin typeface="Fira Code"/>
              </a:rPr>
              <a:t>0.44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0785" y="3756273"/>
            <a:ext cx="4951214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FDE68A"/>
                </a:solidFill>
                <a:latin typeface="Fira Code"/>
              </a:rPr>
              <a:t>llm_v2_acc</a:t>
            </a:r>
            <a:r>
              <a:rPr sz="1050" b="0" i="0" u="none">
                <a:solidFill>
                  <a:srgbClr val="FAF7F0"/>
                </a:solidFill>
                <a:latin typeface="Fira Code"/>
              </a:rPr>
              <a:t>     = </a:t>
            </a:r>
            <a:r>
              <a:rPr sz="1050" b="0" i="0" u="none">
                <a:solidFill>
                  <a:srgbClr val="80ED99"/>
                </a:solidFill>
                <a:latin typeface="Fira Code"/>
              </a:rPr>
              <a:t>0.89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0785" y="4029819"/>
            <a:ext cx="4951214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80ED99"/>
                </a:solidFill>
                <a:latin typeface="Fira Code"/>
              </a:rPr>
              <a:t>→ 0 missed negatives · ship V3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83614" y="2549872"/>
            <a:ext cx="99878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80ED99"/>
                </a:solidFill>
                <a:latin typeface="Fira Code"/>
              </a:rPr>
              <a:t>● Day 2 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8935" y="2530822"/>
            <a:ext cx="2678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AF7F0"/>
                </a:solidFill>
                <a:latin typeface="Quicksand"/>
              </a:rPr>
              <a:t>03_news_dashboard.ipynb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77A65D2-D958-C8EA-0CD9-6C2284004B82}"/>
              </a:ext>
            </a:extLst>
          </p:cNvPr>
          <p:cNvSpPr/>
          <p:nvPr/>
        </p:nvSpPr>
        <p:spPr>
          <a:xfrm>
            <a:off x="609600" y="457200"/>
            <a:ext cx="1924050" cy="295275"/>
          </a:xfrm>
          <a:prstGeom prst="roundRect">
            <a:avLst>
              <a:gd name="adj" fmla="val 50000"/>
            </a:avLst>
          </a:prstGeom>
          <a:solidFill>
            <a:srgbClr val="283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23F295B3-D00F-E226-9F32-45AD538C03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533400"/>
            <a:ext cx="133350" cy="13335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42EA3E4-B304-FF16-2A5B-F5F90EB500A0}"/>
              </a:ext>
            </a:extLst>
          </p:cNvPr>
          <p:cNvSpPr txBox="1"/>
          <p:nvPr/>
        </p:nvSpPr>
        <p:spPr>
          <a:xfrm>
            <a:off x="1047750" y="523331"/>
            <a:ext cx="14859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80ED99"/>
                </a:solidFill>
                <a:latin typeface="Fira Code"/>
              </a:rPr>
              <a:t>FROM EXCEL TO</a:t>
            </a:r>
            <a:r>
              <a:rPr lang="en-US" sz="1050" b="1" i="0" u="none" dirty="0">
                <a:solidFill>
                  <a:srgbClr val="80ED99"/>
                </a:solidFill>
                <a:latin typeface="Fira Code"/>
              </a:rPr>
              <a:t> AI</a:t>
            </a:r>
            <a:endParaRPr sz="1050" b="1" i="0" u="none" dirty="0">
              <a:solidFill>
                <a:srgbClr val="80ED99"/>
              </a:solidFill>
              <a:latin typeface="Fira 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1595288"/>
            <a:ext cx="5467350" cy="1996082"/>
          </a:xfrm>
          <a:prstGeom prst="roundRect">
            <a:avLst>
              <a:gd name="adj" fmla="val 11452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595288"/>
            <a:ext cx="5467350" cy="1996082"/>
          </a:xfrm>
          <a:prstGeom prst="roundRect">
            <a:avLst>
              <a:gd name="adj" fmla="val 11452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3873251"/>
            <a:ext cx="5467350" cy="1756171"/>
          </a:xfrm>
          <a:prstGeom prst="roundRect">
            <a:avLst>
              <a:gd name="adj" fmla="val 13016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3762821"/>
            <a:ext cx="5467350" cy="1977032"/>
          </a:xfrm>
          <a:prstGeom prst="roundRect">
            <a:avLst>
              <a:gd name="adj" fmla="val 11562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1842938"/>
            <a:ext cx="400050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0" y="1842938"/>
            <a:ext cx="400050" cy="400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4111376"/>
            <a:ext cx="400050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4000946"/>
            <a:ext cx="400050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" y="1957238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5" y="1957238"/>
            <a:ext cx="19050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012" y="4225676"/>
            <a:ext cx="219075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862" y="4115246"/>
            <a:ext cx="219075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WELCOME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Two cohorts, one room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82400" y="6410325"/>
            <a:ext cx="3619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2338238"/>
            <a:ext cx="652581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D2D24"/>
                </a:solidFill>
                <a:latin typeface="Quicksand"/>
              </a:rPr>
              <a:t>Finance students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050" y="2681138"/>
            <a:ext cx="506730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F5247"/>
                </a:solidFill>
                <a:latin typeface="Nunito"/>
              </a:rPr>
              <a:t>You built Case 1 yesterday — you know the data, the case, and the business question. Today you own the judgement calls: labels, materiality, what a partner would believe.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8900" y="2338238"/>
            <a:ext cx="57531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D2D24"/>
                </a:solidFill>
                <a:latin typeface="Quicksand"/>
              </a:rPr>
              <a:t>Tech students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8900" y="2681138"/>
            <a:ext cx="506730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F5247"/>
                </a:solidFill>
                <a:latin typeface="Nunito"/>
              </a:rPr>
              <a:t>You know code; the finance judgement sits across the table. Prep pack covered Case 1 and how a PE analyst reads news — your fast lanes start at Case 2. Yesterday's details: next slide.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525" y="4606676"/>
            <a:ext cx="655081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8593E"/>
                </a:solidFill>
                <a:latin typeface="Quicksand"/>
              </a:rPr>
              <a:t>Teams of five — announced 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525" y="4949576"/>
            <a:ext cx="508635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28593E"/>
                </a:solidFill>
                <a:latin typeface="Nunito"/>
              </a:rPr>
              <a:t>Ten teams, 2–3 finance + 2–3 tech each, fixed for the whole day: Case 2 and the extension sprint. Sit with your team before 9:10.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9375" y="4496246"/>
            <a:ext cx="57626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2400E"/>
                </a:solidFill>
                <a:latin typeface="Quicksand"/>
              </a:rPr>
              <a:t>The contract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9375" y="4839146"/>
            <a:ext cx="508635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F5247"/>
                </a:solidFill>
                <a:latin typeface="Nunito"/>
              </a:rPr>
              <a:t>Finance drives judgement, tech drives code — and each explains their half out loud. A demo nobody on the team can explain scores zero on teamwork.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1505396"/>
            <a:ext cx="5467350" cy="2085975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608980"/>
            <a:ext cx="5467350" cy="1878806"/>
          </a:xfrm>
          <a:prstGeom prst="roundRect">
            <a:avLst>
              <a:gd name="adj" fmla="val 12167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3866405"/>
            <a:ext cx="5467350" cy="1859756"/>
          </a:xfrm>
          <a:prstGeom prst="roundRect">
            <a:avLst>
              <a:gd name="adj" fmla="val 12291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3762821"/>
            <a:ext cx="5467350" cy="2066925"/>
          </a:xfrm>
          <a:prstGeom prst="roundRect">
            <a:avLst>
              <a:gd name="adj" fmla="val 11059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33996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50" y="1837580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4085480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325" y="3981896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1838771"/>
            <a:ext cx="1905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0812" y="1942355"/>
            <a:ext cx="219075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4190255"/>
            <a:ext cx="13335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4625" y="4086671"/>
            <a:ext cx="152400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WELCOME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Yesterday, in five minutes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82400" y="6410325"/>
            <a:ext cx="3619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2210246"/>
            <a:ext cx="657582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The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2534096"/>
            <a:ext cx="5105400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Lakeshore Broadband, a fictional Illinois operator: 236,549 FCC availability rows → 458 whitespace census blocks → 42,220 units → Cook County $5.1M revenue, DuPage the best payback at 4.1 years. Built in pandas, delivered as a 3-sheet Excel workbook (county ranking · whitespace blocks · assumptions).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850" y="2313830"/>
            <a:ext cx="57721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The constructs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850" y="2637680"/>
            <a:ext cx="510540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Variables, lists, dicts, functions, loops, DataFrames, filtering, groupby/merge — plus reading errors from the bottom and assumptions in CAPITALS at the top of the notebook.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475" y="4561730"/>
            <a:ext cx="66008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28593E"/>
                </a:solidFill>
                <a:latin typeface="Quicksand"/>
              </a:rPr>
              <a:t>The delivery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475" y="4885580"/>
            <a:ext cx="51244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28593E"/>
                </a:solidFill>
                <a:latin typeface="Nunito"/>
              </a:rPr>
              <a:t>Python is the engine; Excel is the delivery format. Every analysis ends in .to_excel() with an assumptions sheet written from code — auditability for free. Partners never see a notebook.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0325" y="4458146"/>
            <a:ext cx="5781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Already done: Git &amp; 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0325" y="4781996"/>
            <a:ext cx="5124450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Repos, commits, PRs — and CI: yesterday every group pushed the case's library and tests (case1/) through GitHub Actions, broke it on purpose, and fixed it. Today we use it, not teach it. The workflow lives at .github/workflows/ci.yml.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309663"/>
            <a:ext cx="1166663" cy="704850"/>
          </a:xfrm>
          <a:prstGeom prst="roundRect">
            <a:avLst>
              <a:gd name="adj" fmla="val 27027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909613" y="2300138"/>
            <a:ext cx="1185713" cy="723900"/>
          </a:xfrm>
          <a:prstGeom prst="roundRect">
            <a:avLst>
              <a:gd name="adj" fmla="val 2631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04877" y="2300138"/>
            <a:ext cx="1281410" cy="723900"/>
          </a:xfrm>
          <a:prstGeom prst="roundRect">
            <a:avLst>
              <a:gd name="adj" fmla="val 2631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795837" y="2309663"/>
            <a:ext cx="1262360" cy="704850"/>
          </a:xfrm>
          <a:prstGeom prst="roundRect">
            <a:avLst>
              <a:gd name="adj" fmla="val 27027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7747" y="2309663"/>
            <a:ext cx="1262360" cy="704850"/>
          </a:xfrm>
          <a:prstGeom prst="roundRect">
            <a:avLst>
              <a:gd name="adj" fmla="val 27027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39657" y="2309663"/>
            <a:ext cx="1166663" cy="704850"/>
          </a:xfrm>
          <a:prstGeom prst="roundRect">
            <a:avLst>
              <a:gd name="adj" fmla="val 27027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15871" y="2309663"/>
            <a:ext cx="1166663" cy="704850"/>
          </a:xfrm>
          <a:prstGeom prst="roundRect">
            <a:avLst>
              <a:gd name="adj" fmla="val 27027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92085" y="2309663"/>
            <a:ext cx="1166663" cy="704850"/>
          </a:xfrm>
          <a:prstGeom prst="roundRect">
            <a:avLst>
              <a:gd name="adj" fmla="val 27027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3400" y="3290738"/>
            <a:ext cx="3581400" cy="1744265"/>
          </a:xfrm>
          <a:prstGeom prst="roundRect">
            <a:avLst>
              <a:gd name="adj" fmla="val 1310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05300" y="3622030"/>
            <a:ext cx="3581400" cy="1081682"/>
          </a:xfrm>
          <a:prstGeom prst="roundRect">
            <a:avLst>
              <a:gd name="adj" fmla="val 21133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77200" y="3622030"/>
            <a:ext cx="3581400" cy="1081682"/>
          </a:xfrm>
          <a:prstGeom prst="roundRect">
            <a:avLst>
              <a:gd name="adj" fmla="val 21133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WELCOME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The arc of the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82400" y="6410325"/>
            <a:ext cx="3619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6263" y="2533501"/>
            <a:ext cx="3429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1527" y="2533501"/>
            <a:ext cx="3429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2487" y="2533501"/>
            <a:ext cx="3429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4397" y="2533501"/>
            <a:ext cx="3429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6307" y="2533501"/>
            <a:ext cx="3429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2521" y="2533501"/>
            <a:ext cx="3429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8735" y="2533501"/>
            <a:ext cx="3429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300" y="2471588"/>
            <a:ext cx="124286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D2D24"/>
                </a:solidFill>
                <a:latin typeface="Nunito"/>
              </a:rPr>
              <a:t>Day 1</a:t>
            </a:r>
            <a:r>
              <a:t>
</a:t>
            </a:r>
            <a:r>
              <a:rPr sz="1125" b="1" i="0" u="none">
                <a:solidFill>
                  <a:srgbClr val="1D2D24"/>
                </a:solidFill>
                <a:latin typeface="Nunito"/>
              </a:rPr>
              <a:t> recap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81038" y="2471588"/>
            <a:ext cx="124286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D2D24"/>
                </a:solidFill>
                <a:latin typeface="Nunito"/>
              </a:rPr>
              <a:t>How AI</a:t>
            </a:r>
            <a:r>
              <a:t>
</a:t>
            </a:r>
            <a:r>
              <a:rPr sz="1125" b="1" i="0" u="none">
                <a:solidFill>
                  <a:srgbClr val="1D2D24"/>
                </a:solidFill>
                <a:latin typeface="Nunito"/>
              </a:rPr>
              <a:t> works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6302" y="2471588"/>
            <a:ext cx="133856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D2D24"/>
                </a:solidFill>
                <a:latin typeface="Nunito"/>
              </a:rPr>
              <a:t>Context</a:t>
            </a:r>
            <a:r>
              <a:t>
</a:t>
            </a:r>
            <a:r>
              <a:rPr sz="1125" b="1" i="0" u="none">
                <a:solidFill>
                  <a:srgbClr val="1D2D24"/>
                </a:solidFill>
                <a:latin typeface="Nunito"/>
              </a:rPr>
              <a:t> 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7737" y="2471588"/>
            <a:ext cx="133856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B84322"/>
                </a:solidFill>
                <a:latin typeface="Nunito"/>
              </a:rPr>
              <a:t>Case 2</a:t>
            </a:r>
            <a:r>
              <a:t>
</a:t>
            </a:r>
            <a:r>
              <a:rPr sz="1125" b="1" i="0" u="none">
                <a:solidFill>
                  <a:srgbClr val="B84322"/>
                </a:solidFill>
                <a:latin typeface="Nunito"/>
              </a:rPr>
              <a:t> news screen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9647" y="2471588"/>
            <a:ext cx="133856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28593E"/>
                </a:solidFill>
                <a:latin typeface="Nunito"/>
              </a:rPr>
              <a:t>Evaluating</a:t>
            </a:r>
            <a:r>
              <a:t>
</a:t>
            </a:r>
            <a:r>
              <a:rPr sz="1125" b="1" i="0" u="none">
                <a:solidFill>
                  <a:srgbClr val="28593E"/>
                </a:solidFill>
                <a:latin typeface="Nunito"/>
              </a:rPr>
              <a:t> AI outputs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01557" y="2471588"/>
            <a:ext cx="124286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B84322"/>
                </a:solidFill>
                <a:latin typeface="Nunito"/>
              </a:rPr>
              <a:t>Case 2</a:t>
            </a:r>
            <a:r>
              <a:t>
</a:t>
            </a:r>
            <a:r>
              <a:rPr sz="1125" b="1" i="0" u="none">
                <a:solidFill>
                  <a:srgbClr val="B84322"/>
                </a:solidFill>
                <a:latin typeface="Nunito"/>
              </a:rPr>
              <a:t> finish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7771" y="2471588"/>
            <a:ext cx="124286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92400E"/>
                </a:solidFill>
                <a:latin typeface="Nunito"/>
              </a:rPr>
              <a:t>Extension</a:t>
            </a:r>
            <a:r>
              <a:t>
</a:t>
            </a:r>
            <a:r>
              <a:rPr sz="1125" b="1" i="0" u="none">
                <a:solidFill>
                  <a:srgbClr val="92400E"/>
                </a:solidFill>
                <a:latin typeface="Nunito"/>
              </a:rPr>
              <a:t> sprint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53985" y="2471588"/>
            <a:ext cx="124286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28593E"/>
                </a:solidFill>
                <a:latin typeface="Nunito"/>
              </a:rPr>
              <a:t>Demos &amp;</a:t>
            </a:r>
            <a:r>
              <a:t>
</a:t>
            </a:r>
            <a:r>
              <a:rPr sz="1125" b="1" i="0" u="none">
                <a:solidFill>
                  <a:srgbClr val="28593E"/>
                </a:solidFill>
                <a:latin typeface="Nunito"/>
              </a:rPr>
              <a:t> awards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050" y="3500288"/>
            <a:ext cx="3181350" cy="1325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F5247"/>
                </a:solidFill>
                <a:latin typeface="Nunito"/>
              </a:rPr>
              <a:t>Morning: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how LLMs actually work — then Case 2 begins: a news screen for Marriott with a lexicon baseline, an LLM classifier, and your own gold labels (working lunch 12:00–12:45 — pick your sprint direction over food).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2950" y="3831580"/>
            <a:ext cx="318135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F5247"/>
                </a:solidFill>
                <a:latin typeface="Nunito"/>
              </a:rPr>
              <a:t>Early afternoon: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evaluation as a discipline, then finish Case 2 — every team ships a measured PROMPT_V3 by 1:40.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4850" y="3831580"/>
            <a:ext cx="318135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F5247"/>
                </a:solidFill>
                <a:latin typeface="Nunito"/>
              </a:rPr>
              <a:t>From 1:50: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the extension sprint. Extend your own pipeline — 45 minutes to build, two-minute demos, awards at 3:00.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295775"/>
            <a:ext cx="9144000" cy="1266825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95400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1476375"/>
            <a:ext cx="24765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133600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7A57"/>
                </a:solidFill>
                <a:latin typeface="Fira Code"/>
              </a:rPr>
              <a:t>SECTION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90775"/>
            <a:ext cx="9701212" cy="1200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1" i="0" u="none">
                <a:solidFill>
                  <a:srgbClr val="1D2D24"/>
                </a:solidFill>
                <a:latin typeface="Quicksand"/>
              </a:rPr>
              <a:t>AI systems: how they work and where they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743325"/>
            <a:ext cx="11430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8593E"/>
                </a:solidFill>
                <a:latin typeface="Fira Code"/>
              </a:rPr>
              <a:t>25-minute talk (9:15–9:40)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4543425"/>
            <a:ext cx="10715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5D39"/>
                </a:solidFill>
                <a:latin typeface="Fira Code"/>
              </a:rPr>
              <a:t>BY THE END OF THIS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4800600"/>
            <a:ext cx="8667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Nunito"/>
              </a:rPr>
              <a:t>Explain next-token prediction in one sentence · Name the failure modes that matter · Predict what the model — and the harness around it — will do well or badly, before you 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364878"/>
            <a:ext cx="11125200" cy="1263699"/>
          </a:xfrm>
          <a:prstGeom prst="roundRect">
            <a:avLst>
              <a:gd name="adj" fmla="val 16582"/>
            </a:avLst>
          </a:prstGeom>
          <a:solidFill>
            <a:srgbClr val="F0F6F2"/>
          </a:solidFill>
          <a:ln w="19050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3819078"/>
            <a:ext cx="3587799" cy="1523404"/>
          </a:xfrm>
          <a:prstGeom prst="roundRect">
            <a:avLst>
              <a:gd name="adj" fmla="val 1500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11699" y="3819078"/>
            <a:ext cx="3587799" cy="1523404"/>
          </a:xfrm>
          <a:prstGeom prst="roundRect">
            <a:avLst>
              <a:gd name="adj" fmla="val 1500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89999" y="4049464"/>
            <a:ext cx="3568749" cy="1062632"/>
          </a:xfrm>
          <a:prstGeom prst="roundRect">
            <a:avLst>
              <a:gd name="adj" fmla="val 21512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0100" y="2593478"/>
            <a:ext cx="914400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809750" y="2593478"/>
            <a:ext cx="1019175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24175" y="2593478"/>
            <a:ext cx="1647825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67250" y="2593478"/>
            <a:ext cx="1019175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781675" y="2593478"/>
            <a:ext cx="600075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77000" y="2593478"/>
            <a:ext cx="914400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86650" y="2593478"/>
            <a:ext cx="1228725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810625" y="2603003"/>
            <a:ext cx="438150" cy="381000"/>
          </a:xfrm>
          <a:prstGeom prst="roundRect">
            <a:avLst>
              <a:gd name="adj" fmla="val 30000"/>
            </a:avLst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AI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19125"/>
            <a:ext cx="11658600" cy="744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One sentence: a language model predicts the next token, extremely well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82400" y="6410325"/>
            <a:ext cx="3619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3145928"/>
            <a:ext cx="11391900" cy="2254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75"/>
              </a:lnSpc>
            </a:pPr>
            <a:r>
              <a:rPr sz="1200" b="1" i="0" u="none">
                <a:solidFill>
                  <a:srgbClr val="28593E"/>
                </a:solidFill>
                <a:latin typeface="Fira Code"/>
              </a:rPr>
              <a:t>P(next) :   guidance </a:t>
            </a:r>
            <a:r>
              <a:rPr sz="1200" b="1" i="0" u="none">
                <a:solidFill>
                  <a:srgbClr val="D95D39"/>
                </a:solidFill>
                <a:latin typeface="Fira Code"/>
              </a:rPr>
              <a:t>0.61</a:t>
            </a:r>
            <a:r>
              <a:rPr sz="1200" b="1" i="0" u="none">
                <a:solidFill>
                  <a:srgbClr val="28593E"/>
                </a:solidFill>
                <a:latin typeface="Fira Code"/>
              </a:rPr>
              <a:t>   ·   outlook </a:t>
            </a:r>
            <a:r>
              <a:rPr sz="1200" b="1" i="0" u="none">
                <a:solidFill>
                  <a:srgbClr val="D95D39"/>
                </a:solidFill>
                <a:latin typeface="Fira Code"/>
              </a:rPr>
              <a:t>0.22</a:t>
            </a:r>
            <a:r>
              <a:rPr sz="1200" b="1" i="0" u="none">
                <a:solidFill>
                  <a:srgbClr val="28593E"/>
                </a:solidFill>
                <a:latin typeface="Fira Code"/>
              </a:rPr>
              <a:t>   ·   RevPAR </a:t>
            </a:r>
            <a:r>
              <a:rPr sz="1200" b="1" i="0" u="none">
                <a:solidFill>
                  <a:srgbClr val="D95D39"/>
                </a:solidFill>
                <a:latin typeface="Fira Code"/>
              </a:rPr>
              <a:t>0.09</a:t>
            </a:r>
            <a:r>
              <a:rPr sz="1200" b="1" i="0" u="none">
                <a:solidFill>
                  <a:srgbClr val="28593E"/>
                </a:solidFill>
                <a:latin typeface="Fira Code"/>
              </a:rPr>
              <a:t>   ·   dividend </a:t>
            </a:r>
            <a:r>
              <a:rPr sz="1200" b="1" i="0" u="none">
                <a:solidFill>
                  <a:srgbClr val="D95D39"/>
                </a:solidFill>
                <a:latin typeface="Fira Code"/>
              </a:rPr>
              <a:t>0.04</a:t>
            </a:r>
            <a:r>
              <a:rPr sz="1200" b="1" i="0" u="none">
                <a:solidFill>
                  <a:srgbClr val="28593E"/>
                </a:solidFill>
                <a:latin typeface="Fira Code"/>
              </a:rPr>
              <a:t>   ·  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050" y="4028628"/>
            <a:ext cx="3187749" cy="1104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F5247"/>
                </a:solidFill>
                <a:latin typeface="Nunito"/>
              </a:rPr>
              <a:t>That is the whole mechanism.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Given the text so far, output a probability for every possible next piece of text; pick one; append; repeat. Everything else — chat, reasoning, code — is this, at scale.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9349" y="4028628"/>
            <a:ext cx="3187749" cy="1104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F5247"/>
                </a:solidFill>
                <a:latin typeface="Nunito"/>
              </a:rPr>
              <a:t>Trained on trillions of tokens of public text,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the model learns which continuations are likely. 'Raises full-year' → 'guidance' is likely because it appears in ten thousand earnings headlines.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8124" y="4249489"/>
            <a:ext cx="3187749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B84322"/>
                </a:solidFill>
                <a:latin typeface="Nunito"/>
              </a:rPr>
              <a:t>So it has no concept of true, only of likely.</a:t>
            </a:r>
            <a:r>
              <a:rPr sz="1200" b="0" i="0" u="none">
                <a:solidFill>
                  <a:srgbClr val="B84322"/>
                </a:solidFill>
                <a:latin typeface="Nunito"/>
              </a:rPr>
              <a:t> This one fact predicts most of the failure modes on the slide after next.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450" y="2669678"/>
            <a:ext cx="7429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D2D24"/>
                </a:solidFill>
                <a:latin typeface="Fira Code"/>
              </a:rPr>
              <a:t>Hilton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3100" y="2669678"/>
            <a:ext cx="847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D2D24"/>
                </a:solidFill>
                <a:latin typeface="Fira Code"/>
              </a:rPr>
              <a:t>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57525" y="2669678"/>
            <a:ext cx="14763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D2D24"/>
                </a:solidFill>
                <a:latin typeface="Fira Code"/>
              </a:rPr>
              <a:t>third-quarter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2669678"/>
            <a:ext cx="847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D2D24"/>
                </a:solidFill>
                <a:latin typeface="Fira Code"/>
              </a:rPr>
              <a:t>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15025" y="2669678"/>
            <a:ext cx="4286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D2D24"/>
                </a:solidFill>
                <a:latin typeface="Fira Code"/>
              </a:rPr>
              <a:t>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0350" y="2669678"/>
            <a:ext cx="7429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D2D24"/>
                </a:solidFill>
                <a:latin typeface="Fira Code"/>
              </a:rPr>
              <a:t>raises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0" y="2669678"/>
            <a:ext cx="10572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D2D24"/>
                </a:solidFill>
                <a:latin typeface="Fira Code"/>
              </a:rPr>
              <a:t>full-year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3025" y="2679203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Fira Code"/>
              </a:rPr>
              <a:t>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536132"/>
            <a:ext cx="11125200" cy="803671"/>
          </a:xfrm>
          <a:prstGeom prst="roundRect">
            <a:avLst>
              <a:gd name="adj" fmla="val 28444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098923"/>
            <a:ext cx="3581400" cy="2162175"/>
          </a:xfrm>
          <a:prstGeom prst="roundRect">
            <a:avLst>
              <a:gd name="adj" fmla="val 10572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05300" y="1995338"/>
            <a:ext cx="3581400" cy="2369343"/>
          </a:xfrm>
          <a:prstGeom prst="roundRect">
            <a:avLst>
              <a:gd name="adj" fmla="val 964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77200" y="1995338"/>
            <a:ext cx="3581400" cy="2369343"/>
          </a:xfrm>
          <a:prstGeom prst="roundRect">
            <a:avLst>
              <a:gd name="adj" fmla="val 964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327523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900" y="2223938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2223938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2441823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2487" y="2338238"/>
            <a:ext cx="16192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5812" y="2338238"/>
            <a:ext cx="21907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AI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Tokens, embeddings, attention — the three words you 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82400" y="6410325"/>
            <a:ext cx="3619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4717107"/>
            <a:ext cx="107442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1D2D24"/>
                </a:solidFill>
                <a:latin typeface="Nunito"/>
              </a:rPr>
              <a:t>Why it matters this afternoon:</a:t>
            </a:r>
            <a:r>
              <a:rPr sz="1200" b="0" i="0" u="none">
                <a:solidFill>
                  <a:srgbClr val="1D2D24"/>
                </a:solidFill>
                <a:latin typeface="Nunito"/>
              </a:rPr>
              <a:t> the model can only attend to what is in the prompt. Context you didn't paste doesn't exist. And the name collision — Hilton the company vs the person vs the island — is precisely the kind of thing attention handles well and a keyword filter handles badly.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2860923"/>
            <a:ext cx="410051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D2D24"/>
                </a:solidFill>
                <a:latin typeface="Quicksand"/>
              </a:rPr>
              <a:t>Tokens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203823"/>
            <a:ext cx="3219450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Text is chopped into pieces — roughly ¾ of a word each. 'Hilton' is one token; 'RevPAR' is two or three. You pay per token, in and out; a 100-headline batch is a few thousand.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3900" y="2757338"/>
            <a:ext cx="410051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D2D24"/>
                </a:solidFill>
                <a:latin typeface="Quicksand"/>
              </a:rPr>
              <a:t>Embeddings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3900" y="3100238"/>
            <a:ext cx="321945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Each token becomes a list of a few thousand numbers. Tokens used in similar contexts get similar numbers: 'guidance' sits near 'outlook', far from 'regatta'. This is how the model 'knows' synonyms.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800" y="2757338"/>
            <a:ext cx="38862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D2D24"/>
                </a:solidFill>
                <a:latin typeface="Quicksand"/>
              </a:rPr>
              <a:t>Attention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5800" y="3100238"/>
            <a:ext cx="321945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For each position, the model weighs which earlier tokens matter. In 'Hilton opens 20th hotel', 'Hilton' attends to 'hotel'; in 'Paris Hilton launches podcast', it attends to 'Paris'. Same word, different meaning — resolved by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729608"/>
            <a:ext cx="11125200" cy="704850"/>
          </a:xfrm>
          <a:prstGeom prst="roundRect">
            <a:avLst>
              <a:gd name="adj" fmla="val 32432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062608"/>
            <a:ext cx="2508795" cy="962025"/>
          </a:xfrm>
          <a:prstGeom prst="roundRect">
            <a:avLst>
              <a:gd name="adj" fmla="val 23762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89845" y="2053083"/>
            <a:ext cx="2527845" cy="981075"/>
          </a:xfrm>
          <a:prstGeom prst="roundRect">
            <a:avLst>
              <a:gd name="adj" fmla="val 23300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65341" y="1953071"/>
            <a:ext cx="2508795" cy="1181100"/>
          </a:xfrm>
          <a:prstGeom prst="roundRect">
            <a:avLst>
              <a:gd name="adj" fmla="val 19354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21787" y="1900683"/>
            <a:ext cx="2836664" cy="1285875"/>
          </a:xfrm>
          <a:prstGeom prst="roundRect">
            <a:avLst>
              <a:gd name="adj" fmla="val 17777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3400" y="3691383"/>
            <a:ext cx="2596753" cy="885825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63503" y="3691383"/>
            <a:ext cx="2596753" cy="885825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93606" y="3691383"/>
            <a:ext cx="2596753" cy="885825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23709" y="3691383"/>
            <a:ext cx="2934890" cy="885825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AI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Four stages of training — and what each one buys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3358008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5D39"/>
                </a:solidFill>
                <a:latin typeface="Fira Code"/>
              </a:rPr>
              <a:t>WHAT EACH STAGE BUYS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82400" y="6410325"/>
            <a:ext cx="3619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7445" y="2400746"/>
            <a:ext cx="3429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2941" y="2400746"/>
            <a:ext cx="3429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9387" y="2400746"/>
            <a:ext cx="3429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" y="4872483"/>
            <a:ext cx="107823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B84322"/>
                </a:solidFill>
                <a:latin typeface="Nunito"/>
              </a:rPr>
              <a:t>None of the stages include your data. The model does not know Lakeshore Broadband, this week's Marriott headlines, or your fund's thesis — unless you put them in the prompt.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325" y="2224533"/>
            <a:ext cx="286774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D2D24"/>
                </a:solidFill>
                <a:latin typeface="Quicksand"/>
              </a:rPr>
              <a:t>1 · Pre-training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325" y="2500758"/>
            <a:ext cx="228019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F5247"/>
                </a:solidFill>
                <a:latin typeface="Nunito"/>
              </a:rPr>
              <a:t>predict the next token on most of the public internet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61295" y="2224533"/>
            <a:ext cx="286774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B7A57"/>
                </a:solidFill>
                <a:latin typeface="Quicksand"/>
              </a:rPr>
              <a:t>2 · Instruction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61295" y="2500758"/>
            <a:ext cx="228019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F5247"/>
                </a:solidFill>
                <a:latin typeface="Nunito"/>
              </a:rPr>
              <a:t>learn to follow 'Classify this headline' rather than continue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7266" y="2114996"/>
            <a:ext cx="239420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8593E"/>
                </a:solidFill>
                <a:latin typeface="Quicksand"/>
              </a:rPr>
              <a:t>3 · Preference tuning (RLHF)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7266" y="2610296"/>
            <a:ext cx="228019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F5247"/>
                </a:solidFill>
                <a:latin typeface="Nunito"/>
              </a:rPr>
              <a:t>prefer answers humans rate as helpful, harmless, honest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83712" y="2062608"/>
            <a:ext cx="260806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B84322"/>
                </a:solidFill>
                <a:latin typeface="Fira Code"/>
              </a:rPr>
              <a:t>newest — the 2025-era reasoning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83712" y="2386458"/>
            <a:ext cx="32082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2400E"/>
                </a:solidFill>
                <a:latin typeface="Quicksand"/>
              </a:rPr>
              <a:t>4 · Reasoning RL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83712" y="2662683"/>
            <a:ext cx="2608064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F5247"/>
                </a:solidFill>
                <a:latin typeface="Nunito"/>
              </a:rPr>
              <a:t>learn, on checkable problems (math, code, tools), to think in steps before answering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850" y="3862833"/>
            <a:ext cx="2349103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F5247"/>
                </a:solidFill>
                <a:latin typeface="Nunito"/>
              </a:rPr>
              <a:t>Knowledge and fluency</a:t>
            </a:r>
            <a:r>
              <a:rPr sz="1050" b="0" i="0" u="none">
                <a:solidFill>
                  <a:srgbClr val="3F5247"/>
                </a:solidFill>
                <a:latin typeface="Nunito"/>
              </a:rPr>
              <a:t> — and the tendency to produce plausible text whether or not it is true.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34953" y="3862833"/>
            <a:ext cx="2349103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F5247"/>
                </a:solidFill>
                <a:latin typeface="Nunito"/>
              </a:rPr>
              <a:t>The format you want:</a:t>
            </a:r>
            <a:r>
              <a:rPr sz="1050" b="0" i="0" u="none">
                <a:solidFill>
                  <a:srgbClr val="3F5247"/>
                </a:solidFill>
                <a:latin typeface="Nunito"/>
              </a:rPr>
              <a:t> ask for JSON and you get JSON — trained to honour structure.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65056" y="3862833"/>
            <a:ext cx="2349103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F5247"/>
                </a:solidFill>
                <a:latin typeface="Nunito"/>
              </a:rPr>
              <a:t>Agreeableness</a:t>
            </a:r>
            <a:r>
              <a:rPr sz="1050" b="0" i="0" u="none">
                <a:solidFill>
                  <a:srgbClr val="3F5247"/>
                </a:solidFill>
                <a:latin typeface="Nunito"/>
              </a:rPr>
              <a:t> — including sycophancy: agreeing with your framing instead of correcting 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5159" y="3862833"/>
            <a:ext cx="268724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F5247"/>
                </a:solidFill>
                <a:latin typeface="Nunito"/>
              </a:rPr>
              <a:t>Step-by-step working on hard problems</a:t>
            </a:r>
            <a:r>
              <a:rPr sz="1050" b="0" i="0" u="none">
                <a:solidFill>
                  <a:srgbClr val="3F5247"/>
                </a:solidFill>
                <a:latin typeface="Nunito"/>
              </a:rPr>
              <a:t> — better at maths, code, logic; slower and pricier per call.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1838176"/>
            <a:ext cx="5429250" cy="3658790"/>
          </a:xfrm>
          <a:prstGeom prst="roundRect">
            <a:avLst>
              <a:gd name="adj" fmla="val 6247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29350" y="1838176"/>
            <a:ext cx="5429250" cy="3658790"/>
          </a:xfrm>
          <a:prstGeom prst="roundRect">
            <a:avLst>
              <a:gd name="adj" fmla="val 6247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0100" y="4620666"/>
            <a:ext cx="4895850" cy="609600"/>
          </a:xfrm>
          <a:prstGeom prst="roundRect">
            <a:avLst>
              <a:gd name="adj" fmla="val 25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96050" y="4620666"/>
            <a:ext cx="4895850" cy="609600"/>
          </a:xfrm>
          <a:prstGeom prst="roundRect">
            <a:avLst>
              <a:gd name="adj" fmla="val 25000"/>
            </a:avLst>
          </a:prstGeom>
          <a:solidFill>
            <a:srgbClr val="FD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104876"/>
            <a:ext cx="438150" cy="4381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050" y="2104876"/>
            <a:ext cx="438150" cy="4381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228701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212" y="2228701"/>
            <a:ext cx="12382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AI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The model does not know your data — the prompt is the only 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82400" y="6410325"/>
            <a:ext cx="3619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2676376"/>
            <a:ext cx="642580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1D2D24"/>
                </a:solidFill>
                <a:latin typeface="Quicksand"/>
              </a:rPr>
              <a:t>Context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3066901"/>
            <a:ext cx="4991100" cy="883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F5247"/>
                </a:solidFill>
                <a:latin typeface="Nunito"/>
              </a:rPr>
              <a:t>Everything the model can 'see' for this answer: your instructions, the data you pasted, the conversation so far. Hundreds of thousands of tokens — hundreds of pages — but finite, and attention gets thinner as it fills.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4064644"/>
            <a:ext cx="49911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F5247"/>
                </a:solidFill>
                <a:latin typeface="Nunito"/>
              </a:rPr>
              <a:t>Nothing persists between calls unless you send it again. 'It remembered' means the product re-sent the history.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6050" y="2676376"/>
            <a:ext cx="56959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1D2D24"/>
                </a:solidFill>
                <a:latin typeface="Quicksand"/>
              </a:rPr>
              <a:t>Determinism — will it answer the same twice?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6050" y="3066901"/>
            <a:ext cx="499110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F5247"/>
                </a:solidFill>
                <a:latin typeface="Nunito"/>
              </a:rPr>
              <a:t>In the chat products you use daily, sampling is tuned for you — and as of 2026 the API is the same: current models manage their own sampling, and the SDK no longer takes a temperature argument.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6050" y="3843783"/>
            <a:ext cx="499110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F5247"/>
                </a:solidFill>
                <a:latin typeface="Nunito"/>
              </a:rPr>
              <a:t>So determinism is not a dial you turn — it is a property you measure. The same headline can come back 'neutral' now and 'negative' in a minute.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" y="4734966"/>
            <a:ext cx="46863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8593E"/>
                </a:solidFill>
                <a:latin typeface="Nunito"/>
              </a:rPr>
              <a:t>Retrieval (RAG) is just: search your documents first, paste the relevant passages into the prompt, then ask.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8450" y="4734966"/>
            <a:ext cx="46863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B84322"/>
                </a:solidFill>
                <a:latin typeface="Nunito"/>
              </a:rPr>
              <a:t>Run the classification twice and report the disagreement rate: that number is the error bar on your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437161"/>
            <a:ext cx="11125200" cy="982563"/>
          </a:xfrm>
          <a:prstGeom prst="roundRect">
            <a:avLst>
              <a:gd name="adj" fmla="val 21326"/>
            </a:avLst>
          </a:prstGeom>
          <a:solidFill>
            <a:srgbClr val="F0F6F2"/>
          </a:solidFill>
          <a:ln w="19050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019002"/>
            <a:ext cx="3587799" cy="2143125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11699" y="1915417"/>
            <a:ext cx="3587799" cy="2350293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89999" y="2028527"/>
            <a:ext cx="3568749" cy="2124075"/>
          </a:xfrm>
          <a:prstGeom prst="roundRect">
            <a:avLst>
              <a:gd name="adj" fmla="val 10762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47602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299" y="2144017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074" y="2247602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2361902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4599" y="2258317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9561" y="2361902"/>
            <a:ext cx="23812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AI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Model, product, API — don't confuse the three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2781002"/>
            <a:ext cx="410891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The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104852"/>
            <a:ext cx="3225849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The trained weights: Claude, GPT, Gemini, Llama. Takes tokens, returns tokens. Has a knowledge cutoff, a context window, a price per token.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0299" y="2677417"/>
            <a:ext cx="410891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The product (model + harness)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0299" y="3001267"/>
            <a:ext cx="3225849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Chat apps built around a model, with a harness you don't see: a system prompt, tools (search, code), memory, file upload. Convenient; opaque; often not permitted for confidential data (unless in Enterprise mode).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9074" y="2781002"/>
            <a:ext cx="38829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28593E"/>
                </a:solidFill>
                <a:latin typeface="Quicksand"/>
              </a:rPr>
              <a:t>The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9074" y="3104852"/>
            <a:ext cx="3225849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28593E"/>
                </a:solidFill>
                <a:latin typeface="Nunito"/>
              </a:rPr>
              <a:t>You send the prompt from code and get text back. Your system prompt, your data handling, your logs. This afternoon's classifier is 12 lines around one API call.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4589561"/>
            <a:ext cx="114300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msg = client.messages.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create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(model=MODEL, max_tokens=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300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4815482"/>
            <a:ext cx="114300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                         messages=[{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"role"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: 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"user"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 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"content"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: prompt}])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5041403"/>
            <a:ext cx="114300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text = msg.content[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].text          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→ '{"relevant": true, "sentiment": "negative", ...}'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175420"/>
            <a:ext cx="3575000" cy="2984301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17950" y="2290613"/>
            <a:ext cx="3575000" cy="2753915"/>
          </a:xfrm>
          <a:prstGeom prst="roundRect">
            <a:avLst>
              <a:gd name="adj" fmla="val 8300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02500" y="2189708"/>
            <a:ext cx="3555950" cy="2955726"/>
          </a:xfrm>
          <a:prstGeom prst="roundRect">
            <a:avLst>
              <a:gd name="adj" fmla="val 7734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442120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650" y="2557313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675" y="2446883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556420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8950" y="2671613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3975" y="2561183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AI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Tool use and agents — from one call to a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2975520"/>
            <a:ext cx="39921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D2D24"/>
                </a:solidFill>
                <a:latin typeface="Quicksand"/>
              </a:rPr>
              <a:t>Tool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3337470"/>
            <a:ext cx="3136850" cy="15555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F5247"/>
                </a:solidFill>
                <a:latin typeface="Nunito"/>
              </a:rPr>
              <a:t>The model emits a structured call — </a:t>
            </a:r>
            <a:r>
              <a:rPr sz="1200" b="0" i="0" u="none">
                <a:solidFill>
                  <a:srgbClr val="3B7A57"/>
                </a:solidFill>
                <a:latin typeface="Nunito"/>
              </a:rPr>
              <a:t>run_python(...)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, </a:t>
            </a:r>
            <a:r>
              <a:rPr sz="1200" b="0" i="0" u="none">
                <a:solidFill>
                  <a:srgbClr val="3B7A57"/>
                </a:solidFill>
                <a:latin typeface="Nunito"/>
              </a:rPr>
              <a:t>search(...)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— your code executes it and returns the result, and the model continues with that result in context. Arithmetic and fact lookup stop being weaknesses the moment the model can call a tool.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4650" y="3090713"/>
            <a:ext cx="39921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D2D24"/>
                </a:solidFill>
                <a:latin typeface="Quicksand"/>
              </a:rPr>
              <a:t>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4650" y="3452663"/>
            <a:ext cx="3136850" cy="1325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F5247"/>
                </a:solidFill>
                <a:latin typeface="Nunito"/>
              </a:rPr>
              <a:t>A loop: model → tool → result → model, until the task is done. Coding agents, deep-research products and computer-use systems are this loop with different tools. Errors compound across steps — a 95%-per-step agent is a 60% ten-step agent.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9675" y="2980283"/>
            <a:ext cx="383232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8593E"/>
                </a:solidFill>
                <a:latin typeface="Quicksand"/>
              </a:rPr>
              <a:t>What does not change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9675" y="3342233"/>
            <a:ext cx="3136850" cy="15460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28593E"/>
                </a:solidFill>
                <a:latin typeface="Nunito"/>
              </a:rPr>
              <a:t>Each step is still next-token prediction; the loop still needs a human-set goal, closed outputs where possible, and an evaluation before trust. This afternoon's extension sprint is exactly this pattern — and it is graded on the evaluation, not the demo gloss.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1826865"/>
            <a:ext cx="5467350" cy="1745456"/>
          </a:xfrm>
          <a:prstGeom prst="roundRect">
            <a:avLst>
              <a:gd name="adj" fmla="val 13096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930449"/>
            <a:ext cx="5467350" cy="1538287"/>
          </a:xfrm>
          <a:prstGeom prst="roundRect">
            <a:avLst>
              <a:gd name="adj" fmla="val 14860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3743771"/>
            <a:ext cx="5476875" cy="1764506"/>
          </a:xfrm>
          <a:prstGeom prst="roundRect">
            <a:avLst>
              <a:gd name="adj" fmla="val 1295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00775" y="3753296"/>
            <a:ext cx="5457825" cy="1745456"/>
          </a:xfrm>
          <a:prstGeom prst="roundRect">
            <a:avLst>
              <a:gd name="adj" fmla="val 13096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2074515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2178099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000946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50" y="4000946"/>
            <a:ext cx="20955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AI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Failure modes to keep in mind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475" y="2407890"/>
            <a:ext cx="66008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B84322"/>
                </a:solidFill>
                <a:latin typeface="Quicksand"/>
              </a:rPr>
              <a:t>Hallucination — fluent and wrong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475" y="2731740"/>
            <a:ext cx="51244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Invented statistics, citations, case names, tickers. The text is grammatical and confident because likelihood, not truth, generated it. Anything factual must be checked against a source you supply.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2511474"/>
            <a:ext cx="5781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92400E"/>
                </a:solidFill>
                <a:latin typeface="Quicksand"/>
              </a:rPr>
              <a:t>Sycophancy — agrees with your framing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0325" y="2835324"/>
            <a:ext cx="5124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'Isn't this headline clearly negative?' → 'Yes, clearly negative.' Still measurable in today's frontier models. Ask neutrally — or better, don't reveal your 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4334321"/>
            <a:ext cx="658832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Inconsistency — same input, different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658171"/>
            <a:ext cx="51149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Run to run, the same headline can be 'neutral' now and 'negative' in a minute — and there is no temperature dial to turn off. Run twice; report the disagreement rate — that number is the error bar on your accuracy.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850" y="4334321"/>
            <a:ext cx="57721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Brittleness — phrasing and 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850" y="4658171"/>
            <a:ext cx="51149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Reword the instruction and accuracy moves five points. Items in the middle of a long prompt get less attention than the ends. Name collisions ('Hilton') go wrong when context is thin.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488852"/>
            <a:ext cx="5448300" cy="2357437"/>
          </a:xfrm>
          <a:prstGeom prst="roundRect">
            <a:avLst>
              <a:gd name="adj" fmla="val 9696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168872"/>
            <a:ext cx="5448300" cy="2997249"/>
          </a:xfrm>
          <a:prstGeom prst="roundRect">
            <a:avLst>
              <a:gd name="adj" fmla="val 7626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750790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430809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AI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Strong vs weak — the model, and the harness around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3136552"/>
            <a:ext cx="506730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1D2D24"/>
                </a:solidFill>
                <a:latin typeface="Nunito"/>
              </a:rPr>
              <a:t>Classification, extraction, reformatting:</a:t>
            </a:r>
            <a:r>
              <a:rPr sz="1125" b="0" i="0" u="none">
                <a:solidFill>
                  <a:srgbClr val="1D2D24"/>
                </a:solidFill>
                <a:latin typeface="Nunito"/>
              </a:rPr>
              <a:t> is this headline about the company? covenant terms into a table; 40 pages → one; JSON ↔ prose.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3665190"/>
            <a:ext cx="6215062" cy="207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1D2D24"/>
                </a:solidFill>
                <a:latin typeface="Nunito"/>
              </a:rPr>
              <a:t>First drafts:</a:t>
            </a:r>
            <a:r>
              <a:rPr sz="1125" b="0" i="0" u="none">
                <a:solidFill>
                  <a:srgbClr val="1D2D24"/>
                </a:solidFill>
                <a:latin typeface="Nunito"/>
              </a:rPr>
              <a:t> code, and explanations of errors — then you read every 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3986658"/>
            <a:ext cx="506730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1D2D24"/>
                </a:solidFill>
                <a:latin typeface="Nunito"/>
              </a:rPr>
              <a:t>In a harness:</a:t>
            </a:r>
            <a:r>
              <a:rPr sz="1125" b="0" i="0" u="none">
                <a:solidFill>
                  <a:srgbClr val="1D2D24"/>
                </a:solidFill>
                <a:latin typeface="Nunito"/>
              </a:rPr>
              <a:t> Claude Code, Cowork, a chat app with tools — the model runs Python, searches, reads your files. Arithmetic and fact lookup stop being weaknesses: the tool computes, the model reads the answer.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2816572"/>
            <a:ext cx="5067300" cy="6085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sz="1125" b="1" i="0" u="none">
                <a:solidFill>
                  <a:srgbClr val="3F5247"/>
                </a:solidFill>
                <a:latin typeface="Nunito"/>
              </a:rPr>
              <a:t>A bare API call has no tools: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 exact arithmetic and fact recall must come from your code and your data. It will answer anyway — that's the trap. Today's classifier is this 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3520380"/>
            <a:ext cx="5067300" cy="405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sz="1125" b="1" i="0" u="none">
                <a:solidFill>
                  <a:srgbClr val="3F5247"/>
                </a:solidFill>
                <a:latin typeface="Nunito"/>
              </a:rPr>
              <a:t>A harnessed model can still skip the tool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 and answer from stale memory — ask to see the source before you trust a number.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4021335"/>
            <a:ext cx="5067300" cy="405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sz="1125" b="1" i="0" u="none">
                <a:solidFill>
                  <a:srgbClr val="3F5247"/>
                </a:solidFill>
                <a:latin typeface="Nunito"/>
              </a:rPr>
              <a:t>Agents compound errors: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 95% per step is ~60% over ten steps. A smooth demo is not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4522291"/>
            <a:ext cx="5067300" cy="405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sz="1125" b="1" i="0" u="none">
                <a:solidFill>
                  <a:srgbClr val="B84322"/>
                </a:solidFill>
                <a:latin typeface="Nunito"/>
              </a:rPr>
              <a:t>Consistency at scale needs a rubric and a gold set — in any harness. That is why today builds 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4425" y="2726977"/>
            <a:ext cx="348793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28593E"/>
                </a:solidFill>
                <a:latin typeface="Quicksand"/>
              </a:rPr>
              <a:t>Strong — the model itself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1325" y="2406997"/>
            <a:ext cx="421302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B84322"/>
                </a:solidFill>
                <a:latin typeface="Quicksand"/>
              </a:rPr>
              <a:t>Weak — know which layer fails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276921"/>
            <a:ext cx="3581400" cy="1362075"/>
          </a:xfrm>
          <a:prstGeom prst="roundRect">
            <a:avLst>
              <a:gd name="adj" fmla="val 16783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05300" y="2181671"/>
            <a:ext cx="3581400" cy="1552575"/>
          </a:xfrm>
          <a:prstGeom prst="roundRect">
            <a:avLst>
              <a:gd name="adj" fmla="val 14723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7200" y="2181671"/>
            <a:ext cx="3581400" cy="1552575"/>
          </a:xfrm>
          <a:prstGeom prst="roundRect">
            <a:avLst>
              <a:gd name="adj" fmla="val 14723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3905696"/>
            <a:ext cx="3581400" cy="1247775"/>
          </a:xfrm>
          <a:prstGeom prst="roundRect">
            <a:avLst>
              <a:gd name="adj" fmla="val 18320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05300" y="4009280"/>
            <a:ext cx="3581400" cy="1040606"/>
          </a:xfrm>
          <a:prstGeom prst="roundRect">
            <a:avLst>
              <a:gd name="adj" fmla="val 21967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77200" y="4009280"/>
            <a:ext cx="3581400" cy="1040606"/>
          </a:xfrm>
          <a:prstGeom prst="roundRect">
            <a:avLst>
              <a:gd name="adj" fmla="val 21967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AI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Cost and latency intuition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2476946"/>
            <a:ext cx="3881437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8593E"/>
                </a:solidFill>
                <a:latin typeface="Quicksand"/>
              </a:rPr>
              <a:t>~40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3057971"/>
            <a:ext cx="32004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F5247"/>
                </a:solidFill>
                <a:latin typeface="Nunito"/>
              </a:rPr>
              <a:t>tokens in a typical prompt-plus-headline for our classifier; ~60 tokens out (JSON with a rationale)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3425" y="2381696"/>
            <a:ext cx="3881437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92400E"/>
                </a:solidFill>
                <a:latin typeface="Quicksand"/>
              </a:rPr>
              <a:t>&lt; $1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3425" y="2962721"/>
            <a:ext cx="3200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F5247"/>
                </a:solidFill>
                <a:latin typeface="Nunito"/>
              </a:rPr>
              <a:t>to classify a few hundred headlines with a mid-tier model at 2026 list prices — a rounding error next to one hour of an associate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2381696"/>
            <a:ext cx="3876675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B84322"/>
                </a:solidFill>
                <a:latin typeface="Quicksand"/>
              </a:rPr>
              <a:t>1–3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2962721"/>
            <a:ext cx="3200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F5247"/>
                </a:solidFill>
                <a:latin typeface="Nunito"/>
              </a:rPr>
              <a:t>per call; run them in a loop of 100 and it is minutes. Batch APIs and parallel calls fix this when it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4115246"/>
            <a:ext cx="3181350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3F5247"/>
                </a:solidFill>
                <a:latin typeface="Nunito"/>
              </a:rPr>
              <a:t>Cost scales with tokens, not with difficulty.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 A long prompt with three examples costs more per headline than a short one — and may be worth it. Measure both.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2950" y="4218830"/>
            <a:ext cx="31813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3F5247"/>
                </a:solidFill>
                <a:latin typeface="Nunito"/>
              </a:rPr>
              <a:t>Latency is the real constraint in a dashboard.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 Cache results; classify once per headline; re-run only what changed.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4850" y="4218830"/>
            <a:ext cx="31813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3F5247"/>
                </a:solidFill>
                <a:latin typeface="Nunito"/>
              </a:rPr>
              <a:t>A cheaper, smaller model is often good enough for classification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 — and you will know, because you will have a number for each.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2719833"/>
            <a:ext cx="4035623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69023" y="2719833"/>
            <a:ext cx="3151882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20905" y="2719833"/>
            <a:ext cx="3937694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3105596"/>
            <a:ext cx="4035623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69023" y="3105596"/>
            <a:ext cx="3151882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20905" y="3105596"/>
            <a:ext cx="393769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3477071"/>
            <a:ext cx="4035623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69023" y="3477071"/>
            <a:ext cx="3151882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20905" y="3477071"/>
            <a:ext cx="393769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3400" y="3848546"/>
            <a:ext cx="4035623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69023" y="3848546"/>
            <a:ext cx="3151882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20905" y="3848546"/>
            <a:ext cx="393769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4220021"/>
            <a:ext cx="4035623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69023" y="4220021"/>
            <a:ext cx="3151882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20905" y="4220021"/>
            <a:ext cx="393769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3400" y="4591496"/>
            <a:ext cx="4035623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69023" y="4591496"/>
            <a:ext cx="3151882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20905" y="4591496"/>
            <a:ext cx="393769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3400" y="4962971"/>
            <a:ext cx="4035623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69023" y="4962971"/>
            <a:ext cx="3151882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20905" y="4962971"/>
            <a:ext cx="393769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33400" y="2357883"/>
            <a:ext cx="11125200" cy="26193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33400" y="2357883"/>
          <a:ext cx="11125199" cy="2619375"/>
        </p:xfrm>
        <a:graphic>
          <a:graphicData uri="http://schemas.openxmlformats.org/drawingml/2006/table">
            <a:tbl>
              <a:tblPr/>
              <a:tblGrid>
                <a:gridCol w="4035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18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7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196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D2D24"/>
                          </a:solidFill>
                          <a:latin typeface="Quicksand"/>
                        </a:rPr>
                        <a:t>Diligence task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D2D24"/>
                          </a:solidFill>
                          <a:latin typeface="Quicksand"/>
                        </a:rPr>
                        <a:t>Which LLM strength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D2D24"/>
                          </a:solidFill>
                          <a:latin typeface="Quicksand"/>
                        </a:rPr>
                        <a:t>What the human still does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196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F5247"/>
                          </a:solidFill>
                          <a:latin typeface="Nunito"/>
                        </a:rPr>
                        <a:t>Screen 500 news items on a target for the last quarter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B7A57"/>
                          </a:solidFill>
                          <a:latin typeface="Nunito"/>
                        </a:rPr>
                        <a:t>Classification (relevance, sentiment, topic)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Set the labels; read the negatives; decide what matters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196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F5247"/>
                          </a:solidFill>
                          <a:latin typeface="Nunito"/>
                        </a:rPr>
                        <a:t>Pull KPIs out of 40 franchisee agreements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B7A57"/>
                          </a:solidFill>
                          <a:latin typeface="Nunito"/>
                        </a:rPr>
                        <a:t>Extraction to a table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Spot-check 10%; reconcile to the data room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196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F5247"/>
                          </a:solidFill>
                          <a:latin typeface="Nunito"/>
                        </a:rPr>
                        <a:t>Summarise 30 expert-call transcripts into themes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B7A57"/>
                          </a:solidFill>
                          <a:latin typeface="Nunito"/>
                        </a:rPr>
                        <a:t>Summarisation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Decide which themes change the thesis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196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F5247"/>
                          </a:solidFill>
                          <a:latin typeface="Nunito"/>
                        </a:rPr>
                        <a:t>Draft the first version of a data-cleaning script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B7A57"/>
                          </a:solidFill>
                          <a:latin typeface="Nunito"/>
                        </a:rPr>
                        <a:t>Code generation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Read every line; run the tests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196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F5247"/>
                          </a:solidFill>
                          <a:latin typeface="Nunito"/>
                        </a:rPr>
                        <a:t>Compute the whitespace revenue across 1,725 blocks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A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B84322"/>
                          </a:solidFill>
                          <a:latin typeface="Fira Code"/>
                        </a:rPr>
                        <a:t>— (arithmetic: use Python)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A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B84322"/>
                          </a:solidFill>
                          <a:latin typeface="Nunito"/>
                        </a:rPr>
                        <a:t>Everything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A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199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F5247"/>
                          </a:solidFill>
                          <a:latin typeface="Nunito"/>
                        </a:rPr>
                        <a:t>Know what the market thinks of the CEO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A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B84322"/>
                          </a:solidFill>
                          <a:latin typeface="Fira Code"/>
                        </a:rPr>
                        <a:t>— (no data given: it will guess)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A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B84322"/>
                          </a:solidFill>
                          <a:latin typeface="Nunito"/>
                        </a:rPr>
                        <a:t>Everything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A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AI SYSTEMS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Why this matters in a diligence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598092"/>
            <a:ext cx="1934467" cy="790575"/>
          </a:xfrm>
          <a:prstGeom prst="roundRect">
            <a:avLst>
              <a:gd name="adj" fmla="val 28915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63142" y="2588567"/>
            <a:ext cx="1953517" cy="809625"/>
          </a:xfrm>
          <a:prstGeom prst="roundRect">
            <a:avLst>
              <a:gd name="adj" fmla="val 2823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11935" y="2517130"/>
            <a:ext cx="2187475" cy="952500"/>
          </a:xfrm>
          <a:prstGeom prst="roundRect">
            <a:avLst>
              <a:gd name="adj" fmla="val 24000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4686" y="2598092"/>
            <a:ext cx="1934467" cy="790575"/>
          </a:xfrm>
          <a:prstGeom prst="roundRect">
            <a:avLst>
              <a:gd name="adj" fmla="val 28915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724429" y="2598092"/>
            <a:ext cx="1934467" cy="790575"/>
          </a:xfrm>
          <a:prstGeom prst="roundRect">
            <a:avLst>
              <a:gd name="adj" fmla="val 28915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3400" y="3846760"/>
            <a:ext cx="3587799" cy="860821"/>
          </a:xfrm>
          <a:prstGeom prst="roundRect">
            <a:avLst>
              <a:gd name="adj" fmla="val 26556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11699" y="3736330"/>
            <a:ext cx="3587799" cy="1081682"/>
          </a:xfrm>
          <a:prstGeom prst="roundRect">
            <a:avLst>
              <a:gd name="adj" fmla="val 21133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89999" y="3856285"/>
            <a:ext cx="3568749" cy="841771"/>
          </a:xfrm>
          <a:prstGeom prst="roundRect">
            <a:avLst>
              <a:gd name="adj" fmla="val 27157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AI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The rest of today: use one as a classifier — and measure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2167" y="2840980"/>
            <a:ext cx="35242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0960" y="2840980"/>
            <a:ext cx="35242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3711" y="2840980"/>
            <a:ext cx="35242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3454" y="2840980"/>
            <a:ext cx="35242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659" y="2779067"/>
            <a:ext cx="221394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1D2D24"/>
                </a:solidFill>
                <a:latin typeface="Quicksand"/>
              </a:rPr>
              <a:t>Fetch headlines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372" y="3045767"/>
            <a:ext cx="210852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5C7065"/>
                </a:solidFill>
                <a:latin typeface="Fira Code"/>
              </a:rPr>
              <a:t>Google News RSS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2927" y="2779067"/>
            <a:ext cx="221394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1D2D24"/>
                </a:solidFill>
                <a:latin typeface="Quicksand"/>
              </a:rPr>
              <a:t>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5640" y="3045767"/>
            <a:ext cx="210852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5C7065"/>
                </a:solidFill>
                <a:latin typeface="Fira Code"/>
              </a:rPr>
              <a:t>naive lexicon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32663" y="2698105"/>
            <a:ext cx="254602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28593E"/>
                </a:solidFill>
                <a:latin typeface="Quicksand"/>
              </a:rPr>
              <a:t>LLM classifier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3282" y="2964805"/>
            <a:ext cx="242478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28593E"/>
                </a:solidFill>
                <a:latin typeface="Fira Code"/>
              </a:rPr>
              <a:t>relevant · sentiment · topic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4946" y="2779067"/>
            <a:ext cx="221394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92400E"/>
                </a:solidFill>
                <a:latin typeface="Quicksand"/>
              </a:rPr>
              <a:t>Evaluate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7659" y="3045767"/>
            <a:ext cx="210852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2400E"/>
                </a:solidFill>
                <a:latin typeface="Fira Code"/>
              </a:rPr>
              <a:t>vs. human labels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4689" y="2779067"/>
            <a:ext cx="221394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B84322"/>
                </a:solidFill>
                <a:latin typeface="Quicksand"/>
              </a:rPr>
              <a:t>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402" y="3045767"/>
            <a:ext cx="210852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B84322"/>
                </a:solidFill>
                <a:latin typeface="Fira Code"/>
              </a:rPr>
              <a:t>Streamlit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050" y="4056310"/>
            <a:ext cx="3187749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F5247"/>
                </a:solidFill>
                <a:latin typeface="Nunito"/>
              </a:rPr>
              <a:t>A baseline first,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so that we know what the model adds — not just whether it is 'good'.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9349" y="3945880"/>
            <a:ext cx="3187749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F5247"/>
                </a:solidFill>
                <a:latin typeface="Nunito"/>
              </a:rPr>
              <a:t>Human labels second,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including the rate at which humans disagree with each other. That is the ceiling.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8124" y="4056310"/>
            <a:ext cx="3187749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1D2D24"/>
                </a:solidFill>
                <a:latin typeface="Nunito"/>
              </a:rPr>
              <a:t>Then the model, with a versioned prompt</a:t>
            </a:r>
            <a:r>
              <a:rPr sz="1200" b="0" i="0" u="none">
                <a:solidFill>
                  <a:srgbClr val="1D2D24"/>
                </a:solidFill>
                <a:latin typeface="Nunito"/>
              </a:rPr>
              <a:t> — which is the next 20 minutes.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019550"/>
            <a:ext cx="9144000" cy="1266825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71625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1752600"/>
            <a:ext cx="24765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409825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7A57"/>
                </a:solidFill>
                <a:latin typeface="Fira Code"/>
              </a:rPr>
              <a:t>SECTION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67000"/>
            <a:ext cx="11582400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050" b="1" i="0" u="none">
                <a:solidFill>
                  <a:srgbClr val="1D2D24"/>
                </a:solidFill>
                <a:latin typeface="Quicksand"/>
              </a:rPr>
              <a:t>Context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67100"/>
            <a:ext cx="11430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B7A57"/>
                </a:solidFill>
                <a:latin typeface="Fira Code"/>
              </a:rPr>
              <a:t>15-minute talk (9:40–9:55)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4267200"/>
            <a:ext cx="10715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5D39"/>
                </a:solidFill>
                <a:latin typeface="Fira Code"/>
              </a:rPr>
              <a:t>BY THE END OF THIS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4524375"/>
            <a:ext cx="8667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Nunito"/>
              </a:rPr>
              <a:t>Decide what earns a place in the model's context window · Guide an agent with instructions, examples and tools — not magic words · Change one thing, measure, keep what wins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188815"/>
            <a:ext cx="5476875" cy="1402556"/>
          </a:xfrm>
          <a:prstGeom prst="roundRect">
            <a:avLst>
              <a:gd name="adj" fmla="val 1629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00775" y="2198340"/>
            <a:ext cx="5457825" cy="1383506"/>
          </a:xfrm>
          <a:prstGeom prst="roundRect">
            <a:avLst>
              <a:gd name="adj" fmla="val 16523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3762821"/>
            <a:ext cx="5467350" cy="1383506"/>
          </a:xfrm>
          <a:prstGeom prst="roundRect">
            <a:avLst>
              <a:gd name="adj" fmla="val 16523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3762821"/>
            <a:ext cx="5467350" cy="1383506"/>
          </a:xfrm>
          <a:prstGeom prst="roundRect">
            <a:avLst>
              <a:gd name="adj" fmla="val 16523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CONTEXT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The model sees one thing: its context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417415"/>
            <a:ext cx="658832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3B7A57"/>
                </a:solidFill>
                <a:latin typeface="Quicksand"/>
              </a:rPr>
              <a:t>Everything arrives as one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741265"/>
            <a:ext cx="51149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Instructions, your data, examples, tool definitions, tool results, conversation history — one token sequence. The model has no other channel into your task. What is not in the window does not exist.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850" y="2417415"/>
            <a:ext cx="57721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B84322"/>
                </a:solidFill>
                <a:latin typeface="Quicksand"/>
              </a:rPr>
              <a:t>Attention is finite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850" y="2741265"/>
            <a:ext cx="51149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More context is not more safety: recall measurably degrades as windows fill with low-signal text ('context rot'). The goal is the smallest set of high-signal tokens that gets the outcome.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475" y="3981896"/>
            <a:ext cx="66008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28593E"/>
                </a:solidFill>
                <a:latin typeface="Quicksand"/>
              </a:rPr>
              <a:t>Context engineering, defined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475" y="4305746"/>
            <a:ext cx="51244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28593E"/>
                </a:solidFill>
                <a:latin typeface="Nunito"/>
              </a:rPr>
              <a:t>Deciding what earns a place in the window at each step: what goes in, what stays out, what gets summarised, what moves to a file the model can read back later.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3981896"/>
            <a:ext cx="5781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Why 'prompt wording' faded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0325" y="4305746"/>
            <a:ext cx="51244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2023 was magic phrasings and trick templates. Today's models are post-trained to follow plain instructions — what you include now matters far more than how you phrase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1864965"/>
            <a:ext cx="5467350" cy="1716881"/>
          </a:xfrm>
          <a:prstGeom prst="roundRect">
            <a:avLst>
              <a:gd name="adj" fmla="val 13314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864965"/>
            <a:ext cx="5467350" cy="1716881"/>
          </a:xfrm>
          <a:prstGeom prst="roundRect">
            <a:avLst>
              <a:gd name="adj" fmla="val 13314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3753296"/>
            <a:ext cx="5467350" cy="1716881"/>
          </a:xfrm>
          <a:prstGeom prst="roundRect">
            <a:avLst>
              <a:gd name="adj" fmla="val 13314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3753296"/>
            <a:ext cx="5467350" cy="1716881"/>
          </a:xfrm>
          <a:prstGeom prst="roundRect">
            <a:avLst>
              <a:gd name="adj" fmla="val 13314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2112615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25" y="2112615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4000946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4000946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CONTEXT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What goes in the window — and what stays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475" y="2417415"/>
            <a:ext cx="66008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28593E"/>
                </a:solidFill>
                <a:latin typeface="Quicksand"/>
              </a:rPr>
              <a:t>In: role, rules, perspective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475" y="2741265"/>
            <a:ext cx="51244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Who is answering, for whom — 'from the perspective of an INVESTOR' turns routine hotel-opening news from positive to neutral. State the task in one verb and the rule for edge cases.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2417415"/>
            <a:ext cx="5781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28593E"/>
                </a:solidFill>
                <a:latin typeface="Quicksand"/>
              </a:rPr>
              <a:t>In: this item's data, delimited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0325" y="2741265"/>
            <a:ext cx="51244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The headline, the source, one line that disambiguates Marriott-the-company from the university library that shares the name. Training gave the model no knowledge of your data — the window is where it learns of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475" y="4305746"/>
            <a:ext cx="66008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B84322"/>
                </a:solidFill>
                <a:latin typeface="Quicksand"/>
              </a:rPr>
              <a:t>Out: what another layer does better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" y="4629596"/>
            <a:ext cx="51244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Anything you can compute (let Python), anything you can look up deterministically (merge it in as data), anything secret — keys and MNPI never enter a prompt.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0325" y="4305746"/>
            <a:ext cx="5781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B84322"/>
                </a:solidFill>
                <a:latin typeface="Quicksand"/>
              </a:rPr>
              <a:t>Out: padding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0325" y="4629596"/>
            <a:ext cx="51244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Ten pages of guidelines dilute the three rules that matter. Short, precise context outperforms sprawling context — in prompts, and in agent instruction files too.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093267"/>
            <a:ext cx="5429250" cy="3148607"/>
          </a:xfrm>
          <a:prstGeom prst="roundRect">
            <a:avLst>
              <a:gd name="adj" fmla="val 7260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29350" y="2203698"/>
            <a:ext cx="5429250" cy="2927746"/>
          </a:xfrm>
          <a:prstGeom prst="roundRect">
            <a:avLst>
              <a:gd name="adj" fmla="val 780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9150" y="4117925"/>
            <a:ext cx="4857750" cy="838200"/>
          </a:xfrm>
          <a:prstGeom prst="roundRect">
            <a:avLst>
              <a:gd name="adj" fmla="val 18181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15100" y="4007494"/>
            <a:ext cx="4857750" cy="838200"/>
          </a:xfrm>
          <a:prstGeom prst="roundRect">
            <a:avLst>
              <a:gd name="adj" fmla="val 18181"/>
            </a:avLst>
          </a:prstGeom>
          <a:solidFill>
            <a:srgbClr val="FD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2379017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489448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637" y="2493317"/>
            <a:ext cx="2381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603748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CONTEXT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Examples beat instructions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2931467"/>
            <a:ext cx="637579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1D2D24"/>
                </a:solidFill>
                <a:latin typeface="Quicksand"/>
              </a:rPr>
              <a:t>Rules struggle with edge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" y="3321992"/>
            <a:ext cx="495300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F5247"/>
                </a:solidFill>
                <a:latin typeface="Nunito"/>
              </a:rPr>
              <a:t>'Negative means bad for the investor, unless the cost cut signals discipline rather than distress, unless…' — every rule you write breeds exceptions.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3041898"/>
            <a:ext cx="56769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1D2D24"/>
                </a:solidFill>
                <a:latin typeface="Quicksand"/>
              </a:rPr>
              <a:t>Curate, don't accumulate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3432423"/>
            <a:ext cx="49530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F5247"/>
                </a:solidFill>
                <a:latin typeface="Nunito"/>
              </a:rPr>
              <a:t>A small, diverse set of canonical hard cases beats a long list of near-duplicates.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" y="4251275"/>
            <a:ext cx="46101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8593E"/>
                </a:solidFill>
                <a:latin typeface="Nunito"/>
              </a:rPr>
              <a:t>A few well-chosen labelled examples calibrate the model faster than any rule: "'Company cuts 200 corporate roles in efficiency push' → neutral (cost discipline, not distress)."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6550" y="4140844"/>
            <a:ext cx="46101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B84322"/>
                </a:solidFill>
                <a:latin typeface="Nunito"/>
              </a:rPr>
              <a:t>The risk: examples transmit your labelling biases, including ones you haven't noticed. Keep them out of your evaluation set, or you are grading the model on questions it has seen.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292399"/>
            <a:ext cx="5467350" cy="1176337"/>
          </a:xfrm>
          <a:prstGeom prst="roundRect">
            <a:avLst>
              <a:gd name="adj" fmla="val 19433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2292399"/>
            <a:ext cx="5467350" cy="1176337"/>
          </a:xfrm>
          <a:prstGeom prst="roundRect">
            <a:avLst>
              <a:gd name="adj" fmla="val 19433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3640187"/>
            <a:ext cx="5476875" cy="1402556"/>
          </a:xfrm>
          <a:prstGeom prst="roundRect">
            <a:avLst>
              <a:gd name="adj" fmla="val 1629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00775" y="3649712"/>
            <a:ext cx="5457825" cy="1383506"/>
          </a:xfrm>
          <a:prstGeom prst="roundRect">
            <a:avLst>
              <a:gd name="adj" fmla="val 16523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CONTEXT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Structured output: design the schema — the API enforces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475" y="2511474"/>
            <a:ext cx="66008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5C7065"/>
                </a:solidFill>
                <a:latin typeface="Quicksand"/>
              </a:rPr>
              <a:t>2023: beg and re-ask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75" y="2835324"/>
            <a:ext cx="5124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'Return ONLY a JSON object' — then parse, fail on the chatty preamble, retry. A real failure mode then; solved infrastructure now.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2511474"/>
            <a:ext cx="5781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28593E"/>
                </a:solidFill>
                <a:latin typeface="Quicksand"/>
              </a:rPr>
              <a:t>2026: schema-enforced decoding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0325" y="2835324"/>
            <a:ext cx="5124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28593E"/>
                </a:solidFill>
                <a:latin typeface="Nunito"/>
              </a:rPr>
              <a:t>Modern APIs accept a JSON schema and guarantee output that parses against it. The begging is gone — the design work is what remains, and it is yours.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868787"/>
            <a:ext cx="658832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3B7A57"/>
                </a:solidFill>
                <a:latin typeface="Quicksand"/>
              </a:rPr>
              <a:t>Design: closed labels, with an exit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192637"/>
            <a:ext cx="51149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B7A57"/>
                </a:solidFill>
                <a:latin typeface="Nunito"/>
              </a:rPr>
              <a:t>sentiment ∈ positive | negative | neutral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; category from a fixed list that includes 'other'. Without an exit, edge cases get forced into the nearest wrong label — silently.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850" y="3868787"/>
            <a:ext cx="57721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92400E"/>
                </a:solidFill>
                <a:latin typeface="Quicksand"/>
              </a:rPr>
              <a:t>Design: a rationale field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850" y="4192637"/>
            <a:ext cx="51149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~20 tokens that buy you a reason to read when a label surprises you — and the raw material for the disagreement list you'll study after lunch. Today's notebook does exactly this.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188815"/>
            <a:ext cx="5467350" cy="1609725"/>
          </a:xfrm>
          <a:prstGeom prst="roundRect">
            <a:avLst>
              <a:gd name="adj" fmla="val 14201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2292399"/>
            <a:ext cx="5467350" cy="1402556"/>
          </a:xfrm>
          <a:prstGeom prst="roundRect">
            <a:avLst>
              <a:gd name="adj" fmla="val 1629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3969990"/>
            <a:ext cx="5467350" cy="1176337"/>
          </a:xfrm>
          <a:prstGeom prst="roundRect">
            <a:avLst>
              <a:gd name="adj" fmla="val 19433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3969990"/>
            <a:ext cx="5467350" cy="1176337"/>
          </a:xfrm>
          <a:prstGeom prst="roundRect">
            <a:avLst>
              <a:gd name="adj" fmla="val 19433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CONTEXT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Guiding an agent: instructions that persist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417415"/>
            <a:ext cx="657582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3B7A57"/>
                </a:solidFill>
                <a:latin typeface="Quicksand"/>
              </a:rPr>
              <a:t>The standing instruction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741265"/>
            <a:ext cx="5105400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Agent harnesses read a project file — </a:t>
            </a:r>
            <a:r>
              <a:rPr sz="1125" b="0" i="0" u="none">
                <a:solidFill>
                  <a:srgbClr val="3B7A57"/>
                </a:solidFill>
                <a:latin typeface="Nunito"/>
              </a:rPr>
              <a:t>CLAUDE.md / AGENTS.md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, by now a near-universal convention — on every task: what this project is, how to run the tests, what not to touch. Write it like onboarding notes for a sharp new hire.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850" y="2520999"/>
            <a:ext cx="57721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3B7A57"/>
                </a:solidFill>
                <a:latin typeface="Quicksand"/>
              </a:rPr>
              <a:t>Short beats long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850" y="2844849"/>
            <a:ext cx="510540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A focused few-hundred-token file outperforms a sprawling one that tries to cover everything — the same attention budget applies to instructions as to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475" y="4189065"/>
            <a:ext cx="66008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28593E"/>
                </a:solidFill>
                <a:latin typeface="Quicksand"/>
              </a:rPr>
              <a:t>It is a living document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475" y="4512915"/>
            <a:ext cx="5124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28593E"/>
                </a:solidFill>
                <a:latin typeface="Nunito"/>
              </a:rPr>
              <a:t>When the agent does something annoying, you edit the file so it never does it again. That feedback loop is the 2026 replacement for prompt tinkering.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4189065"/>
            <a:ext cx="5781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92400E"/>
                </a:solidFill>
                <a:latin typeface="Quicksand"/>
              </a:rPr>
              <a:t>Tools are context too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0325" y="4512915"/>
            <a:ext cx="5124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An agent is only as good as the descriptions of the tools it may call. A vague tool description produces vague tool use.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377183"/>
            <a:ext cx="11125200" cy="838200"/>
          </a:xfrm>
          <a:prstGeom prst="roundRect">
            <a:avLst>
              <a:gd name="adj" fmla="val 27272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119758"/>
            <a:ext cx="3581400" cy="2085975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05300" y="2223343"/>
            <a:ext cx="3581400" cy="1878806"/>
          </a:xfrm>
          <a:prstGeom prst="roundRect">
            <a:avLst>
              <a:gd name="adj" fmla="val 12167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77200" y="2119758"/>
            <a:ext cx="3581400" cy="2085975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348358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900" y="2451943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2348358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453133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200" y="2556718"/>
            <a:ext cx="1524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1050" y="2453133"/>
            <a:ext cx="19050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CONTEXT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Long tasks: write it down, compress it, isolate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4558158"/>
            <a:ext cx="11420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B84322"/>
                </a:solidFill>
                <a:latin typeface="Quicksand"/>
              </a:rPr>
              <a:t>You will feel this in the sprint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4824858"/>
            <a:ext cx="114204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When your AI assistant starts 'forgetting', its window is full. Don't push on: ask for a written summary, start fresh, paste the summary.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2824608"/>
            <a:ext cx="410051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Write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3148458"/>
            <a:ext cx="3219450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Move state out of the window: a plan file, a scratchpad, a task list. The agent re-reads what it needs instead of carrying everything everywhere.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3900" y="2928193"/>
            <a:ext cx="410051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Compress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3900" y="3252043"/>
            <a:ext cx="32194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Summarise finished sub-tasks; truncate verbose tool output; replace a long history with a short recap ('compaction'). Keep signal, drop bulk.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5800" y="2824608"/>
            <a:ext cx="38862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Isolate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5800" y="3148458"/>
            <a:ext cx="3219450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Give a sub-task its own clean window — a sub-agent — and take back only the result. Ten clean small windows beat one overflowing large one.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188815"/>
            <a:ext cx="5467350" cy="1402556"/>
          </a:xfrm>
          <a:prstGeom prst="roundRect">
            <a:avLst>
              <a:gd name="adj" fmla="val 1629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2292399"/>
            <a:ext cx="5467350" cy="1195387"/>
          </a:xfrm>
          <a:prstGeom prst="roundRect">
            <a:avLst>
              <a:gd name="adj" fmla="val 19123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3762821"/>
            <a:ext cx="5467350" cy="1383506"/>
          </a:xfrm>
          <a:prstGeom prst="roundRect">
            <a:avLst>
              <a:gd name="adj" fmla="val 16523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3866405"/>
            <a:ext cx="5467350" cy="1176337"/>
          </a:xfrm>
          <a:prstGeom prst="roundRect">
            <a:avLst>
              <a:gd name="adj" fmla="val 19433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CONTEXT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One change, one measurement — the habit that replaces prompt lore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417415"/>
            <a:ext cx="657582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3B7A57"/>
                </a:solidFill>
                <a:latin typeface="Quicksand"/>
              </a:rPr>
              <a:t>Change one 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741265"/>
            <a:ext cx="510540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An instruction, an example, the schema, the model — one change at a time, re-scored on the same labelled set, logged next to the old score. Keep every version: PROMPT_V2 stays when V3 ships.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850" y="2520999"/>
            <a:ext cx="57721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3B7A57"/>
                </a:solidFill>
                <a:latin typeface="Quicksand"/>
              </a:rPr>
              <a:t>This is how the field works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850" y="2844849"/>
            <a:ext cx="510540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Eval-driven development: labs and serious teams improve these systems by measuring against fixed test sets, not by collecting magic phrases.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475" y="3981896"/>
            <a:ext cx="66008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28593E"/>
                </a:solidFill>
                <a:latin typeface="Quicksand"/>
              </a:rPr>
              <a:t>Today, concretely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475" y="4305746"/>
            <a:ext cx="51244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28593E"/>
                </a:solidFill>
                <a:latin typeface="Nunito"/>
              </a:rPr>
              <a:t>This afternoon every team ships PROMPT_V3: one change against V2, scored on your own gold labels — and the score is logged even if it got worse. Especially if it got worse.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4085480"/>
            <a:ext cx="5781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92400E"/>
                </a:solidFill>
                <a:latin typeface="Quicksand"/>
              </a:rPr>
              <a:t>The one-line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0325" y="4409330"/>
            <a:ext cx="5124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A context change without a measurement is a vibe. The whole of Section 4 — and most of what makes AI usable at a fund — is turning vibes into numbers.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590008"/>
            <a:ext cx="11125200" cy="982563"/>
          </a:xfrm>
          <a:prstGeom prst="roundRect">
            <a:avLst>
              <a:gd name="adj" fmla="val 21326"/>
            </a:avLst>
          </a:prstGeom>
          <a:solidFill>
            <a:srgbClr val="F0F6F2"/>
          </a:solidFill>
          <a:ln w="19050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134939"/>
            <a:ext cx="3575000" cy="2283618"/>
          </a:xfrm>
          <a:prstGeom prst="roundRect">
            <a:avLst>
              <a:gd name="adj" fmla="val 10010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98900" y="2228998"/>
            <a:ext cx="3594050" cy="20955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83450" y="2238523"/>
            <a:ext cx="3575000" cy="2076450"/>
          </a:xfrm>
          <a:prstGeom prst="roundRect">
            <a:avLst>
              <a:gd name="adj" fmla="val 11009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2354014"/>
            <a:ext cx="400050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500" y="2457598"/>
            <a:ext cx="400050" cy="400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525" y="2457598"/>
            <a:ext cx="400050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2468314"/>
            <a:ext cx="1524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1800" y="2571898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6825" y="2571898"/>
            <a:ext cx="1714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CONTEXT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19125"/>
            <a:ext cx="11658600" cy="744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Never paste secrets — or anything non-public — into a consumer chat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475" y="2849314"/>
            <a:ext cx="411711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B84322"/>
                </a:solidFill>
                <a:latin typeface="Quicksand"/>
              </a:rPr>
              <a:t>Material non-public information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475" y="3163639"/>
            <a:ext cx="323210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CIMs, data-room extracts, management projections, deal names. A consumer chat product's terms may allow training or human review. Your compliance team has a view; find out before you paste.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7500" y="2952898"/>
            <a:ext cx="411711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Quicksand"/>
              </a:rPr>
              <a:t>API keys and credentials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7500" y="3267223"/>
            <a:ext cx="3232100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A key in a notebook cell is a key in a screenshot, a GitHub commit, a shared link. Colab: Secrets panel (🔑). Local: environment variable. Repo: .gitignore. Never a string literal.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525" y="2952898"/>
            <a:ext cx="38894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593E"/>
                </a:solidFill>
                <a:latin typeface="Quicksand"/>
              </a:rPr>
              <a:t>Use the sanctioned channel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525" y="3267223"/>
            <a:ext cx="3232100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28593E"/>
                </a:solidFill>
                <a:latin typeface="Nunito"/>
              </a:rPr>
              <a:t>Enterprise deployments and APIs with no-training terms exist for this reason. Today's public headlines are fine anywhere; tomorrow's diligence data is not.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4742408"/>
            <a:ext cx="114300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6D597A"/>
                </a:solidFill>
                <a:latin typeface="Fira Code"/>
              </a:rPr>
              <a:t>from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google.colab </a:t>
            </a:r>
            <a:r>
              <a:rPr sz="1050" b="1" i="0" u="none">
                <a:solidFill>
                  <a:srgbClr val="6D597A"/>
                </a:solidFill>
                <a:latin typeface="Fira Code"/>
              </a:rPr>
              <a:t>import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userdata               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Colab → 🔑 Secrets → ANTHROPIC_API_KEY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4968329"/>
            <a:ext cx="114300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os.environ[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"ANTHROPIC_API_KEY"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] = userdata.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get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"ANTHROPIC_API_KEY"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).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strip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() 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strip paste newlines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5194250"/>
            <a:ext cx="114300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client = anthropic.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Anthropic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()                  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reads the environment; nothing in the cell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381250" y="4033837"/>
            <a:ext cx="7429500" cy="1219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1604962"/>
            <a:ext cx="571500" cy="57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1776412"/>
            <a:ext cx="22860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52562" y="2366962"/>
            <a:ext cx="9286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B84322"/>
                </a:solidFill>
                <a:latin typeface="Fira Code"/>
              </a:rPr>
              <a:t>DAY 2 · 9:55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0390" y="2605087"/>
            <a:ext cx="9751218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1D2D24"/>
                </a:solidFill>
                <a:latin typeface="Quicksand"/>
              </a:rPr>
              <a:t>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52562" y="3481387"/>
            <a:ext cx="92868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3B7A57"/>
                </a:solidFill>
                <a:latin typeface="Nunito"/>
              </a:rPr>
              <a:t>Back at 10:10 — Case 2 begins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9750" y="4262437"/>
            <a:ext cx="8572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F5247"/>
                </a:solidFill>
                <a:latin typeface="Nunito"/>
              </a:rPr>
              <a:t>A news screen for an investment target: fetch → baseline → LLM → evaluate → dashboard.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9750" y="4795837"/>
            <a:ext cx="8572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B84322"/>
                </a:solidFill>
                <a:latin typeface="Nunito"/>
              </a:rPr>
              <a:t>Sit with your team of five before we restart.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381500"/>
            <a:ext cx="9144000" cy="1266825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09675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87" y="1390650"/>
            <a:ext cx="276225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047875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B84322"/>
                </a:solidFill>
                <a:latin typeface="Fira Code"/>
              </a:rPr>
              <a:t>SECTION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05050"/>
            <a:ext cx="9701212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D2D24"/>
                </a:solidFill>
                <a:latin typeface="Quicksand"/>
              </a:rPr>
              <a:t>Case 2 · A news screen for an investment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600450"/>
            <a:ext cx="92392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B84322"/>
                </a:solidFill>
                <a:latin typeface="Fira Code"/>
              </a:rPr>
              <a:t>10-minute brief · Part A 10:20–11:10 · Part B 11:10–12:00, resumes 1:10–1:40 · debrief 1:40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4629150"/>
            <a:ext cx="10715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BY THE END OF THIS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4886325"/>
            <a:ext cx="8667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Nunito"/>
              </a:rPr>
              <a:t>Build a repeatable read of the news about Marriott · Establish, with numbers, when that read can be trusted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801046"/>
            <a:ext cx="11125200" cy="381000"/>
          </a:xfrm>
          <a:prstGeom prst="roundRect">
            <a:avLst>
              <a:gd name="adj" fmla="val 50000"/>
            </a:avLst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238821"/>
            <a:ext cx="1603474" cy="561975"/>
          </a:xfrm>
          <a:prstGeom prst="roundRect">
            <a:avLst>
              <a:gd name="adj" fmla="val 30508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336899" y="2238821"/>
            <a:ext cx="1603474" cy="561975"/>
          </a:xfrm>
          <a:prstGeom prst="roundRect">
            <a:avLst>
              <a:gd name="adj" fmla="val 30508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40398" y="2229296"/>
            <a:ext cx="1828800" cy="581025"/>
          </a:xfrm>
          <a:prstGeom prst="roundRect">
            <a:avLst>
              <a:gd name="adj" fmla="val 2950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69223" y="2162621"/>
            <a:ext cx="1742926" cy="714375"/>
          </a:xfrm>
          <a:prstGeom prst="roundRect">
            <a:avLst>
              <a:gd name="adj" fmla="val 24000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12174" y="2238821"/>
            <a:ext cx="1742926" cy="561975"/>
          </a:xfrm>
          <a:prstGeom prst="roundRect">
            <a:avLst>
              <a:gd name="adj" fmla="val 30508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55125" y="2238821"/>
            <a:ext cx="1603474" cy="561975"/>
          </a:xfrm>
          <a:prstGeom prst="roundRect">
            <a:avLst>
              <a:gd name="adj" fmla="val 30508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33400" y="3010346"/>
            <a:ext cx="2733675" cy="22860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00425" y="3010346"/>
            <a:ext cx="2266950" cy="228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33400" y="3467546"/>
            <a:ext cx="3496567" cy="110490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01417" y="3372296"/>
            <a:ext cx="3808214" cy="12954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81082" y="3572321"/>
            <a:ext cx="3477517" cy="895350"/>
          </a:xfrm>
          <a:prstGeom prst="roundRect">
            <a:avLst>
              <a:gd name="adj" fmla="val 25531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CASE 2 · 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19125"/>
            <a:ext cx="11658600" cy="3818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The pipeline — every box is a function in newslib.py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13074" y="2405508"/>
            <a:ext cx="333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6573" y="2405508"/>
            <a:ext cx="333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5398" y="2405508"/>
            <a:ext cx="333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8349" y="2405508"/>
            <a:ext cx="333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1300" y="2405508"/>
            <a:ext cx="333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50" y="3048446"/>
            <a:ext cx="25622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8593E"/>
                </a:solidFill>
                <a:latin typeface="Fira Code"/>
              </a:rPr>
              <a:t>STEPS 1–5 · THIS SLOT · DONE BY 12:00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3775" y="3048446"/>
            <a:ext cx="2095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Fira Code"/>
              </a:rPr>
              <a:t>STEPS 6–7 · AFTER LUNCH · 1:10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950" y="4896296"/>
            <a:ext cx="21431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Fira Code"/>
              </a:rPr>
              <a:t>CASE · NOTEBOOK OPEN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2337" y="4896296"/>
            <a:ext cx="73223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Nunito"/>
              </a:rPr>
              <a:t>03_news_dashboard_STARTER.ipynb · Steps 1–5 only before lunch · with your team of five</a:t>
            </a:r>
          </a:p>
        </p:txBody>
      </p:sp>
      <p:sp>
        <p:nvSpPr>
          <p:cNvPr id="29" name="TextBox 28">
            <a:hlinkClick r:id="rId2"/>
          </p:cNvPr>
          <p:cNvSpPr txBox="1"/>
          <p:nvPr/>
        </p:nvSpPr>
        <p:spPr>
          <a:xfrm>
            <a:off x="10222992" y="4855464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>
            <a:noFill/>
          </a:ln>
          <a:effectLst>
            <a:outerShdw blurRad="50800" dist="25400" dir="5400000" rotWithShape="0">
              <a:srgbClr val="1A3A2A">
                <a:alpha val="40000"/>
              </a:srgbClr>
            </a:outerShdw>
          </a:effectLst>
        </p:spPr>
        <p:txBody>
          <a:bodyPr wrap="none" lIns="36576" tIns="0" rIns="36576" bIns="0" anchor="ctr" anchorCtr="0">
            <a:spAutoFit/>
          </a:bodyPr>
          <a:lstStyle/>
          <a:p>
            <a:pPr algn="ctr"/>
            <a:r>
              <a:rPr sz="1000" b="1" i="0" u="none">
                <a:solidFill>
                  <a:srgbClr val="3B7A57"/>
                </a:solidFill>
                <a:latin typeface="Nunito"/>
              </a:rPr>
              <a:t>Open in Colab 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934" y="2362646"/>
            <a:ext cx="174240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D2D24"/>
                </a:solidFill>
                <a:latin typeface="Fira Code"/>
              </a:rPr>
              <a:t>fetch_google_news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934" y="2524571"/>
            <a:ext cx="174240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5C7065"/>
                </a:solidFill>
                <a:latin typeface="Nunito"/>
              </a:rPr>
              <a:t>RSS, no API key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67433" y="2362646"/>
            <a:ext cx="174240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D2D24"/>
                </a:solidFill>
                <a:latin typeface="Fira Code"/>
              </a:rPr>
              <a:t>clean_headlines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67433" y="2524571"/>
            <a:ext cx="174240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5C7065"/>
                </a:solidFill>
                <a:latin typeface="Nunito"/>
              </a:rPr>
              <a:t>near-duplicates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54673" y="2362646"/>
            <a:ext cx="2000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3B7A57"/>
                </a:solidFill>
                <a:latin typeface="Fira Code"/>
              </a:rPr>
              <a:t>add_lexicon_sentiment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54673" y="2524571"/>
            <a:ext cx="2000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5C7065"/>
                </a:solidFill>
                <a:latin typeface="Nunito"/>
              </a:rPr>
              <a:t>naive baseline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2326" y="2286446"/>
            <a:ext cx="191672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28593E"/>
                </a:solidFill>
                <a:latin typeface="Fira Code"/>
              </a:rPr>
              <a:t>classify_frame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2326" y="2448371"/>
            <a:ext cx="191672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28593E"/>
                </a:solidFill>
                <a:latin typeface="Nunito"/>
              </a:rPr>
              <a:t>LLM: relevant · sentiment · topic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5277" y="2362646"/>
            <a:ext cx="191672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92400E"/>
                </a:solidFill>
                <a:latin typeface="Fira Code"/>
              </a:rPr>
              <a:t>accuracy · confusion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25277" y="2524571"/>
            <a:ext cx="191672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2400E"/>
                </a:solidFill>
                <a:latin typeface="Nunito"/>
              </a:rPr>
              <a:t>vs. hand labels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85660" y="2362646"/>
            <a:ext cx="174240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B84322"/>
                </a:solidFill>
                <a:latin typeface="Fira Code"/>
              </a:rPr>
              <a:t>news_dashboard.py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5660" y="2524571"/>
            <a:ext cx="174240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B84322"/>
                </a:solidFill>
                <a:latin typeface="Nunito"/>
              </a:rPr>
              <a:t>Streamlit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3900" y="3638996"/>
            <a:ext cx="3210817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F5247"/>
                </a:solidFill>
                <a:latin typeface="Nunito"/>
              </a:rPr>
              <a:t>Read newslib.py first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 — it is about 250 lines. The notebook and the dashboard only call it. That separation is what makes it testable in CI — which the finance cohort set up yesterday.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1917" y="3543746"/>
            <a:ext cx="3522464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F5247"/>
                </a:solidFill>
                <a:latin typeface="Nunito"/>
              </a:rPr>
              <a:t>Fallbacks are built in.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 Feed blocked → synthetic feed about a fictional 'Harborview Hotels' with an instructor gold set; a banner tells you. No API key → mock mode (rule-based, imperfect on purpose) plus Track B by hand.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2057" y="3734246"/>
            <a:ext cx="321081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D2D24"/>
                </a:solidFill>
                <a:latin typeface="Nunito"/>
              </a:rPr>
              <a:t>The interesting output is not the sentiment chart.</a:t>
            </a:r>
            <a:r>
              <a:rPr sz="1125" b="0" i="0" u="none">
                <a:solidFill>
                  <a:srgbClr val="1D2D24"/>
                </a:solidFill>
                <a:latin typeface="Nunito"/>
              </a:rPr>
              <a:t> It is the list of headlines where the lexicon, the model and the humans disagree.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105471"/>
            <a:ext cx="3465314" cy="2105025"/>
          </a:xfrm>
          <a:prstGeom prst="roundRect">
            <a:avLst>
              <a:gd name="adj" fmla="val 10859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51114" y="1919733"/>
            <a:ext cx="3908821" cy="2476500"/>
          </a:xfrm>
          <a:prstGeom prst="roundRect">
            <a:avLst>
              <a:gd name="adj" fmla="val 9230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12335" y="1934021"/>
            <a:ext cx="3446264" cy="2447925"/>
          </a:xfrm>
          <a:prstGeom prst="roundRect">
            <a:avLst>
              <a:gd name="adj" fmla="val 9338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4529583"/>
            <a:ext cx="5486400" cy="828675"/>
          </a:xfrm>
          <a:prstGeom prst="roundRect">
            <a:avLst>
              <a:gd name="adj" fmla="val 27586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4529583"/>
            <a:ext cx="5486400" cy="828675"/>
          </a:xfrm>
          <a:prstGeom prst="roundRect">
            <a:avLst>
              <a:gd name="adj" fmla="val 27586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2305496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089" y="2110233"/>
            <a:ext cx="219075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3310" y="2124521"/>
            <a:ext cx="15240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CASE 2 ·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Three parts, two tracks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2562671"/>
            <a:ext cx="40481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D2D24"/>
                </a:solidFill>
                <a:latin typeface="Quicksand"/>
              </a:rPr>
              <a:t>A · Individual · 10:20–11:10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2838896"/>
            <a:ext cx="3179564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F5247"/>
                </a:solidFill>
                <a:latin typeface="Nunito"/>
              </a:rPr>
              <a:t>Fetch; read the raw titles before doing anything (what isn't about the company? what repeats?).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3257996"/>
            <a:ext cx="385539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F5247"/>
                </a:solidFill>
                <a:latin typeface="Nunito"/>
              </a:rPr>
              <a:t>Clean; run the lexicon baseline.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3496121"/>
            <a:ext cx="3179564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F5247"/>
                </a:solidFill>
                <a:latin typeface="Nunito"/>
              </a:rPr>
              <a:t>Find three headlines where the lexicon is wrong and name the failure type: negation, jargon, 'record impairment', consumer-vs-investor valence.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2089" y="2367408"/>
            <a:ext cx="465526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8593E"/>
                </a:solidFill>
                <a:latin typeface="Quicksand"/>
              </a:rPr>
              <a:t>B · Group · 11:10–12:00 · resumes 1:10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2089" y="2643633"/>
            <a:ext cx="364212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F5247"/>
                </a:solidFill>
                <a:latin typeface="Nunito"/>
              </a:rPr>
              <a:t>Each member labels the same 20 headlines silently; compare; compute agreement.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2089" y="3053208"/>
            <a:ext cx="364212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F5247"/>
                </a:solidFill>
                <a:latin typeface="Nunito"/>
              </a:rPr>
              <a:t>Classify with PROMPT_V2. Accuracy, confusion matrix, per-class precision/recall — lexicon vs LLM vs gold.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2089" y="3462783"/>
            <a:ext cx="364212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F5247"/>
                </a:solidFill>
                <a:latin typeface="Nunito"/>
              </a:rPr>
              <a:t>Read every disagreement: model error, label error, or genuinely ambiguous?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2089" y="3872358"/>
            <a:ext cx="364212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8593E"/>
                </a:solidFill>
                <a:latin typeface="Nunito"/>
              </a:rPr>
              <a:t>Everyone ships PROMPT_V3: one change, logged against V2 on the same gold set — kept even if it scores worse.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3310" y="2381696"/>
            <a:ext cx="379868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2400E"/>
                </a:solidFill>
                <a:latin typeface="Quicksand"/>
              </a:rPr>
              <a:t>C · Fast lanes · from 11:10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3310" y="2657921"/>
            <a:ext cx="3179564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F5247"/>
                </a:solidFill>
                <a:latin typeface="Nunito"/>
              </a:rPr>
              <a:t>Tech students:</a:t>
            </a:r>
            <a:r>
              <a:rPr sz="1050" b="0" i="0" u="none">
                <a:solidFill>
                  <a:srgbClr val="3F5247"/>
                </a:solidFill>
                <a:latin typeface="Nunito"/>
              </a:rPr>
              <a:t> these start this morning, as soon as Part B labelling starts — don't save them for the afternoon.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3310" y="3257996"/>
            <a:ext cx="3179564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F5247"/>
                </a:solidFill>
                <a:latin typeface="Nunito"/>
              </a:rPr>
              <a:t>Batch the API calls; swap in a cheaper model and compare accuracy; add a cost-per-headline tracker; deploy the dashboard (share.streamlit.io).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3310" y="3858071"/>
            <a:ext cx="3179564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2400E"/>
                </a:solidFill>
                <a:latin typeface="Nunito"/>
              </a:rPr>
              <a:t>Every fast lane ends in a number next to the baseline — same rules as everyone else.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4375" y="4672458"/>
            <a:ext cx="52197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D2D24"/>
                </a:solidFill>
                <a:latin typeface="Nunito"/>
              </a:rPr>
              <a:t>Track A — your own API key:</a:t>
            </a:r>
            <a:r>
              <a:rPr sz="1050" b="0" i="0" u="none">
                <a:solidFill>
                  <a:srgbClr val="1D2D24"/>
                </a:solidFill>
                <a:latin typeface="Nunito"/>
              </a:rPr>
              <a:t> Set ANTHROPIC_API_KEY in Colab Secrets. Real model, prompt iteration measurable. Your university's AI access covers it — the whole case costs cents.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3175" y="4672458"/>
            <a:ext cx="52197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D2D24"/>
                </a:solidFill>
                <a:latin typeface="Nunito"/>
              </a:rPr>
              <a:t>Track B — no key:</a:t>
            </a:r>
            <a:r>
              <a:rPr sz="1050" b="0" i="0" u="none">
                <a:solidFill>
                  <a:srgbClr val="1D2D24"/>
                </a:solidFill>
                <a:latin typeface="Nunito"/>
              </a:rPr>
              <a:t> client = None → mock mode for the pipeline. One member pastes PROMPT_V2 plus 20 headlines into a chat UI, records the JSON into the labels file, and the group compares by hand.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372421"/>
            <a:ext cx="11125200" cy="43815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4924871"/>
            <a:ext cx="11125200" cy="381000"/>
          </a:xfrm>
          <a:prstGeom prst="roundRect">
            <a:avLst>
              <a:gd name="adj" fmla="val 50000"/>
            </a:avLst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3400" y="2286446"/>
            <a:ext cx="2106364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39764" y="2286446"/>
            <a:ext cx="9018835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2624583"/>
            <a:ext cx="210636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39764" y="2624583"/>
            <a:ext cx="9018835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2948433"/>
            <a:ext cx="210636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39764" y="2948433"/>
            <a:ext cx="9018835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400" y="3272283"/>
            <a:ext cx="210636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39764" y="3272283"/>
            <a:ext cx="9018835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3596133"/>
            <a:ext cx="210636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39764" y="3596133"/>
            <a:ext cx="9018835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3919983"/>
            <a:ext cx="210636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39764" y="3919983"/>
            <a:ext cx="9018835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3400" y="4243833"/>
            <a:ext cx="210636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39764" y="4243833"/>
            <a:ext cx="9018835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33400" y="1972121"/>
            <a:ext cx="11125200" cy="22860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33400" y="1972121"/>
          <a:ext cx="11125199" cy="2286000"/>
        </p:xfrm>
        <a:graphic>
          <a:graphicData uri="http://schemas.openxmlformats.org/drawingml/2006/table">
            <a:tbl>
              <a:tblPr/>
              <a:tblGrid>
                <a:gridCol w="210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8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2D24"/>
                          </a:solidFill>
                          <a:latin typeface="Quicksand"/>
                        </a:rPr>
                        <a:t>Criterion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2D24"/>
                          </a:solidFill>
                          <a:latin typeface="Quicksand"/>
                        </a:rPr>
                        <a:t>What good looks like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B7A57"/>
                          </a:solidFill>
                          <a:latin typeface="Nunito"/>
                        </a:rPr>
                        <a:t>Gold set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15 headlines (10 common + 5 team-unique) labelled independently by all five of you; agreement rate reported and interpreted as a ceiling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B7A57"/>
                          </a:solidFill>
                          <a:latin typeface="Nunito"/>
                        </a:rPr>
                        <a:t>Measurement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Accuracy for lexicon and LLM; confusion matrix; per-class precision/recall; relevance and category accuracy — on relevant items only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B7A57"/>
                          </a:solidFill>
                          <a:latin typeface="Nunito"/>
                        </a:rPr>
                        <a:t>Reading the errors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Each disagreement classified (model / label / ambiguous); at least one human label changed as a result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B7A57"/>
                          </a:solidFill>
                          <a:latin typeface="Nunito"/>
                        </a:rPr>
                        <a:t>Prompt discipline (Track 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Versioned prompts, one change per version, score logged each 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B7A57"/>
                          </a:solidFill>
                          <a:latin typeface="Nunito"/>
                        </a:rPr>
                        <a:t>Engineering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Dashboard runs; CI green; a new test that encodes a discovered failure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4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B7A57"/>
                          </a:solidFill>
                          <a:latin typeface="Nunito"/>
                        </a:rPr>
                        <a:t>Honesty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n and baseline reported next to accuracy; no 'the model is good' without 'compared to what'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CASE 2 ·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What to produce — and what good looks like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425" y="4496246"/>
            <a:ext cx="114585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D2D24"/>
                </a:solidFill>
                <a:latin typeface="Nunito"/>
              </a:rPr>
              <a:t>Show-and-tell at 1:40, two minutes per group:</a:t>
            </a:r>
            <a:r>
              <a:rPr sz="1125" b="0" i="0" u="none">
                <a:solidFill>
                  <a:srgbClr val="1D2D24"/>
                </a:solidFill>
                <a:latin typeface="Nunito"/>
              </a:rPr>
              <a:t> the accuracy table, one disagreement you found interesting, and your V2 → V3 score change.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950" y="5020121"/>
            <a:ext cx="1714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Fira Code"/>
              </a:rPr>
              <a:t>CLASS GOLD SHEET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5020121"/>
            <a:ext cx="393192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FFFFFF"/>
                </a:solidFill>
                <a:latin typeface="Nunito"/>
              </a:rPr>
              <a:t>one teammate enters your 15 agreed labels:</a:t>
            </a:r>
          </a:p>
        </p:txBody>
      </p:sp>
      <p:sp>
        <p:nvSpPr>
          <p:cNvPr id="29" name="TextBox 27">
            <a:hlinkClick r:id="rId2"/>
          </p:cNvPr>
          <p:cNvSpPr txBox="1"/>
          <p:nvPr/>
        </p:nvSpPr>
        <p:spPr>
          <a:xfrm>
            <a:off x="10131552" y="4983479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>
            <a:noFill/>
          </a:ln>
          <a:effectLst>
            <a:outerShdw blurRad="50800" dist="25400" dir="5400000" rotWithShape="0">
              <a:srgbClr val="1A3A2A">
                <a:alpha val="40000"/>
              </a:srgbClr>
            </a:outerShdw>
          </a:effectLst>
        </p:spPr>
        <p:txBody>
          <a:bodyPr wrap="none" lIns="36576" tIns="0" rIns="36576" bIns="0" anchor="ctr" anchorCtr="0">
            <a:spAutoFit/>
          </a:bodyPr>
          <a:lstStyle/>
          <a:p>
            <a:pPr algn="ctr"/>
            <a:r>
              <a:rPr sz="1000" b="1" i="0" u="none" dirty="0">
                <a:solidFill>
                  <a:srgbClr val="3B7A57"/>
                </a:solidFill>
                <a:latin typeface="Nunito"/>
              </a:rPr>
              <a:t>bit.ly/4yRXFva ↗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190750" y="4014787"/>
            <a:ext cx="7810500" cy="1209675"/>
          </a:xfrm>
          <a:prstGeom prst="roundRect">
            <a:avLst>
              <a:gd name="adj" fmla="val 18897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1633537"/>
            <a:ext cx="571500" cy="57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87" y="1804987"/>
            <a:ext cx="200025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4437" y="2395537"/>
            <a:ext cx="9763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B7A57"/>
                </a:solidFill>
                <a:latin typeface="Fira Code"/>
              </a:rPr>
              <a:t>DAY 2 · 12:00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0359" y="2633662"/>
            <a:ext cx="10251281" cy="714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1D2D24"/>
                </a:solidFill>
                <a:latin typeface="Quicksand"/>
              </a:rPr>
              <a:t>Working lunch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4437" y="3462337"/>
            <a:ext cx="97631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28593E"/>
                </a:solidFill>
                <a:latin typeface="Nunito"/>
              </a:rPr>
              <a:t>Back at 12:45 — evaluating AI outputs, then Case 2 finishes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9562" y="4243387"/>
            <a:ext cx="718611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 dirty="0">
                <a:solidFill>
                  <a:srgbClr val="1D2D24"/>
                </a:solidFill>
                <a:latin typeface="Nunito"/>
              </a:rPr>
              <a:t>Over food, with your team: pick your extension-sprint direction — watchlist · cost-aware classifier · analyst digest · dashboard (full briefs at 1:40; you lock in your pick then).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1625" y="4776787"/>
            <a:ext cx="90487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3F5247"/>
                </a:solidFill>
                <a:latin typeface="Nunito"/>
              </a:rPr>
              <a:t>Part B of Case 2 resumes at 1:10; every team ships a measured PROMPT_V3 by 1:40.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019550"/>
            <a:ext cx="9144000" cy="1266825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71625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1752600"/>
            <a:ext cx="24765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409825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7A57"/>
                </a:solidFill>
                <a:latin typeface="Fira Code"/>
              </a:rPr>
              <a:t>SECTION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67000"/>
            <a:ext cx="11582400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050" b="1" i="0" u="none">
                <a:solidFill>
                  <a:srgbClr val="1D2D24"/>
                </a:solidFill>
                <a:latin typeface="Quicksand"/>
              </a:rPr>
              <a:t>Evaluating AI 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67100"/>
            <a:ext cx="11430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8593E"/>
                </a:solidFill>
                <a:latin typeface="Fira Code"/>
              </a:rPr>
              <a:t>25-minute talk (12:45–1:10) · leads into Part B's finish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4267200"/>
            <a:ext cx="10715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5D39"/>
                </a:solidFill>
                <a:latin typeface="Fira Code"/>
              </a:rPr>
              <a:t>BY THE END OF THIS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4524375"/>
            <a:ext cx="8667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Nunito"/>
              </a:rPr>
              <a:t>Design a small evaluation and read its results honestly · Report to a partner: n, metric, baseline, three failures — and the decision the number supports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38763" y="2456557"/>
            <a:ext cx="5119836" cy="2422028"/>
          </a:xfrm>
          <a:prstGeom prst="roundRect">
            <a:avLst>
              <a:gd name="adj" fmla="val 9438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038796"/>
            <a:ext cx="5738663" cy="6858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2838896"/>
            <a:ext cx="5738663" cy="6858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3638996"/>
            <a:ext cx="5738663" cy="6858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3400" y="4439096"/>
            <a:ext cx="5738663" cy="857250"/>
          </a:xfrm>
          <a:prstGeom prst="roundRect">
            <a:avLst>
              <a:gd name="adj" fmla="val 26666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088" y="2770882"/>
            <a:ext cx="495300" cy="495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438" y="2904232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EVALUATING AI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A demo is not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3088" y="3418582"/>
            <a:ext cx="533891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8593E"/>
                </a:solidFill>
                <a:latin typeface="Quicksand"/>
              </a:rPr>
              <a:t>Evaluation in one 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088" y="3818632"/>
            <a:ext cx="4586436" cy="745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1D2D24"/>
                </a:solidFill>
                <a:latin typeface="Nunito"/>
              </a:rPr>
              <a:t>How often does the system agree with a careful human, on inputs like the ones it will see, compared to the simplest thing that could work?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2191196"/>
            <a:ext cx="545291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F5247"/>
                </a:solidFill>
                <a:latin typeface="Nunito"/>
              </a:rPr>
              <a:t>Five headlines that looked right is a sample of five,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 chosen by the person who wants it to work, judged by eye. Every AI vendor demo is this.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2991296"/>
            <a:ext cx="545291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F5247"/>
                </a:solidFill>
                <a:latin typeface="Nunito"/>
              </a:rPr>
              <a:t>Evidence has four parts: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 a labelled set you did not cherry-pick; a metric defined before you looked; a baseline; and the list of failures.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3791396"/>
            <a:ext cx="545291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F5247"/>
                </a:solidFill>
                <a:latin typeface="Nunito"/>
              </a:rPr>
              <a:t>The question is never 'is the model good?'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 It is 'is it good enough, compared to the alternative, for this decision, on this kind of input?'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375" y="4581971"/>
            <a:ext cx="5471963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B84322"/>
                </a:solidFill>
                <a:latin typeface="Nunito"/>
              </a:rPr>
              <a:t>For a news screen the decision is:</a:t>
            </a:r>
            <a:r>
              <a:rPr sz="1125" b="0" i="0" u="none">
                <a:solidFill>
                  <a:srgbClr val="B84322"/>
                </a:solidFill>
                <a:latin typeface="Nunito"/>
              </a:rPr>
              <a:t> 'which stories does an associate read first?' — so a missed negative costs more than a mislabelled neutral. The metric should know that.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1797099"/>
            <a:ext cx="5467350" cy="1690687"/>
          </a:xfrm>
          <a:prstGeom prst="roundRect">
            <a:avLst>
              <a:gd name="adj" fmla="val 13521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693515"/>
            <a:ext cx="5467350" cy="1897856"/>
          </a:xfrm>
          <a:prstGeom prst="roundRect">
            <a:avLst>
              <a:gd name="adj" fmla="val 1204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3762821"/>
            <a:ext cx="5467350" cy="1878806"/>
          </a:xfrm>
          <a:prstGeom prst="roundRect">
            <a:avLst>
              <a:gd name="adj" fmla="val 12167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3866405"/>
            <a:ext cx="5467350" cy="1671637"/>
          </a:xfrm>
          <a:prstGeom prst="roundRect">
            <a:avLst>
              <a:gd name="adj" fmla="val 13675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25699"/>
            <a:ext cx="400050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50" y="1922115"/>
            <a:ext cx="400050" cy="400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3981896"/>
            <a:ext cx="400050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325" y="4085480"/>
            <a:ext cx="400050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87" y="2139999"/>
            <a:ext cx="219075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5" y="2036415"/>
            <a:ext cx="15240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4096196"/>
            <a:ext cx="17145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4625" y="4199780"/>
            <a:ext cx="171450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EVALUATING AI OUTPUTS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The gold set: who labels, how many, by what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2520999"/>
            <a:ext cx="657582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Who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2844849"/>
            <a:ext cx="510540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People who would make the real decision — here, you. At least two per item, labelling independently and silently. Disagreement is data, not failure.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850" y="2417415"/>
            <a:ext cx="57721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How many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850" y="2741265"/>
            <a:ext cx="510540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Twenty gets you a feel; fifty gets you a number you would quote with a caveat; a few hundred gets you confidence intervals. Today: 20 each, 45 in the synthetic set.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475" y="4477196"/>
            <a:ext cx="66008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28593E"/>
                </a:solidFill>
                <a:latin typeface="Quicksand"/>
              </a:rPr>
              <a:t>By what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475" y="4801046"/>
            <a:ext cx="51244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28593E"/>
                </a:solidFill>
                <a:latin typeface="Nunito"/>
              </a:rPr>
              <a:t>A labelling guide written before you start: the label set, the perspective, and the tie-break ('routine operational news is neutral'). It becomes the prompt — and the rubric.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0325" y="4580780"/>
            <a:ext cx="5781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B84322"/>
                </a:solidFill>
                <a:latin typeface="Quicksand"/>
              </a:rPr>
              <a:t>Held 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0325" y="4904630"/>
            <a:ext cx="5124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Any example you put in the prompt leaves the evaluation set. Otherwise you are grading the model on the answers you gave it.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3808362"/>
            <a:ext cx="11125200" cy="756642"/>
          </a:xfrm>
          <a:prstGeom prst="roundRect">
            <a:avLst>
              <a:gd name="adj" fmla="val 27694"/>
            </a:avLst>
          </a:prstGeom>
          <a:solidFill>
            <a:srgbClr val="F0F6F2"/>
          </a:solidFill>
          <a:ln w="19050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4717405"/>
            <a:ext cx="11125200" cy="6858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2027187"/>
            <a:ext cx="3581400" cy="1533525"/>
          </a:xfrm>
          <a:prstGeom prst="roundRect">
            <a:avLst>
              <a:gd name="adj" fmla="val 14906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05300" y="1931937"/>
            <a:ext cx="3581400" cy="1724025"/>
          </a:xfrm>
          <a:prstGeom prst="roundRect">
            <a:avLst>
              <a:gd name="adj" fmla="val 13259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77200" y="2027187"/>
            <a:ext cx="3581400" cy="1533525"/>
          </a:xfrm>
          <a:prstGeom prst="roundRect">
            <a:avLst>
              <a:gd name="adj" fmla="val 14906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EVALUATING AI OUTPUTS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Humans disagree — and that is your ceiling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4869805"/>
            <a:ext cx="108013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F5247"/>
                </a:solidFill>
                <a:latin typeface="Nunito"/>
              </a:rPr>
              <a:t>When two of you disagree, discuss and resolve — then write the rule down and add it to the labelling guide. Your gold set gets better; so does your prompt. When you cannot resolve it, label it 'ambiguous' and exclude it from accuracy, reporting the count. Never silently pick 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2227212"/>
            <a:ext cx="3881437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8593E"/>
                </a:solidFill>
                <a:latin typeface="Quicksand"/>
              </a:rPr>
              <a:t>~80%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2789187"/>
            <a:ext cx="3200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F5247"/>
                </a:solidFill>
                <a:latin typeface="Nunito"/>
              </a:rPr>
              <a:t>typical agreement between two careful analysts on investor sentiment of headlines — the 'routine vs positive' boundary is genuinely fuzzy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3425" y="2131962"/>
            <a:ext cx="3881437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B84322"/>
                </a:solidFill>
                <a:latin typeface="Quicksand"/>
              </a:rPr>
              <a:t>95%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3425" y="2693937"/>
            <a:ext cx="32004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F5247"/>
                </a:solidFill>
                <a:latin typeface="Nunito"/>
              </a:rPr>
              <a:t>a model accuracy above the human agreement rate is measuring something other than 'correct' — probably agreement with one labeller's habits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2227212"/>
            <a:ext cx="3876675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92400E"/>
                </a:solidFill>
                <a:latin typeface="Quicksan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2789187"/>
            <a:ext cx="3200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F5247"/>
                </a:solidFill>
                <a:latin typeface="Nunito"/>
              </a:rPr>
              <a:t>kinds of disagreement: model error · label error · genuinely ambiguous. Sorting them is the most valuable 15 minutes of the afternoon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960762"/>
            <a:ext cx="114300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3B7A57"/>
                </a:solidFill>
                <a:latin typeface="Fira Code"/>
              </a:rPr>
              <a:t>print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"human-human agreement:"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 nl.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agreement_rate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(labels_alice.sentiment, labels_bob.sentiment))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186683"/>
            <a:ext cx="114300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3B7A57"/>
                </a:solidFill>
                <a:latin typeface="Fira Code"/>
              </a:rPr>
              <a:t>print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"LLM vs gold:"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            nl.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accuracy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(m.llm_sentiment[rel], m.sentiment[rel]))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4172396"/>
            <a:ext cx="5050482" cy="609600"/>
          </a:xfrm>
          <a:prstGeom prst="roundRect">
            <a:avLst>
              <a:gd name="adj" fmla="val 37500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850582" y="2143571"/>
            <a:ext cx="5808017" cy="495300"/>
          </a:xfrm>
          <a:prstGeom prst="roundRect">
            <a:avLst>
              <a:gd name="adj" fmla="val 46153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850582" y="2753171"/>
            <a:ext cx="5808017" cy="87630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850582" y="3743771"/>
            <a:ext cx="5808017" cy="666750"/>
          </a:xfrm>
          <a:prstGeom prst="roundRect">
            <a:avLst>
              <a:gd name="adj" fmla="val 34285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850582" y="4524821"/>
            <a:ext cx="5808017" cy="666750"/>
          </a:xfrm>
          <a:prstGeom prst="roundRect">
            <a:avLst>
              <a:gd name="adj" fmla="val 34285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915096"/>
            <a:ext cx="2034629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68029" y="2915096"/>
            <a:ext cx="1076176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44205" y="2915096"/>
            <a:ext cx="952797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97003" y="2915096"/>
            <a:ext cx="986879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3400" y="3300858"/>
            <a:ext cx="2034629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68029" y="3300858"/>
            <a:ext cx="107617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44205" y="3300858"/>
            <a:ext cx="952797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97003" y="3300858"/>
            <a:ext cx="986879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3672333"/>
            <a:ext cx="2034629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568029" y="3672333"/>
            <a:ext cx="107617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44205" y="3672333"/>
            <a:ext cx="952797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97003" y="3672333"/>
            <a:ext cx="986879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3400" y="4043808"/>
            <a:ext cx="2034629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68029" y="4043808"/>
            <a:ext cx="107617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44205" y="4043808"/>
            <a:ext cx="952797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97003" y="4043808"/>
            <a:ext cx="986879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33400" y="2553146"/>
            <a:ext cx="5050482" cy="15049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33400" y="2553146"/>
          <a:ext cx="5050481" cy="1504950"/>
        </p:xfrm>
        <a:graphic>
          <a:graphicData uri="http://schemas.openxmlformats.org/drawingml/2006/table">
            <a:tbl>
              <a:tblPr/>
              <a:tblGrid>
                <a:gridCol w="2034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7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6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D2D24"/>
                          </a:solidFill>
                          <a:latin typeface="Quicksand"/>
                        </a:rPr>
                        <a:t>gold ↓ / predicted →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1D2D24"/>
                          </a:solidFill>
                          <a:latin typeface="Quicksand"/>
                        </a:rPr>
                        <a:t>negative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1D2D24"/>
                          </a:solidFill>
                          <a:latin typeface="Quicksand"/>
                        </a:rPr>
                        <a:t>neutral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1D2D24"/>
                          </a:solidFill>
                          <a:latin typeface="Quicksand"/>
                        </a:rPr>
                        <a:t>positive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F5247"/>
                          </a:solidFill>
                          <a:latin typeface="Nunito"/>
                        </a:rPr>
                        <a:t>negative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28593E"/>
                          </a:solidFill>
                          <a:latin typeface="Fira Code"/>
                        </a:rPr>
                        <a:t>13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B84322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A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F5247"/>
                          </a:solidFill>
                          <a:latin typeface="Fira Code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F5247"/>
                          </a:solidFill>
                          <a:latin typeface="Nunito"/>
                        </a:rPr>
                        <a:t>neutral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F5247"/>
                          </a:solidFill>
                          <a:latin typeface="Fira Code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28593E"/>
                          </a:solidFill>
                          <a:latin typeface="Fira Code"/>
                        </a:rPr>
                        <a:t>14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F5247"/>
                          </a:solidFill>
                          <a:latin typeface="Fira Code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39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F5247"/>
                          </a:solidFill>
                          <a:latin typeface="Nunito"/>
                        </a:rPr>
                        <a:t>positive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F5247"/>
                          </a:solidFill>
                          <a:latin typeface="Fira Code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92400E"/>
                          </a:solidFill>
                          <a:latin typeface="Fira Code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28593E"/>
                          </a:solidFill>
                          <a:latin typeface="Fira Code"/>
                        </a:rPr>
                        <a:t>13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EVALUATING AI OUTPUTS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Accuracy hides the interesting part: the confusion matrix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5325" y="4296221"/>
            <a:ext cx="482188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F5247"/>
                </a:solidFill>
                <a:latin typeface="Nunito"/>
              </a:rPr>
              <a:t>LLM (mock mode) vs instructor labels, synthetic set, 45 relevant headlines. </a:t>
            </a:r>
            <a:r>
              <a:rPr sz="1050" b="1" i="0" u="none">
                <a:solidFill>
                  <a:srgbClr val="3F5247"/>
                </a:solidFill>
                <a:latin typeface="Nunito"/>
              </a:rPr>
              <a:t>Accuracy 0.89.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41082" y="2295971"/>
            <a:ext cx="615091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F5247"/>
                </a:solidFill>
                <a:latin typeface="Nunito"/>
              </a:rPr>
              <a:t>The diagonal is agreement;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 everything else is a specific kind of mistake.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41082" y="2905571"/>
            <a:ext cx="552226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F5247"/>
                </a:solidFill>
                <a:latin typeface="Nunito"/>
              </a:rPr>
              <a:t>Here all four errors are positive → neutral: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 brand launches, a loyalty milestone, an airline partnership. The model applies 'routine is neutral' more strictly than the humans did. Is that a model error or a label error? Discuss.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1557" y="3886646"/>
            <a:ext cx="5541317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8593E"/>
                </a:solidFill>
                <a:latin typeface="Nunito"/>
              </a:rPr>
              <a:t>Zero negatives were missed.</a:t>
            </a:r>
            <a:r>
              <a:rPr sz="1125" b="0" i="0" u="none">
                <a:solidFill>
                  <a:srgbClr val="28593E"/>
                </a:solidFill>
                <a:latin typeface="Nunito"/>
              </a:rPr>
              <a:t> For a screen whose job is 'surface the bad news first', that is the number that matters most.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1557" y="4667696"/>
            <a:ext cx="5541317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B84322"/>
                </a:solidFill>
                <a:latin typeface="Nunito"/>
              </a:rPr>
              <a:t>Compare the lexicon's matrix:</a:t>
            </a:r>
            <a:r>
              <a:rPr sz="1125" b="0" i="0" u="none">
                <a:solidFill>
                  <a:srgbClr val="B84322"/>
                </a:solidFill>
                <a:latin typeface="Nunito"/>
              </a:rPr>
              <a:t> 10 of 14 negatives labelled neutral. It misses the bad news. That is disqualifying regardless of its accuracy.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5091558"/>
            <a:ext cx="11125200" cy="666750"/>
          </a:xfrm>
          <a:prstGeom prst="roundRect">
            <a:avLst>
              <a:gd name="adj" fmla="val 34285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1576833"/>
            <a:ext cx="5467350" cy="1743075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1576833"/>
            <a:ext cx="5467350" cy="1743075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3824733"/>
            <a:ext cx="2447478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80878" y="3824733"/>
            <a:ext cx="2391816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72695" y="3824733"/>
            <a:ext cx="2558653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31348" y="3824733"/>
            <a:ext cx="1946820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78169" y="3824733"/>
            <a:ext cx="1780430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2950" y="2815083"/>
            <a:ext cx="2209800" cy="295275"/>
          </a:xfrm>
          <a:prstGeom prst="roundRect">
            <a:avLst>
              <a:gd name="adj" fmla="val 25806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0" y="2815083"/>
            <a:ext cx="1981200" cy="295275"/>
          </a:xfrm>
          <a:prstGeom prst="roundRect">
            <a:avLst>
              <a:gd name="adj" fmla="val 25806"/>
            </a:avLst>
          </a:prstGeom>
          <a:solidFill>
            <a:srgbClr val="FD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4200971"/>
            <a:ext cx="2447478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80878" y="4200971"/>
            <a:ext cx="239181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72695" y="4200971"/>
            <a:ext cx="2558653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31348" y="4200971"/>
            <a:ext cx="1946820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878169" y="4200971"/>
            <a:ext cx="1780430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3400" y="4562921"/>
            <a:ext cx="2447478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980878" y="4562921"/>
            <a:ext cx="239181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72695" y="4562921"/>
            <a:ext cx="2558653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31348" y="4562921"/>
            <a:ext cx="1946820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878169" y="4562921"/>
            <a:ext cx="1780430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3400" y="4924871"/>
            <a:ext cx="2447478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80878" y="4924871"/>
            <a:ext cx="239181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372695" y="4924871"/>
            <a:ext cx="2558653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31348" y="4924871"/>
            <a:ext cx="1946820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878169" y="4924871"/>
            <a:ext cx="1780430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33400" y="3472308"/>
            <a:ext cx="11125200" cy="14668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33400" y="3472308"/>
          <a:ext cx="11125197" cy="1466850"/>
        </p:xfrm>
        <a:graphic>
          <a:graphicData uri="http://schemas.openxmlformats.org/drawingml/2006/table">
            <a:tbl>
              <a:tblPr/>
              <a:tblGrid>
                <a:gridCol w="2447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1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86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6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04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7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2D24"/>
                          </a:solidFill>
                          <a:latin typeface="Quicksand"/>
                        </a:rPr>
                        <a:t>label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2D24"/>
                          </a:solidFill>
                          <a:latin typeface="Quicksand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2D24"/>
                          </a:solidFill>
                          <a:latin typeface="Quicksand"/>
                        </a:rPr>
                        <a:t>precision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2D24"/>
                          </a:solidFill>
                          <a:latin typeface="Quicksand"/>
                        </a:rPr>
                        <a:t>recall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2D24"/>
                          </a:solidFill>
                          <a:latin typeface="Quicksand"/>
                        </a:rPr>
                        <a:t>f1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B84322"/>
                          </a:solidFill>
                          <a:latin typeface="Nunito"/>
                        </a:rPr>
                        <a:t>negative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Fira Code"/>
                        </a:rPr>
                        <a:t>14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Fira Code"/>
                        </a:rPr>
                        <a:t>1.00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8593E"/>
                          </a:solidFill>
                          <a:latin typeface="Fira Code"/>
                        </a:rPr>
                        <a:t>0.93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Fira Code"/>
                        </a:rPr>
                        <a:t>0.96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F5247"/>
                          </a:solidFill>
                          <a:latin typeface="Nunito"/>
                        </a:rPr>
                        <a:t>neutral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Fira Code"/>
                        </a:rPr>
                        <a:t>14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Fira Code"/>
                        </a:rPr>
                        <a:t>0.74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Fira Code"/>
                        </a:rPr>
                        <a:t>1.00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Fira Code"/>
                        </a:rPr>
                        <a:t>0.85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4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8593E"/>
                          </a:solidFill>
                          <a:latin typeface="Nunito"/>
                        </a:rPr>
                        <a:t>positive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Fira Code"/>
                        </a:rPr>
                        <a:t>17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Fira Code"/>
                        </a:rPr>
                        <a:t>1.00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Fira Code"/>
                        </a:rPr>
                        <a:t>0.76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Fira Code"/>
                        </a:rPr>
                        <a:t>0.87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EVALUATING AI OUTPUTS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Precision vs recall: which mistake is expensive?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37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3425" y="5234433"/>
            <a:ext cx="108204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D2D24"/>
                </a:solidFill>
                <a:latin typeface="Nunito"/>
              </a:rPr>
              <a:t>For this use case, tune for recall on 'negative' and accept lower precision on 'neutral'.</a:t>
            </a:r>
            <a:r>
              <a:rPr sz="1125" b="0" i="0" u="none">
                <a:solidFill>
                  <a:srgbClr val="1D2D24"/>
                </a:solidFill>
                <a:latin typeface="Nunito"/>
              </a:rPr>
              <a:t> Say that in the prompt ('when unsure between neutral and negative, prefer negative') — and then measure that it helped.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1786383"/>
            <a:ext cx="540067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7A57"/>
                </a:solidFill>
                <a:latin typeface="Quicksand"/>
              </a:rPr>
              <a:t>Precision (of the ones flagged negative, how many were)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950" y="2338833"/>
            <a:ext cx="5143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F5247"/>
                </a:solidFill>
                <a:latin typeface="Nunito"/>
              </a:rPr>
              <a:t>Low precision → the associate reads ten 'negative' stories and eight are noise. Annoying; erodes trust; costs minutes.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250" y="2872233"/>
            <a:ext cx="20764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593E"/>
                </a:solidFill>
                <a:latin typeface="Fira Code"/>
              </a:rPr>
              <a:t>precision = TP / (TP + FP)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1786383"/>
            <a:ext cx="540067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D95D39"/>
                </a:solidFill>
                <a:latin typeface="Quicksand"/>
              </a:rPr>
              <a:t>Recall (of the truly negative, how many were flagged)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338833"/>
            <a:ext cx="5143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F5247"/>
                </a:solidFill>
                <a:latin typeface="Nunito"/>
              </a:rPr>
              <a:t>Low recall → a lawsuit or a guidance cut sits in the 'neutral' pile unread. Costs the thing the screen exists to prevent.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5100" y="2872233"/>
            <a:ext cx="18478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B84322"/>
                </a:solidFill>
                <a:latin typeface="Fira Code"/>
              </a:rPr>
              <a:t>recall = TP / (TP + FN)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1962596"/>
            <a:ext cx="11125200" cy="219075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4415283"/>
            <a:ext cx="2667000" cy="866775"/>
          </a:xfrm>
          <a:prstGeom prst="roundRect">
            <a:avLst>
              <a:gd name="adj" fmla="val 26373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52800" y="4324796"/>
            <a:ext cx="2667000" cy="1047750"/>
          </a:xfrm>
          <a:prstGeom prst="roundRect">
            <a:avLst>
              <a:gd name="adj" fmla="val 21818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4324796"/>
            <a:ext cx="2667000" cy="1047750"/>
          </a:xfrm>
          <a:prstGeom prst="roundRect">
            <a:avLst>
              <a:gd name="adj" fmla="val 21818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91600" y="4415283"/>
            <a:ext cx="2667000" cy="866775"/>
          </a:xfrm>
          <a:prstGeom prst="roundRect">
            <a:avLst>
              <a:gd name="adj" fmla="val 26373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0100" y="2410271"/>
            <a:ext cx="10591800" cy="114300"/>
          </a:xfrm>
          <a:prstGeom prst="roundRect">
            <a:avLst>
              <a:gd name="adj" fmla="val 50000"/>
            </a:avLst>
          </a:prstGeom>
          <a:solidFill>
            <a:srgbClr val="F2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0100" y="2876996"/>
            <a:ext cx="10591800" cy="114300"/>
          </a:xfrm>
          <a:prstGeom prst="roundRect">
            <a:avLst>
              <a:gd name="adj" fmla="val 50000"/>
            </a:avLst>
          </a:prstGeom>
          <a:solidFill>
            <a:srgbClr val="F2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0100" y="3343721"/>
            <a:ext cx="10591800" cy="11430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0100" y="3810446"/>
            <a:ext cx="10591800" cy="114300"/>
          </a:xfrm>
          <a:prstGeom prst="roundRect">
            <a:avLst>
              <a:gd name="adj" fmla="val 50000"/>
            </a:avLst>
          </a:prstGeom>
          <a:solidFill>
            <a:srgbClr val="F2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0100" y="2410271"/>
            <a:ext cx="3283446" cy="114300"/>
          </a:xfrm>
          <a:prstGeom prst="roundRect">
            <a:avLst>
              <a:gd name="adj" fmla="val 50000"/>
            </a:avLst>
          </a:prstGeom>
          <a:solidFill>
            <a:srgbClr val="8C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0100" y="2876996"/>
            <a:ext cx="4660255" cy="11430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0100" y="3343721"/>
            <a:ext cx="9426624" cy="114300"/>
          </a:xfrm>
          <a:prstGeom prst="roundRect">
            <a:avLst>
              <a:gd name="adj" fmla="val 50000"/>
            </a:avLst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0100" y="3810446"/>
            <a:ext cx="9002910" cy="114300"/>
          </a:xfrm>
          <a:prstGeom prst="roundRect">
            <a:avLst>
              <a:gd name="adj" fmla="val 50000"/>
            </a:avLst>
          </a:prstGeom>
          <a:solidFill>
            <a:srgbClr val="6D5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EVALUATING AI 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Baselines: know what the model adds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325" y="4577208"/>
            <a:ext cx="24384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F5247"/>
                </a:solidFill>
                <a:latin typeface="Nunito"/>
              </a:rPr>
              <a:t>Always predict the majority class.</a:t>
            </a:r>
            <a:r>
              <a:rPr sz="1050" b="0" i="0" u="none">
                <a:solidFill>
                  <a:srgbClr val="3F5247"/>
                </a:solidFill>
                <a:latin typeface="Nunito"/>
              </a:rPr>
              <a:t> Free, instant, and the floor any model must clear. Here 31%.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14725" y="4486721"/>
            <a:ext cx="243840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F5247"/>
                </a:solidFill>
                <a:latin typeface="Nunito"/>
              </a:rPr>
              <a:t>The simplest thing that could work.</a:t>
            </a:r>
            <a:r>
              <a:rPr sz="1050" b="0" i="0" u="none">
                <a:solidFill>
                  <a:srgbClr val="3F5247"/>
                </a:solidFill>
                <a:latin typeface="Nunito"/>
              </a:rPr>
              <a:t> A 40-word lexicon: 44%. Also free and instant — and it tells you the LLM is buying 45 points, not 89.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4125" y="4486721"/>
            <a:ext cx="243840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D2D24"/>
                </a:solidFill>
                <a:latin typeface="Nunito"/>
              </a:rPr>
              <a:t>Then the model, then the ceiling.</a:t>
            </a:r>
            <a:r>
              <a:rPr sz="1050" b="0" i="0" u="none">
                <a:solidFill>
                  <a:srgbClr val="1D2D24"/>
                </a:solidFill>
                <a:latin typeface="Nunito"/>
              </a:rPr>
              <a:t> Report all four bars. 'The model scored 89%' means nothing without the other three.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525" y="4577208"/>
            <a:ext cx="24384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D2D24"/>
                </a:solidFill>
                <a:latin typeface="Nunito"/>
              </a:rPr>
              <a:t>Bars are cheap; build them every time.</a:t>
            </a:r>
            <a:r>
              <a:rPr sz="1050" b="0" i="0" u="none">
                <a:solidFill>
                  <a:srgbClr val="1D2D24"/>
                </a:solidFill>
                <a:latin typeface="Nunito"/>
              </a:rPr>
              <a:t> In Python each baseline is one line.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" y="2191196"/>
            <a:ext cx="2619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D2D24"/>
                </a:solidFill>
                <a:latin typeface="Nunito"/>
              </a:rPr>
              <a:t>1 · Majority class (always neutral)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63300" y="2191196"/>
            <a:ext cx="5143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5C7065"/>
                </a:solidFill>
                <a:latin typeface="Fira Code"/>
              </a:rPr>
              <a:t>31%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" y="2657921"/>
            <a:ext cx="1976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D2D24"/>
                </a:solidFill>
                <a:latin typeface="Nunito"/>
              </a:rPr>
              <a:t>2 · Naive 40-word lexicon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63300" y="2657921"/>
            <a:ext cx="5143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5D39"/>
                </a:solidFill>
                <a:latin typeface="Fira Code"/>
              </a:rPr>
              <a:t>44%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" y="3124646"/>
            <a:ext cx="246459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D2D24"/>
                </a:solidFill>
                <a:latin typeface="Nunito"/>
              </a:rPr>
              <a:t>3 · LLM classifier (PROMPT_V2)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63300" y="3124646"/>
            <a:ext cx="5143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89%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" y="3591371"/>
            <a:ext cx="28217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D2D24"/>
                </a:solidFill>
                <a:latin typeface="Nunito"/>
              </a:rPr>
              <a:t>4 · Human-human agreement ceiling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58500" y="3591371"/>
            <a:ext cx="819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D597A"/>
                </a:solidFill>
                <a:latin typeface="Fira Code"/>
              </a:rPr>
              <a:t>~80–90%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470052"/>
            <a:ext cx="11125200" cy="738187"/>
          </a:xfrm>
          <a:prstGeom prst="roundRect">
            <a:avLst>
              <a:gd name="adj" fmla="val 30967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2479327"/>
            <a:ext cx="5339655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73055" y="2479327"/>
            <a:ext cx="930324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03380" y="2479327"/>
            <a:ext cx="852785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56165" y="2479327"/>
            <a:ext cx="4002434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855565"/>
            <a:ext cx="5339655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73055" y="2855565"/>
            <a:ext cx="93032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03380" y="2855565"/>
            <a:ext cx="852785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56165" y="2855565"/>
            <a:ext cx="400243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3400" y="3217515"/>
            <a:ext cx="5339655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73055" y="3217515"/>
            <a:ext cx="93032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03380" y="3217515"/>
            <a:ext cx="852785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56165" y="3217515"/>
            <a:ext cx="400243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3579465"/>
            <a:ext cx="5339655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73055" y="3579465"/>
            <a:ext cx="93032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03380" y="3579465"/>
            <a:ext cx="852785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656165" y="3579465"/>
            <a:ext cx="400243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3400" y="3941415"/>
            <a:ext cx="5339655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73055" y="3941415"/>
            <a:ext cx="93032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03380" y="3941415"/>
            <a:ext cx="852785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656165" y="3941415"/>
            <a:ext cx="400243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33400" y="4303365"/>
            <a:ext cx="5339655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73055" y="4303365"/>
            <a:ext cx="93032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03380" y="4303365"/>
            <a:ext cx="852785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56165" y="4303365"/>
            <a:ext cx="400243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33400" y="2126902"/>
            <a:ext cx="11125200" cy="21907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33400" y="2126902"/>
          <a:ext cx="11125198" cy="2190750"/>
        </p:xfrm>
        <a:graphic>
          <a:graphicData uri="http://schemas.openxmlformats.org/drawingml/2006/table">
            <a:tbl>
              <a:tblPr/>
              <a:tblGrid>
                <a:gridCol w="533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2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2D24"/>
                          </a:solidFill>
                          <a:latin typeface="Quicksand"/>
                        </a:rPr>
                        <a:t>Headline (synthetic)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2D24"/>
                          </a:solidFill>
                          <a:latin typeface="Quicksand"/>
                        </a:rPr>
                        <a:t>Gold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2D24"/>
                          </a:solidFill>
                          <a:latin typeface="Quicksand"/>
                        </a:rPr>
                        <a:t>LLM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2D24"/>
                          </a:solidFill>
                          <a:latin typeface="Quicksand"/>
                        </a:rPr>
                        <a:t>Your call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F5247"/>
                          </a:solidFill>
                          <a:latin typeface="Nunito"/>
                        </a:rPr>
                        <a:t>Harborview Launches Mid-Scale Extended-Stay Brand Aimed at Value Travelers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28593E"/>
                          </a:solidFill>
                          <a:latin typeface="Fira Code"/>
                        </a:rPr>
                        <a:t>positive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Fira Code"/>
                        </a:rPr>
                        <a:t>neutral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ambiguous — new brand vs routine pipeline?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F5247"/>
                          </a:solidFill>
                          <a:latin typeface="Nunito"/>
                        </a:rPr>
                        <a:t>Harborview Loyalty Program Surpasses Membership Milestone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28593E"/>
                          </a:solidFill>
                          <a:latin typeface="Fira Code"/>
                        </a:rPr>
                        <a:t>positive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Fira Code"/>
                        </a:rPr>
                        <a:t>neutral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label error? milestones are PR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F5247"/>
                          </a:solidFill>
                          <a:latin typeface="Nunito"/>
                        </a:rPr>
                        <a:t>Regulators Propose New Rules on Hotel 'Junk Fees'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A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B84322"/>
                          </a:solidFill>
                          <a:latin typeface="Fira Code"/>
                        </a:rPr>
                        <a:t>negative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A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Fira Code"/>
                        </a:rPr>
                        <a:t>neutral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A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B84322"/>
                          </a:solidFill>
                          <a:latin typeface="Nunito"/>
                        </a:rPr>
                        <a:t>model error — sector regulation is negative for a fee-taker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A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F5247"/>
                          </a:solidFill>
                          <a:latin typeface="Nunito"/>
                        </a:rPr>
                        <a:t>Harborview Partners With Major Airline on Reciprocal Loyalty Benefits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28593E"/>
                          </a:solidFill>
                          <a:latin typeface="Fira Code"/>
                        </a:rPr>
                        <a:t>positive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Fira Code"/>
                        </a:rPr>
                        <a:t>neutral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ambiguous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F5247"/>
                          </a:solidFill>
                          <a:latin typeface="Nunito"/>
                        </a:rPr>
                        <a:t>Harborview Named Official Hotel Partner for International Sporting Event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28593E"/>
                          </a:solidFill>
                          <a:latin typeface="Fira Code"/>
                        </a:rPr>
                        <a:t>positive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Fira Code"/>
                        </a:rPr>
                        <a:t>neutral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label error — routine marketing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EVALUATING AI OUTPUTS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Read the disagreement list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39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475" y="4631977"/>
            <a:ext cx="1078230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1D2D24"/>
                </a:solidFill>
                <a:latin typeface="Nunito"/>
              </a:rPr>
              <a:t>Five disagreements out of 45.</a:t>
            </a:r>
            <a:r>
              <a:rPr sz="1125" b="0" i="0" u="none">
                <a:solidFill>
                  <a:srgbClr val="1D2D24"/>
                </a:solidFill>
                <a:latin typeface="Nunito"/>
              </a:rPr>
              <a:t> Two look like label errors (fix the gold set and the labelling guide), one a model error (add a rule or an example to the prompt — then re-measure), two genuinely ambiguous (exclude, report the count). This 15 minutes improves the data, the prompt, and your understanding of the task at once.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1693515"/>
            <a:ext cx="5467350" cy="1897856"/>
          </a:xfrm>
          <a:prstGeom prst="roundRect">
            <a:avLst>
              <a:gd name="adj" fmla="val 1204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693515"/>
            <a:ext cx="5467350" cy="1897856"/>
          </a:xfrm>
          <a:prstGeom prst="roundRect">
            <a:avLst>
              <a:gd name="adj" fmla="val 1204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3762821"/>
            <a:ext cx="5467350" cy="1878806"/>
          </a:xfrm>
          <a:prstGeom prst="roundRect">
            <a:avLst>
              <a:gd name="adj" fmla="val 12167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3762821"/>
            <a:ext cx="5467350" cy="1878806"/>
          </a:xfrm>
          <a:prstGeom prst="roundRect">
            <a:avLst>
              <a:gd name="adj" fmla="val 12167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22115"/>
            <a:ext cx="400050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50" y="1922115"/>
            <a:ext cx="400050" cy="400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3981896"/>
            <a:ext cx="400050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3981896"/>
            <a:ext cx="400050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2036415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036415"/>
            <a:ext cx="17145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4096196"/>
            <a:ext cx="17145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4096196"/>
            <a:ext cx="171450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EVALUATING AI OUTPUTS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Consistency, drift, and evaluation as a living asset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98460" y="6424612"/>
            <a:ext cx="44588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2417415"/>
            <a:ext cx="657582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Run it twice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2741265"/>
            <a:ext cx="510540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Same prompt, same input — how often does the label change? Above a few percent, your accuracy number has error bars wider than your prompt improvements.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850" y="2417415"/>
            <a:ext cx="57721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Models change under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850" y="2741265"/>
            <a:ext cx="510540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A provider updates the model; your 0.87 becomes 0.81 on a Tuesday. The gold set is how you notice. Re-run it on every model change — and on a schedule.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475" y="4477196"/>
            <a:ext cx="66008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28593E"/>
                </a:solidFill>
                <a:latin typeface="Quicksand"/>
              </a:rPr>
              <a:t>Every failure becomes a test 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475" y="4801046"/>
            <a:ext cx="51244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28593E"/>
                </a:solidFill>
                <a:latin typeface="Nunito"/>
              </a:rPr>
              <a:t>A partner spots a mislabelled headline in production → it goes into the gold set with the right label. The set grows; the prompt is re-scored against it. This is the asset.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0325" y="4477196"/>
            <a:ext cx="5781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92400E"/>
                </a:solidFill>
                <a:latin typeface="Quicksand"/>
              </a:rPr>
              <a:t>LLM-as-judge, carefully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0325" y="4801046"/>
            <a:ext cx="51244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A second model can grade the first at scale — useful for summaries where there is no single right answer. Calibrate the judge against humans first, or you have two opinions and no ground truth.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3672333"/>
            <a:ext cx="11125200" cy="876300"/>
          </a:xfrm>
          <a:prstGeom prst="roundRect">
            <a:avLst>
              <a:gd name="adj" fmla="val 26086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4662933"/>
            <a:ext cx="11125200" cy="381000"/>
          </a:xfrm>
          <a:prstGeom prst="roundRect">
            <a:avLst>
              <a:gd name="adj" fmla="val 50000"/>
            </a:avLst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2329308"/>
            <a:ext cx="2550467" cy="1133475"/>
          </a:xfrm>
          <a:prstGeom prst="roundRect">
            <a:avLst>
              <a:gd name="adj" fmla="val 2016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17217" y="2234058"/>
            <a:ext cx="2875805" cy="1323975"/>
          </a:xfrm>
          <a:prstGeom prst="roundRect">
            <a:avLst>
              <a:gd name="adj" fmla="val 17266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26373" y="2234058"/>
            <a:ext cx="2550467" cy="1323975"/>
          </a:xfrm>
          <a:prstGeom prst="roundRect">
            <a:avLst>
              <a:gd name="adj" fmla="val 17266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10191" y="2243583"/>
            <a:ext cx="2748408" cy="1304925"/>
          </a:xfrm>
          <a:prstGeom prst="roundRect">
            <a:avLst>
              <a:gd name="adj" fmla="val 17518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EVALUATING AI 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What to report to a 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425" y="3796158"/>
            <a:ext cx="108204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F5247"/>
                </a:solidFill>
                <a:latin typeface="Nunito"/>
              </a:rPr>
              <a:t>Four sentences.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 Anyone can verify each one from the notebook. Contrast with the alternative — 'we used AI to screen the news' — which is not a finding, it is a disclosure.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425" y="4234308"/>
            <a:ext cx="114585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8593E"/>
                </a:solidFill>
                <a:latin typeface="Nunito"/>
              </a:rPr>
              <a:t>Part B resumes now — finish Steps 6–7: measure, read every disagreement, ship PROMPT_V3 with both scores logged.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4758183"/>
            <a:ext cx="21431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Fira Code"/>
              </a:rPr>
              <a:t>CASE · NOTEBOOK 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7175" y="4758183"/>
            <a:ext cx="5810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Nunito"/>
              </a:rPr>
              <a:t>reopen 03_news_dashboard_STARTER.ipynb · Steps 6–7 · done by 1:40</a:t>
            </a:r>
          </a:p>
        </p:txBody>
      </p:sp>
      <p:sp>
        <p:nvSpPr>
          <p:cNvPr id="18" name="TextBox 17">
            <a:hlinkClick r:id="rId2"/>
          </p:cNvPr>
          <p:cNvSpPr txBox="1"/>
          <p:nvPr/>
        </p:nvSpPr>
        <p:spPr>
          <a:xfrm>
            <a:off x="10222992" y="4718303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>
            <a:noFill/>
          </a:ln>
          <a:effectLst>
            <a:outerShdw blurRad="50800" dist="25400" dir="5400000" rotWithShape="0">
              <a:srgbClr val="1A3A2A">
                <a:alpha val="40000"/>
              </a:srgbClr>
            </a:outerShdw>
          </a:effectLst>
        </p:spPr>
        <p:txBody>
          <a:bodyPr wrap="none" lIns="36576" tIns="0" rIns="36576" bIns="0" anchor="ctr" anchorCtr="0">
            <a:spAutoFit/>
          </a:bodyPr>
          <a:lstStyle/>
          <a:p>
            <a:pPr algn="ctr"/>
            <a:r>
              <a:rPr sz="1000" b="1" i="0" u="none">
                <a:solidFill>
                  <a:srgbClr val="3B7A57"/>
                </a:solidFill>
                <a:latin typeface="Nunito"/>
              </a:rPr>
              <a:t>Open in Colab 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2500758"/>
            <a:ext cx="271183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B7A57"/>
                </a:solidFill>
                <a:latin typeface="Fira Code"/>
              </a:rPr>
              <a:t>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2719833"/>
            <a:ext cx="226471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1" u="none">
                <a:solidFill>
                  <a:srgbClr val="1D2D24"/>
                </a:solidFill>
                <a:latin typeface="Nunito"/>
              </a:rPr>
              <a:t>"On 45 relevant headlines labelled by two analysts (agreement 80%)…"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7717" y="2405508"/>
            <a:ext cx="311850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B7A57"/>
                </a:solidFill>
                <a:latin typeface="Fira Code"/>
              </a:rPr>
              <a:t>metric +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7717" y="2624583"/>
            <a:ext cx="259005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1" u="none">
                <a:solidFill>
                  <a:srgbClr val="1D2D24"/>
                </a:solidFill>
                <a:latin typeface="Nunito"/>
              </a:rPr>
              <a:t>"…the classifier agrees with the consensus label 89% of the time, vs 44% for a keyword approach and 31% for always-neutral."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6873" y="2405508"/>
            <a:ext cx="271183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95D39"/>
                </a:solidFill>
                <a:latin typeface="Fira Code"/>
              </a:rPr>
              <a:t>the failures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6873" y="2624583"/>
            <a:ext cx="2264717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1" u="none">
                <a:solidFill>
                  <a:srgbClr val="1D2D24"/>
                </a:solidFill>
                <a:latin typeface="Nunito"/>
              </a:rPr>
              <a:t>"It missed no negative stories. Its errors were routine-positive items it called neutral; three examples attached."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1166" y="2405508"/>
            <a:ext cx="298307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8593E"/>
                </a:solidFill>
                <a:latin typeface="Fira Code"/>
              </a:rPr>
              <a:t>the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1166" y="2624583"/>
            <a:ext cx="2481708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1" u="none">
                <a:solidFill>
                  <a:srgbClr val="1D2D24"/>
                </a:solidFill>
                <a:latin typeface="Nunito"/>
              </a:rPr>
              <a:t>"Good enough to order the reading list; not good enough to skip reading. We will re-score it on every model change."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019550"/>
            <a:ext cx="9144000" cy="1266825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71625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1752600"/>
            <a:ext cx="24765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409825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2400E"/>
                </a:solidFill>
                <a:latin typeface="Fira Code"/>
              </a:rPr>
              <a:t>SECTION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67000"/>
            <a:ext cx="11582400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050" b="1" i="0" u="none">
                <a:solidFill>
                  <a:srgbClr val="1D2D24"/>
                </a:solidFill>
                <a:latin typeface="Quicksand"/>
              </a:rPr>
              <a:t>Extension sprint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67100"/>
            <a:ext cx="11430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2400E"/>
                </a:solidFill>
                <a:latin typeface="Fira Code"/>
              </a:rPr>
              <a:t>Brief 1:40 · build 1:50–2:35 · demos 2:35–2:55 · awards 3:00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4267200"/>
            <a:ext cx="10715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BY THE END OF THIS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4524375"/>
            <a:ext cx="8667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Nunito"/>
              </a:rPr>
              <a:t>Extend your Case 2 pipeline in one direction · Build the smallest thing that works, as a team of five · Measure it honestly · Demo it in two minutes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1585763"/>
            <a:ext cx="5467350" cy="1996082"/>
          </a:xfrm>
          <a:prstGeom prst="roundRect">
            <a:avLst>
              <a:gd name="adj" fmla="val 11452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585763"/>
            <a:ext cx="5467350" cy="1996082"/>
          </a:xfrm>
          <a:prstGeom prst="roundRect">
            <a:avLst>
              <a:gd name="adj" fmla="val 11452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3762821"/>
            <a:ext cx="5467350" cy="1977032"/>
          </a:xfrm>
          <a:prstGeom prst="roundRect">
            <a:avLst>
              <a:gd name="adj" fmla="val 11562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3753296"/>
            <a:ext cx="5467350" cy="1996082"/>
          </a:xfrm>
          <a:prstGeom prst="roundRect">
            <a:avLst>
              <a:gd name="adj" fmla="val 11452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1833413"/>
            <a:ext cx="400050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0" y="1833413"/>
            <a:ext cx="400050" cy="400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4000946"/>
            <a:ext cx="400050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3991421"/>
            <a:ext cx="400050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1947713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1947713"/>
            <a:ext cx="17145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4105721"/>
            <a:ext cx="19050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EXTENSION SPRINT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Four directions — lock in your team's pick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50" y="2328713"/>
            <a:ext cx="652581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B7A57"/>
                </a:solidFill>
                <a:latin typeface="Quicksand"/>
              </a:rPr>
              <a:t>1 · Watchlist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2671613"/>
            <a:ext cx="506730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F5247"/>
                </a:solidFill>
                <a:latin typeface="Nunito"/>
              </a:rPr>
              <a:t>One company becomes three. A rollup digest ranked by materiality to an investor, a what-moved-today view — and the name-collision problem, now ×3.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900" y="2328713"/>
            <a:ext cx="57531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D95D39"/>
                </a:solidFill>
                <a:latin typeface="Quicksand"/>
              </a:rPr>
              <a:t>2 · Cost-aware classifier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8900" y="2671613"/>
            <a:ext cx="506730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F5247"/>
                </a:solidFill>
                <a:latin typeface="Nunito"/>
              </a:rPr>
              <a:t>Batch the API calls, add a cost-per-headline tracker, swap in a cheaper model and compare. The deliverable is accuracy-per-dollar, not just accuracy.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4496246"/>
            <a:ext cx="655081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8593E"/>
                </a:solidFill>
                <a:latin typeface="Quicksand"/>
              </a:rPr>
              <a:t>3 · Analyst digest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525" y="4839146"/>
            <a:ext cx="508635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28593E"/>
                </a:solidFill>
                <a:latin typeface="Nunito"/>
              </a:rPr>
              <a:t>Headlines → an analyst-ready digest: extraction (checkable against the source) kept separate from interpretation (labelled as such) — plus three questions for management.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9375" y="4486721"/>
            <a:ext cx="57626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2400E"/>
                </a:solidFill>
                <a:latin typeface="Quicksand"/>
              </a:rPr>
              <a:t>4 ·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9375" y="4829621"/>
            <a:ext cx="5086350" cy="681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F5247"/>
                </a:solidFill>
                <a:latin typeface="Nunito"/>
              </a:rPr>
              <a:t>Deploy the Streamlit dashboard (share.streamlit.io) with your team's PROMPT_V3 and the evaluation table wired in — a URL anyone in the room can open.</a:t>
            </a:r>
          </a:p>
        </p:txBody>
      </p:sp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969F8A86-7C57-524C-E5EF-8F367B7595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4096196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877246"/>
            <a:ext cx="11125200" cy="381000"/>
          </a:xfrm>
          <a:prstGeom prst="roundRect">
            <a:avLst>
              <a:gd name="adj" fmla="val 50000"/>
            </a:avLst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019746"/>
            <a:ext cx="5467350" cy="1533525"/>
          </a:xfrm>
          <a:prstGeom prst="roundRect">
            <a:avLst>
              <a:gd name="adj" fmla="val 14906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72200" y="2153542"/>
            <a:ext cx="5486400" cy="1265783"/>
          </a:xfrm>
          <a:prstGeom prst="roundRect">
            <a:avLst>
              <a:gd name="adj" fmla="val 18059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3702099"/>
            <a:ext cx="5831085" cy="1026318"/>
          </a:xfrm>
          <a:prstGeom prst="roundRect">
            <a:avLst>
              <a:gd name="adj" fmla="val 22273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35935" y="3686621"/>
            <a:ext cx="5122664" cy="1057275"/>
          </a:xfrm>
          <a:prstGeom prst="roundRect">
            <a:avLst>
              <a:gd name="adj" fmla="val 21621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EXTENSION SPRINT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Rules, rubric, and the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4972496"/>
            <a:ext cx="20359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Fira Code"/>
              </a:rPr>
              <a:t>TEAM SPRINT ·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5650" y="4972496"/>
            <a:ext cx="50863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Nunito"/>
              </a:rPr>
              <a:t>your team's Case 2 notebook + anything you need · build starts 1:50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425" y="2200721"/>
            <a:ext cx="665083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28593E"/>
                </a:solidFill>
                <a:latin typeface="Quicksand"/>
              </a:rPr>
              <a:t>Rubric · 100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" y="2505521"/>
            <a:ext cx="6334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D2D24"/>
                </a:solidFill>
                <a:latin typeface="Nunito"/>
              </a:rPr>
              <a:t>30</a:t>
            </a:r>
            <a:r>
              <a:rPr sz="1050" b="0" i="0" u="none">
                <a:solidFill>
                  <a:srgbClr val="1D2D24"/>
                </a:solidFill>
                <a:latin typeface="Nunito"/>
              </a:rPr>
              <a:t> — it runs, live, start to finish.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425" y="2734121"/>
            <a:ext cx="6334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D2D24"/>
                </a:solidFill>
                <a:latin typeface="Nunito"/>
              </a:rPr>
              <a:t>25</a:t>
            </a:r>
            <a:r>
              <a:rPr sz="1050" b="0" i="0" u="none">
                <a:solidFill>
                  <a:srgbClr val="1D2D24"/>
                </a:solidFill>
                <a:latin typeface="Nunito"/>
              </a:rPr>
              <a:t> — honest evaluation: ≥10 items checked against a human answer, failures shown.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425" y="2962721"/>
            <a:ext cx="6334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D2D24"/>
                </a:solidFill>
                <a:latin typeface="Nunito"/>
              </a:rPr>
              <a:t>25</a:t>
            </a:r>
            <a:r>
              <a:rPr sz="1050" b="0" i="0" u="none">
                <a:solidFill>
                  <a:srgbClr val="1D2D24"/>
                </a:solidFill>
                <a:latin typeface="Nunito"/>
              </a:rPr>
              <a:t> — finance insight a partner would recognise.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425" y="3191321"/>
            <a:ext cx="6334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D2D24"/>
                </a:solidFill>
                <a:latin typeface="Nunito"/>
              </a:rPr>
              <a:t>20</a:t>
            </a:r>
            <a:r>
              <a:rPr sz="1050" b="0" i="0" u="none">
                <a:solidFill>
                  <a:srgbClr val="1D2D24"/>
                </a:solidFill>
                <a:latin typeface="Nunito"/>
              </a:rPr>
              <a:t> — teamwork: both cohorts can explain the whole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1750" y="2344042"/>
            <a:ext cx="5810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B7A57"/>
                </a:solidFill>
                <a:latin typeface="Quicksand"/>
              </a:rPr>
              <a:t>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1750" y="2648842"/>
            <a:ext cx="5162550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F5247"/>
                </a:solidFill>
                <a:latin typeface="Nunito"/>
              </a:rPr>
              <a:t>Any tool allowed, AI assistants included. You're on your own API key — batch before you loop, prefer cheaper models to iterate. Synthetic/cached data provided for every challenge; the Wi-Fi is not your dependency.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425" y="3883074"/>
            <a:ext cx="712823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B84322"/>
                </a:solidFill>
                <a:latin typeface="Quicksand"/>
              </a:rPr>
              <a:t>The 2-minute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425" y="4168824"/>
            <a:ext cx="5526285" cy="378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91"/>
              </a:lnSpc>
            </a:pPr>
            <a:r>
              <a:rPr sz="1050" b="0" i="0" u="none">
                <a:solidFill>
                  <a:srgbClr val="3F5247"/>
                </a:solidFill>
                <a:latin typeface="Nunito"/>
              </a:rPr>
              <a:t>What it does (one sentence) · live run · the evaluation table · </a:t>
            </a:r>
            <a:r>
              <a:rPr sz="1050" b="1" i="0" u="none">
                <a:solidFill>
                  <a:srgbClr val="3F5247"/>
                </a:solidFill>
                <a:latin typeface="Nunito"/>
              </a:rPr>
              <a:t>one sentence on what you would NOT trust it for.</a:t>
            </a:r>
            <a:r>
              <a:rPr sz="1050" b="0" i="0" u="none">
                <a:solidFill>
                  <a:srgbClr val="3F5247"/>
                </a:solidFill>
                <a:latin typeface="Nunito"/>
              </a:rPr>
              <a:t> That last sentence is required — it is where most points are won.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5960" y="3867596"/>
            <a:ext cx="545603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92400E"/>
                </a:solidFill>
                <a:latin typeface="Quicksand"/>
              </a:rPr>
              <a:t>Checkpoints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5960" y="4153346"/>
            <a:ext cx="545603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F5247"/>
                </a:solidFill>
                <a:latin typeface="Nunito"/>
              </a:rPr>
              <a:t>2:10</a:t>
            </a:r>
            <a:r>
              <a:rPr sz="1050" b="0" i="0" u="none">
                <a:solidFill>
                  <a:srgbClr val="3F5247"/>
                </a:solidFill>
                <a:latin typeface="Nunito"/>
              </a:rPr>
              <a:t> — scope-cut call: we walk the room and cut each build to what can demo.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5960" y="4381946"/>
            <a:ext cx="545603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F5247"/>
                </a:solidFill>
                <a:latin typeface="Nunito"/>
              </a:rPr>
              <a:t>2:25</a:t>
            </a:r>
            <a:r>
              <a:rPr sz="1050" b="0" i="0" u="none">
                <a:solidFill>
                  <a:srgbClr val="3F5247"/>
                </a:solidFill>
                <a:latin typeface="Nunito"/>
              </a:rPr>
              <a:t> — feature freeze: stop adding, start rehearsing the run.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157662"/>
            <a:ext cx="9144000" cy="1009650"/>
          </a:xfrm>
          <a:prstGeom prst="roundRect">
            <a:avLst>
              <a:gd name="adj" fmla="val 22641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90687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1871662"/>
            <a:ext cx="24765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528887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7A57"/>
                </a:solidFill>
                <a:latin typeface="Fira Code"/>
              </a:rPr>
              <a:t>SECTION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786062"/>
            <a:ext cx="11582400" cy="66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 i="0" u="none">
                <a:solidFill>
                  <a:srgbClr val="1D2D24"/>
                </a:solidFill>
                <a:latin typeface="Quicksand"/>
              </a:rPr>
              <a:t>Wrap-up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605212"/>
            <a:ext cx="11430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B7A57"/>
                </a:solidFill>
                <a:latin typeface="Fira Code"/>
              </a:rPr>
              <a:t>Awards &amp; wrap (2:55–3:00)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4405312"/>
            <a:ext cx="10715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5D39"/>
                </a:solidFill>
                <a:latin typeface="Fira Code"/>
              </a:rPr>
              <a:t>BY THE END OF THIS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4662487"/>
            <a:ext cx="1071562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Nunito"/>
              </a:rPr>
              <a:t>Know what to do on Monday morning · Know where to go next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1686371"/>
            <a:ext cx="5476875" cy="190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81725" y="1791146"/>
            <a:ext cx="5476875" cy="1695450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3762821"/>
            <a:ext cx="5476875" cy="1885950"/>
          </a:xfrm>
          <a:prstGeom prst="roundRect">
            <a:avLst>
              <a:gd name="adj" fmla="val 12121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81725" y="3762821"/>
            <a:ext cx="5476875" cy="1885950"/>
          </a:xfrm>
          <a:prstGeom prst="roundRect">
            <a:avLst>
              <a:gd name="adj" fmla="val 12121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14971"/>
            <a:ext cx="400050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2019746"/>
            <a:ext cx="400050" cy="400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3981896"/>
            <a:ext cx="400050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981896"/>
            <a:ext cx="400050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019746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2124521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437" y="4086671"/>
            <a:ext cx="23812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575" y="4086671"/>
            <a:ext cx="19050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WRAP-UP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Takeaways — put them to work Monday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46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2410271"/>
            <a:ext cx="658832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Rebuild your last Excel analysis in a notebook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2734121"/>
            <a:ext cx="51149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Not a new one — the last one. Load, clean, aggregate, export. Keep the Excel→pandas table open. Budget two hours; expect four; the second one takes 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0325" y="2515046"/>
            <a:ext cx="5781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Put every assumption at the 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0325" y="2838896"/>
            <a:ext cx="51149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In capitals, with a comment. When someone asks 'what if', change one line and re-run. Show them the assumptions sheet in the export.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475" y="4477196"/>
            <a:ext cx="661332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Let an LLM draft the code — then read every 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475" y="4801046"/>
            <a:ext cx="51339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28593E"/>
                </a:solidFill>
                <a:latin typeface="Nunito"/>
              </a:rPr>
              <a:t>'Write pandas to group this by county and sum units' is a good prompt. Paste the error back when it fails. You are the reviewer; it is the associate.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77196"/>
            <a:ext cx="57912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Start an instruction 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801046"/>
            <a:ext cx="51339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In your first repo, write a CLAUDE.md / AGENTS.md: what the project is, how to run it, what not to touch. Edit it whenever the agent annoys you — that habit compounds.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436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32464" y="2424558"/>
            <a:ext cx="4326135" cy="2447925"/>
          </a:xfrm>
          <a:prstGeom prst="roundRect">
            <a:avLst>
              <a:gd name="adj" fmla="val 10894"/>
            </a:avLst>
          </a:prstGeom>
          <a:solidFill>
            <a:srgbClr val="263B2F"/>
          </a:solidFill>
          <a:ln w="19050">
            <a:solidFill>
              <a:srgbClr val="3B5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43650"/>
            <a:ext cx="11125200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1991171"/>
            <a:ext cx="1228129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61529" y="1991171"/>
            <a:ext cx="5342334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2457896"/>
            <a:ext cx="1228129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761529" y="2457896"/>
            <a:ext cx="5342334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924621"/>
            <a:ext cx="1228129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761529" y="2924621"/>
            <a:ext cx="5342334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3391346"/>
            <a:ext cx="1228129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761529" y="3391346"/>
            <a:ext cx="5342334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3400" y="3858071"/>
            <a:ext cx="1228129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761529" y="3858071"/>
            <a:ext cx="5342334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4324796"/>
            <a:ext cx="1228129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61529" y="4324796"/>
            <a:ext cx="5342334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4791521"/>
            <a:ext cx="1228129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761529" y="4791521"/>
            <a:ext cx="5342334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3400" y="5086796"/>
            <a:ext cx="1228129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761529" y="5086796"/>
            <a:ext cx="5342334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3400" y="5553521"/>
            <a:ext cx="1228129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761529" y="5553521"/>
            <a:ext cx="5342334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214" y="2710308"/>
            <a:ext cx="419100" cy="4191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514" y="2824608"/>
            <a:ext cx="190500" cy="1905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33400" y="1729233"/>
            <a:ext cx="6570464" cy="3838575"/>
          </a:xfrm>
          <a:prstGeom prst="roundRect">
            <a:avLst>
              <a:gd name="adj" fmla="val 0"/>
            </a:avLst>
          </a:prstGeom>
          <a:solidFill>
            <a:srgbClr val="263B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33400" y="1729233"/>
          <a:ext cx="6570463" cy="3838575"/>
        </p:xfrm>
        <a:graphic>
          <a:graphicData uri="http://schemas.openxmlformats.org/drawingml/2006/table">
            <a:tbl>
              <a:tblPr/>
              <a:tblGrid>
                <a:gridCol w="1228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2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508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DE68A"/>
                          </a:solidFill>
                          <a:latin typeface="Quicksand"/>
                        </a:rPr>
                        <a:t>Topic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49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DE68A"/>
                          </a:solidFill>
                          <a:latin typeface="Quicksand"/>
                        </a:rPr>
                        <a:t>Resource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49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508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80ED99"/>
                          </a:solidFill>
                          <a:latin typeface="Nunito"/>
                        </a:rPr>
                        <a:t>Python &amp; pandas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AF7F0"/>
                          </a:solidFill>
                          <a:latin typeface="Nunito"/>
                        </a:rPr>
                        <a:t>Python for Data Analysis, 3rd ed. (free online) — wesmckinney.com/book · Kaggle Learn: Python, Pandas (free, short)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508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80ED99"/>
                          </a:solidFill>
                          <a:latin typeface="Nunito"/>
                        </a:rPr>
                        <a:t>The 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AF7F0"/>
                          </a:solidFill>
                          <a:latin typeface="Nunito"/>
                        </a:rPr>
                        <a:t>FCC National Broadband Map &amp; downloads — broadbandmap.fcc.gov · Census data via data.census.gov · FRED — fred.stlouisfed.org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508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80ED99"/>
                          </a:solidFill>
                          <a:latin typeface="Nunito"/>
                        </a:rPr>
                        <a:t>How LLMs 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AF7F0"/>
                          </a:solidFill>
                          <a:latin typeface="Nunito"/>
                        </a:rPr>
                        <a:t>3Blue1Brown, 'But what is a GPT?' — 3blue1brown.com/lessons/gpt · Karpathy, 'Intro to Large Language Models' (YouTube)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508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80ED99"/>
                          </a:solidFill>
                          <a:latin typeface="Nunito"/>
                        </a:rPr>
                        <a:t>Prompting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AF7F0"/>
                          </a:solidFill>
                          <a:latin typeface="Nunito"/>
                        </a:rPr>
                        <a:t>Anthropic prompt engineering docs — docs.claude.com · the PROMPT_V2 in today's newslib.py, read again in a week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508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80ED99"/>
                          </a:solidFill>
                          <a:latin typeface="Nunito"/>
                        </a:rPr>
                        <a:t>Evaluation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AF7F0"/>
                          </a:solidFill>
                          <a:latin typeface="Nunito"/>
                        </a:rPr>
                        <a:t>Today's notebook, Steps 4–6: gold set → confusion matrix → disagreement list. Repeat it on your own task.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508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80ED99"/>
                          </a:solidFill>
                          <a:latin typeface="Nunito"/>
                        </a:rPr>
                        <a:t>Git &amp; CI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AF7F0"/>
                          </a:solidFill>
                          <a:latin typeface="Nunito"/>
                        </a:rPr>
                        <a:t>GitHub Skills (skills.github.com) · GitHub Actions quickstart — docs.github.com/actions · today's ci.yml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508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80ED99"/>
                          </a:solidFill>
                          <a:latin typeface="Nunito"/>
                        </a:rPr>
                        <a:t>Dashboards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AF7F0"/>
                          </a:solidFill>
                          <a:latin typeface="Nunito"/>
                        </a:rPr>
                        <a:t>Streamlit docs — docs.streamlit.io · Community Cloud (free hosting from a GitHub repo)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511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80ED99"/>
                          </a:solidFill>
                          <a:latin typeface="Nunito"/>
                        </a:rPr>
                        <a:t>Finance text analysis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AF7F0"/>
                          </a:solidFill>
                          <a:latin typeface="Nunito"/>
                        </a:rPr>
                        <a:t>Loughran–McDonald sentiment word lists — sraf.nd.edu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33400" y="3429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0ED99"/>
                </a:solidFill>
                <a:latin typeface="Fira Code"/>
              </a:rPr>
              <a:t>WRAP-UP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5810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FAF7F0"/>
                </a:solidFill>
                <a:latin typeface="Quicksand"/>
              </a:rPr>
              <a:t>Resources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64484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8DFD0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6200" y="64484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8DFD0"/>
                </a:solidFill>
                <a:latin typeface="Fira Code"/>
              </a:rPr>
              <a:t>47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8214" y="3262758"/>
            <a:ext cx="457378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DE68A"/>
                </a:solidFill>
                <a:latin typeface="Quicksand"/>
              </a:rPr>
              <a:t>Thank you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8214" y="3777108"/>
            <a:ext cx="384988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AF7F0"/>
                </a:solidFill>
                <a:latin typeface="Nunito"/>
              </a:rPr>
              <a:t>Everything from both days lives in the repository: notebooks, data, the app, both decks, and the syllabus.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8214" y="4405758"/>
            <a:ext cx="457378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8DFD0"/>
                </a:solidFill>
                <a:latin typeface="Fira Code"/>
              </a:rPr>
              <a:t>Limor Gultchin · limor.Gultchin@gmail.com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7556</Words>
  <Application>Microsoft Macintosh PowerPoint</Application>
  <PresentationFormat>Widescreen</PresentationFormat>
  <Paragraphs>663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Fira Code</vt:lpstr>
      <vt:lpstr>Arial</vt:lpstr>
      <vt:lpstr>Quicksand</vt:lpstr>
      <vt:lpstr>Nunito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Limor Gultchin</cp:lastModifiedBy>
  <cp:revision>6</cp:revision>
  <dcterms:created xsi:type="dcterms:W3CDTF">2013-01-27T09:14:16Z</dcterms:created>
  <dcterms:modified xsi:type="dcterms:W3CDTF">2026-10-15T20:11:40Z</dcterms:modified>
  <cp:category/>
</cp:coreProperties>
</file>