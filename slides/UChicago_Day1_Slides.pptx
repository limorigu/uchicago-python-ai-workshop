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embeddedFontLst>
    <p:embeddedFont>
      <p:font typeface="Fira Code" panose="020B0809050000020004" pitchFamily="49" charset="0"/>
      <p:regular r:id="rId55"/>
      <p:bold r:id="rId56"/>
    </p:embeddedFont>
    <p:embeddedFont>
      <p:font typeface="Nunito" pitchFamily="2" charset="77"/>
      <p:regular r:id="rId57"/>
      <p:bold r:id="rId58"/>
      <p:italic r:id="rId59"/>
      <p:boldItalic r:id="rId60"/>
    </p:embeddedFont>
    <p:embeddedFont>
      <p:font typeface="Quicksand"/>
      <p:bold r:id="rId6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82"/>
  </p:normalViewPr>
  <p:slideViewPr>
    <p:cSldViewPr snapToGrid="0" snapToObjects="1">
      <p:cViewPr varScale="1">
        <p:scale>
          <a:sx n="119" d="100"/>
          <a:sy n="119" d="100"/>
        </p:scale>
        <p:origin x="44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1.fntdata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4.fntdata"/><Relationship Id="rId5" Type="http://schemas.openxmlformats.org/officeDocument/2006/relationships/slide" Target="slides/slide4.xml"/><Relationship Id="rId61" Type="http://schemas.openxmlformats.org/officeDocument/2006/relationships/font" Target="fonts/font7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2.fntdata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3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6.fntdata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imorigu/uchicago-python-ai-workshop/blob/main/notebooks/00_setup_check.ipynb" TargetMode="Externa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colab.research.google.com/github/limorigu/uchicago-python-ai-workshop/blob/main/notebooks/01_python_bootcamp.ipynb" TargetMode="External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limorigu/uchicago-python-ai-workshop/blob/main/notebooks/01_python_bootcamp.ipynb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limorigu/uchicago-python-ai-workshop/blob/main/notebooks/01b_excel_to_pandas_demo.ipynb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github/limorigu/uchicago-python-ai-workshop/blob/main/notebooks/01_python_bootcamp.ipynb" TargetMode="Externa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olab.research.google.com/github/limorigu/uchicago-python-ai-workshop/blob/main/notebooks/02_fcc_whitespace_STARTER.ipynb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ew" TargetMode="Externa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50.png"/><Relationship Id="rId7" Type="http://schemas.openxmlformats.org/officeDocument/2006/relationships/image" Target="../media/image72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5962650"/>
            <a:ext cx="10972800" cy="438150"/>
          </a:xfrm>
          <a:prstGeom prst="roundRect">
            <a:avLst>
              <a:gd name="adj" fmla="val 50000"/>
            </a:avLst>
          </a:prstGeom>
          <a:solidFill>
            <a:srgbClr val="263B2F"/>
          </a:solidFill>
          <a:ln w="9525">
            <a:solidFill>
              <a:srgbClr val="3B5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955035" y="2173634"/>
            <a:ext cx="4627364" cy="2367855"/>
          </a:xfrm>
          <a:prstGeom prst="roundRect">
            <a:avLst>
              <a:gd name="adj" fmla="val 11263"/>
            </a:avLst>
          </a:prstGeom>
          <a:solidFill>
            <a:srgbClr val="263B2F"/>
          </a:solidFill>
          <a:ln w="19050">
            <a:solidFill>
              <a:srgbClr val="3B5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457200"/>
            <a:ext cx="1924050" cy="295275"/>
          </a:xfrm>
          <a:prstGeom prst="roundRect">
            <a:avLst>
              <a:gd name="adj" fmla="val 50000"/>
            </a:avLst>
          </a:prstGeom>
          <a:solidFill>
            <a:srgbClr val="283E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3775" y="6096000"/>
            <a:ext cx="171450" cy="1714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33400"/>
            <a:ext cx="133350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0785" y="2459384"/>
            <a:ext cx="342900" cy="3429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6035" y="2554634"/>
            <a:ext cx="152400" cy="152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6775" y="6086475"/>
            <a:ext cx="67508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DCE5DF"/>
                </a:solidFill>
                <a:latin typeface="Fira Code"/>
              </a:rPr>
              <a:t>9:00 – 5:00 · laptops required · everything runs in the 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7750" y="523331"/>
            <a:ext cx="14859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80ED99"/>
                </a:solidFill>
                <a:latin typeface="Fira Code"/>
              </a:rPr>
              <a:t>FROM EXCEL TO</a:t>
            </a:r>
            <a:r>
              <a:rPr lang="en-US" sz="1050" b="1" i="0" u="none" dirty="0">
                <a:solidFill>
                  <a:srgbClr val="80ED99"/>
                </a:solidFill>
                <a:latin typeface="Fira Code"/>
              </a:rPr>
              <a:t> AI</a:t>
            </a:r>
            <a:endParaRPr sz="1050" b="1" i="0" u="none" dirty="0">
              <a:solidFill>
                <a:srgbClr val="80ED99"/>
              </a:solidFill>
              <a:latin typeface="Fira Code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9600" y="2387947"/>
            <a:ext cx="7828322" cy="7771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6120"/>
              </a:lnSpc>
            </a:pPr>
            <a:r>
              <a:rPr sz="6000" b="1" i="0" u="none">
                <a:solidFill>
                  <a:srgbClr val="FAF7F0"/>
                </a:solidFill>
                <a:latin typeface="Quicksand"/>
              </a:rPr>
              <a:t>Python </a:t>
            </a:r>
            <a:r>
              <a:rPr sz="6000" b="1" i="0" u="none">
                <a:solidFill>
                  <a:srgbClr val="80ED99"/>
                </a:solidFill>
                <a:latin typeface="Quicksand"/>
              </a:rPr>
              <a:t>and</a:t>
            </a:r>
            <a:r>
              <a:rPr sz="6000" b="1" i="0" u="none">
                <a:solidFill>
                  <a:srgbClr val="FAF7F0"/>
                </a:solidFill>
                <a:latin typeface="Quicksand"/>
              </a:rPr>
              <a:t>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3374677"/>
            <a:ext cx="6059685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C8DFD0"/>
                </a:solidFill>
                <a:latin typeface="Nunito"/>
              </a:rPr>
              <a:t>Day 1 of 2 · Python bootcamp for finance students · University of Chicago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4079527"/>
            <a:ext cx="5342809" cy="21929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425" b="1" i="0" u="none" dirty="0">
                <a:solidFill>
                  <a:srgbClr val="F4845F"/>
                </a:solidFill>
                <a:latin typeface="Nunito"/>
              </a:rPr>
              <a:t>Limor Gultchin · </a:t>
            </a:r>
            <a:r>
              <a:rPr lang="en-US" sz="1425" b="1" dirty="0">
                <a:solidFill>
                  <a:srgbClr val="F4845F"/>
                </a:solidFill>
                <a:latin typeface="Nunito"/>
              </a:rPr>
              <a:t>Director AI &amp; Data Science, Berkshire Partners</a:t>
            </a:r>
            <a:endParaRPr sz="1425" b="1" i="0" u="none" dirty="0">
              <a:solidFill>
                <a:srgbClr val="F4845F"/>
              </a:solidFill>
              <a:latin typeface="Nunit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40785" y="3078509"/>
            <a:ext cx="4951214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A3BFA8"/>
                </a:solidFill>
                <a:latin typeface="Fira Code"/>
              </a:rPr>
              <a:t># Named cells that never get lost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0785" y="3304430"/>
            <a:ext cx="4951214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FDE68A"/>
                </a:solidFill>
                <a:latin typeface="Fira Code"/>
              </a:rPr>
              <a:t>arpu_monthly</a:t>
            </a:r>
            <a:r>
              <a:rPr sz="1050" b="0" i="0" u="none">
                <a:solidFill>
                  <a:srgbClr val="FAF7F0"/>
                </a:solidFill>
                <a:latin typeface="Fira Code"/>
              </a:rPr>
              <a:t> = </a:t>
            </a:r>
            <a:r>
              <a:rPr sz="1050" b="0" i="0" u="none">
                <a:solidFill>
                  <a:srgbClr val="F4845F"/>
                </a:solidFill>
                <a:latin typeface="Fira Code"/>
              </a:rPr>
              <a:t>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0785" y="3530351"/>
            <a:ext cx="4951214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FDE68A"/>
                </a:solidFill>
                <a:latin typeface="Fira Code"/>
              </a:rPr>
              <a:t>penetration</a:t>
            </a:r>
            <a:r>
              <a:rPr sz="1050" b="0" i="0" u="none">
                <a:solidFill>
                  <a:srgbClr val="FAF7F0"/>
                </a:solidFill>
                <a:latin typeface="Fira Code"/>
              </a:rPr>
              <a:t>  = </a:t>
            </a:r>
            <a:r>
              <a:rPr sz="1050" b="0" i="0" u="none">
                <a:solidFill>
                  <a:srgbClr val="F4845F"/>
                </a:solidFill>
                <a:latin typeface="Fira Code"/>
              </a:rPr>
              <a:t>0.30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0785" y="3756273"/>
            <a:ext cx="4951214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FDE68A"/>
                </a:solidFill>
                <a:latin typeface="Fira Code"/>
              </a:rPr>
              <a:t>rev_per_home</a:t>
            </a:r>
            <a:r>
              <a:rPr sz="1050" b="0" i="0" u="none">
                <a:solidFill>
                  <a:srgbClr val="FAF7F0"/>
                </a:solidFill>
                <a:latin typeface="Fira Code"/>
              </a:rPr>
              <a:t> = arpu_monthly * </a:t>
            </a:r>
            <a:r>
              <a:rPr sz="1050" b="0" i="0" u="none">
                <a:solidFill>
                  <a:srgbClr val="F4845F"/>
                </a:solidFill>
                <a:latin typeface="Fira Code"/>
              </a:rPr>
              <a:t>12</a:t>
            </a:r>
            <a:r>
              <a:rPr sz="1050" b="0" i="0" u="none">
                <a:solidFill>
                  <a:srgbClr val="FAF7F0"/>
                </a:solidFill>
                <a:latin typeface="Fira Code"/>
              </a:rPr>
              <a:t> * penetration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0785" y="4029819"/>
            <a:ext cx="4951214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80ED99"/>
                </a:solidFill>
                <a:latin typeface="Fira Code"/>
              </a:rPr>
              <a:t>→ 270.0  # exports to .xlsx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83614" y="2549872"/>
            <a:ext cx="998785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80ED99"/>
                </a:solidFill>
                <a:latin typeface="Fira Code"/>
              </a:rPr>
              <a:t>● Ready 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8935" y="2530822"/>
            <a:ext cx="28217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AF7F0"/>
                </a:solidFill>
                <a:latin typeface="Quicksand"/>
              </a:rPr>
              <a:t>01_python_bootcamp.ipynb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191494"/>
            <a:ext cx="5429250" cy="2952154"/>
          </a:xfrm>
          <a:prstGeom prst="roundRect">
            <a:avLst>
              <a:gd name="adj" fmla="val 7743"/>
            </a:avLst>
          </a:prstGeom>
          <a:solidFill>
            <a:srgbClr val="FFFFFF"/>
          </a:solidFill>
          <a:ln w="19050">
            <a:solidFill>
              <a:srgbClr val="FD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2111424"/>
            <a:ext cx="5429250" cy="3112293"/>
          </a:xfrm>
          <a:prstGeom prst="roundRect">
            <a:avLst>
              <a:gd name="adj" fmla="val 7345"/>
            </a:avLst>
          </a:prstGeom>
          <a:solidFill>
            <a:srgbClr val="FFFFFF"/>
          </a:solidFill>
          <a:ln w="19050">
            <a:solidFill>
              <a:srgbClr val="E6F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19150" y="4438798"/>
            <a:ext cx="4857750" cy="419100"/>
          </a:xfrm>
          <a:prstGeom prst="roundRect">
            <a:avLst>
              <a:gd name="adj" fmla="val 36363"/>
            </a:avLst>
          </a:prstGeom>
          <a:solidFill>
            <a:srgbClr val="FD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515100" y="4137868"/>
            <a:ext cx="4857750" cy="800100"/>
          </a:xfrm>
          <a:prstGeom prst="roundRect">
            <a:avLst>
              <a:gd name="adj" fmla="val 19047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2477244"/>
            <a:ext cx="457200" cy="4572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2397174"/>
            <a:ext cx="457200" cy="4572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025" y="2610594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450" y="2530524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WELCOME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Why bother? Two ways finance analysts get stuck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82400" y="6410325"/>
            <a:ext cx="3619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9150" y="3067794"/>
            <a:ext cx="4953000" cy="6625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The FCC's broadband availability file has hundreds of millions of rows. Excel stops at 1,048,576 — and tells you in a dialog most people have never read.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3844676"/>
            <a:ext cx="49530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Even at 200,000 rows, a COUNTIFS across a lookup table takes minutes and breaks when the partner changes one assumption.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5100" y="2987724"/>
            <a:ext cx="49530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An LLM will summarise 100 headlines about a target in ten seconds. It will sound confident either way.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5100" y="3543746"/>
            <a:ext cx="4953000" cy="4417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Was it right? About which headlines? Compared to what? Most people never ask — they had a demo, not evidence.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09700" y="2562969"/>
            <a:ext cx="4625578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D2D24"/>
                </a:solidFill>
                <a:latin typeface="Quicksand"/>
              </a:rPr>
              <a:t>The data is bigger than the tool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1550" y="4553098"/>
            <a:ext cx="56911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B84322"/>
                </a:solidFill>
                <a:latin typeface="Nunito"/>
              </a:rPr>
              <a:t>You end up analysing a sample of the data and calling it the data.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5650" y="2482899"/>
            <a:ext cx="4463057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1D2D24"/>
                </a:solidFill>
                <a:latin typeface="Quicksand"/>
              </a:rPr>
              <a:t>The AI output can't be checked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0" y="4252168"/>
            <a:ext cx="46482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8593E"/>
                </a:solidFill>
                <a:latin typeface="Nunito"/>
              </a:rPr>
              <a:t>By tomorrow at 3:00 you will have a number, a baseline, and a list of the exact cases where the model was wrong. Today builds the Python footing that makes that measurement possible.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424558"/>
            <a:ext cx="1176039" cy="704850"/>
          </a:xfrm>
          <a:prstGeom prst="roundRect">
            <a:avLst>
              <a:gd name="adj" fmla="val 27027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918989" y="2415033"/>
            <a:ext cx="1195089" cy="723900"/>
          </a:xfrm>
          <a:prstGeom prst="roundRect">
            <a:avLst>
              <a:gd name="adj" fmla="val 2631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23629" y="2415033"/>
            <a:ext cx="1195089" cy="723900"/>
          </a:xfrm>
          <a:prstGeom prst="roundRect">
            <a:avLst>
              <a:gd name="adj" fmla="val 2631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728269" y="2415033"/>
            <a:ext cx="1195089" cy="723900"/>
          </a:xfrm>
          <a:prstGeom prst="roundRect">
            <a:avLst>
              <a:gd name="adj" fmla="val 2631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32909" y="2424558"/>
            <a:ext cx="1176039" cy="704850"/>
          </a:xfrm>
          <a:prstGeom prst="roundRect">
            <a:avLst>
              <a:gd name="adj" fmla="val 27027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518499" y="2424558"/>
            <a:ext cx="1272629" cy="704850"/>
          </a:xfrm>
          <a:prstGeom prst="roundRect">
            <a:avLst>
              <a:gd name="adj" fmla="val 27027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000678" y="2424558"/>
            <a:ext cx="1176039" cy="704850"/>
          </a:xfrm>
          <a:prstGeom prst="roundRect">
            <a:avLst>
              <a:gd name="adj" fmla="val 27027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386268" y="2424558"/>
            <a:ext cx="1272629" cy="704850"/>
          </a:xfrm>
          <a:prstGeom prst="roundRect">
            <a:avLst>
              <a:gd name="adj" fmla="val 27027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3400" y="3405633"/>
            <a:ext cx="3581400" cy="1514475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305300" y="3515171"/>
            <a:ext cx="3581400" cy="129540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077200" y="3405633"/>
            <a:ext cx="3581400" cy="1514475"/>
          </a:xfrm>
          <a:prstGeom prst="roundRect">
            <a:avLst>
              <a:gd name="adj" fmla="val 15094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WELCOME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The arc of the day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82400" y="6410325"/>
            <a:ext cx="3619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5639" y="2648396"/>
            <a:ext cx="3429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0279" y="2648396"/>
            <a:ext cx="3429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94919" y="2648396"/>
            <a:ext cx="3429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99559" y="2648396"/>
            <a:ext cx="3429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5149" y="2648396"/>
            <a:ext cx="3429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7328" y="2648396"/>
            <a:ext cx="3429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52918" y="2648396"/>
            <a:ext cx="342900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300" y="2586483"/>
            <a:ext cx="125223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28593E"/>
                </a:solidFill>
                <a:latin typeface="Nunito"/>
              </a:rPr>
              <a:t>Welcome</a:t>
            </a:r>
            <a:r>
              <a:t>
</a:t>
            </a:r>
            <a:r>
              <a:rPr sz="1125" b="1" i="0" u="none">
                <a:solidFill>
                  <a:srgbClr val="28593E"/>
                </a:solidFill>
                <a:latin typeface="Nunito"/>
              </a:rPr>
              <a:t> &amp; setup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90414" y="2586483"/>
            <a:ext cx="125223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2D24"/>
                </a:solidFill>
                <a:latin typeface="Nunito"/>
              </a:rPr>
              <a:t>Python I</a:t>
            </a:r>
            <a:r>
              <a:t>
</a:t>
            </a:r>
            <a:r>
              <a:rPr sz="1125" b="1" i="0" u="none">
                <a:solidFill>
                  <a:srgbClr val="1D2D24"/>
                </a:solidFill>
                <a:latin typeface="Nunito"/>
              </a:rPr>
              <a:t> + Lab 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5054" y="2586483"/>
            <a:ext cx="125223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2D24"/>
                </a:solidFill>
                <a:latin typeface="Nunito"/>
              </a:rPr>
              <a:t>Python II</a:t>
            </a:r>
            <a:r>
              <a:t>
</a:t>
            </a:r>
            <a:r>
              <a:rPr sz="1125" b="1" i="0" u="none">
                <a:solidFill>
                  <a:srgbClr val="1D2D24"/>
                </a:solidFill>
                <a:latin typeface="Nunito"/>
              </a:rPr>
              <a:t> + Lab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99694" y="2586483"/>
            <a:ext cx="125223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2D24"/>
                </a:solidFill>
                <a:latin typeface="Nunito"/>
              </a:rPr>
              <a:t>Python III</a:t>
            </a:r>
            <a:r>
              <a:t>
</a:t>
            </a:r>
            <a:r>
              <a:rPr sz="1125" b="1" i="0" u="none">
                <a:solidFill>
                  <a:srgbClr val="1D2D24"/>
                </a:solidFill>
                <a:latin typeface="Nunito"/>
              </a:rPr>
              <a:t> + Lab 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94809" y="2586483"/>
            <a:ext cx="125223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92400E"/>
                </a:solidFill>
                <a:latin typeface="Nunito"/>
              </a:rPr>
              <a:t>Data</a:t>
            </a:r>
            <a:r>
              <a:t>
</a:t>
            </a:r>
            <a:r>
              <a:rPr sz="1125" b="1" i="0" u="none">
                <a:solidFill>
                  <a:srgbClr val="92400E"/>
                </a:solidFill>
                <a:latin typeface="Nunito"/>
              </a:rPr>
              <a:t> management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80399" y="2586483"/>
            <a:ext cx="134882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B84322"/>
                </a:solidFill>
                <a:latin typeface="Nunito"/>
              </a:rPr>
              <a:t>Case 1</a:t>
            </a:r>
            <a:r>
              <a:t>
</a:t>
            </a:r>
            <a:r>
              <a:rPr sz="1125" b="1" i="0" u="none">
                <a:solidFill>
                  <a:srgbClr val="B84322"/>
                </a:solidFill>
                <a:latin typeface="Nunito"/>
              </a:rPr>
              <a:t> FCC whitespace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2578" y="2586483"/>
            <a:ext cx="125223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2D24"/>
                </a:solidFill>
                <a:latin typeface="Nunito"/>
              </a:rPr>
              <a:t>Git &amp;</a:t>
            </a:r>
            <a:r>
              <a:t>
</a:t>
            </a:r>
            <a:r>
              <a:rPr sz="1125" b="1" i="0" u="none">
                <a:solidFill>
                  <a:srgbClr val="1D2D24"/>
                </a:solidFill>
                <a:latin typeface="Nunito"/>
              </a:rPr>
              <a:t> CI/CD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48168" y="2586483"/>
            <a:ext cx="134882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28593E"/>
                </a:solidFill>
                <a:latin typeface="Nunito"/>
              </a:rPr>
              <a:t>Wrap &amp; Day 2</a:t>
            </a:r>
            <a:r>
              <a:t>
</a:t>
            </a:r>
            <a:r>
              <a:rPr sz="1125" b="1" i="0" u="none">
                <a:solidFill>
                  <a:srgbClr val="28593E"/>
                </a:solidFill>
                <a:latin typeface="Nunito"/>
              </a:rPr>
              <a:t> preview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050" y="3615183"/>
            <a:ext cx="3181350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3F5247"/>
                </a:solidFill>
                <a:latin typeface="Nunito"/>
              </a:rPr>
              <a:t>Morning:</a:t>
            </a:r>
            <a:r>
              <a:rPr sz="1275" b="0" i="0" u="none">
                <a:solidFill>
                  <a:srgbClr val="3F5247"/>
                </a:solidFill>
                <a:latin typeface="Nunito"/>
              </a:rPr>
              <a:t> three short talks, each followed by its own lab — variables and a VaR calculation, collections and functions on a five-position book, then pandas on 236,549 rows of FCC data.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2950" y="3724721"/>
            <a:ext cx="318135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3F5247"/>
                </a:solidFill>
                <a:latin typeface="Nunito"/>
              </a:rPr>
              <a:t>Afternoon:</a:t>
            </a:r>
            <a:r>
              <a:rPr sz="1275" b="0" i="0" u="none">
                <a:solidFill>
                  <a:srgbClr val="3F5247"/>
                </a:solidFill>
                <a:latin typeface="Nunito"/>
              </a:rPr>
              <a:t> a live Excel→pandas demo, data management, and Case 1 end-to-end — rank whitespace counties and deliver an Excel workbook a partner can open.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4850" y="3615183"/>
            <a:ext cx="3181350" cy="1095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3F5247"/>
                </a:solidFill>
                <a:latin typeface="Nunito"/>
              </a:rPr>
              <a:t>Last hour:</a:t>
            </a:r>
            <a:r>
              <a:rPr sz="1275" b="0" i="0" u="none">
                <a:solidFill>
                  <a:srgbClr val="3F5247"/>
                </a:solidFill>
                <a:latin typeface="Nunito"/>
              </a:rPr>
              <a:t> version control and CI, the habits that make the work shareable. Tomorrow an LLM becomes a measured component in your analysis — today earns that.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1772096"/>
            <a:ext cx="3594050" cy="1819275"/>
          </a:xfrm>
          <a:prstGeom prst="roundRect">
            <a:avLst>
              <a:gd name="adj" fmla="val 1256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98900" y="1772096"/>
            <a:ext cx="3594050" cy="1819275"/>
          </a:xfrm>
          <a:prstGeom prst="roundRect">
            <a:avLst>
              <a:gd name="adj" fmla="val 1256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64400" y="1667321"/>
            <a:ext cx="3594050" cy="2028825"/>
          </a:xfrm>
          <a:prstGeom prst="roundRect">
            <a:avLst>
              <a:gd name="adj" fmla="val 11267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3867596"/>
            <a:ext cx="3594050" cy="1800225"/>
          </a:xfrm>
          <a:prstGeom prst="roundRect">
            <a:avLst>
              <a:gd name="adj" fmla="val 12698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98900" y="3867596"/>
            <a:ext cx="3594050" cy="1800225"/>
          </a:xfrm>
          <a:prstGeom prst="roundRect">
            <a:avLst>
              <a:gd name="adj" fmla="val 12698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64400" y="3867596"/>
            <a:ext cx="3594050" cy="1800225"/>
          </a:xfrm>
          <a:prstGeom prst="roundRect">
            <a:avLst>
              <a:gd name="adj" fmla="val 12698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81646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450" y="1981646"/>
            <a:ext cx="381000" cy="3810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3950" y="1876871"/>
            <a:ext cx="381000" cy="3810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4067621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98925" y="4067621"/>
            <a:ext cx="38100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4425" y="4067621"/>
            <a:ext cx="381000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2086421"/>
            <a:ext cx="1714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2750" y="2086421"/>
            <a:ext cx="15240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4913" y="1981646"/>
            <a:ext cx="219075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8200" y="4172396"/>
            <a:ext cx="171450" cy="1714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03700" y="4172396"/>
            <a:ext cx="171450" cy="1714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9200" y="4172396"/>
            <a:ext cx="171450" cy="1714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WELCOME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How we'll work today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82400" y="6410325"/>
            <a:ext cx="3619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2457896"/>
            <a:ext cx="416712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Quicksand"/>
              </a:rPr>
              <a:t>Ask early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" y="2753171"/>
            <a:ext cx="32702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An error message is the normal state of programming. Raise a hand at the first red text, not the third.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08450" y="2457896"/>
            <a:ext cx="4167122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Quicksand"/>
              </a:rPr>
              <a:t>Fast lanes are optional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8450" y="2753171"/>
            <a:ext cx="32702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Every notebook has ⚡ extras for people who have coded before. Skip them without guilt; do them without waiting.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3950" y="2353121"/>
            <a:ext cx="3918049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Quicksand"/>
              </a:rPr>
              <a:t>Explain, don't 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3950" y="2648396"/>
            <a:ext cx="3270200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When helping a neighbour, hands stay off their keyboard. You sit at assigned tables of 3–4, fixed all day, one experienced coder each — ask your table before you ask me.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3425" y="4543871"/>
            <a:ext cx="41921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Quicksand"/>
              </a:rPr>
              <a:t>Excel stays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425" y="4839146"/>
            <a:ext cx="3289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28593E"/>
                </a:solidFill>
                <a:latin typeface="Nunito"/>
              </a:rPr>
              <a:t>Python is the engine; Excel is still how the result reaches a partner. Every case ends with .to_excel().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925" y="4543871"/>
            <a:ext cx="41921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Quicksand"/>
              </a:rPr>
              <a:t>Everything in the browser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925" y="4839146"/>
            <a:ext cx="3289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Google Colab, no installs. If the Wi-Fi blocks a feed, the notebooks fall back automatically and tell you.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4425" y="4543871"/>
            <a:ext cx="39275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Quicksand"/>
              </a:rPr>
              <a:t>Timeboxed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4425" y="4839146"/>
            <a:ext cx="3289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Talks are 25–30 minutes, each followed by its own lab. Labs end when the clock says so, not when the code works — unfinished is fine.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057846"/>
            <a:ext cx="5170735" cy="23431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4534346"/>
            <a:ext cx="5170735" cy="742950"/>
          </a:xfrm>
          <a:prstGeom prst="roundRect">
            <a:avLst>
              <a:gd name="adj" fmla="val 30769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70835" y="2030462"/>
            <a:ext cx="5687764" cy="2531268"/>
          </a:xfrm>
          <a:prstGeom prst="roundRect">
            <a:avLst>
              <a:gd name="adj" fmla="val 8278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70835" y="4695080"/>
            <a:ext cx="5687764" cy="609600"/>
          </a:xfrm>
          <a:prstGeom prst="roundRect">
            <a:avLst>
              <a:gd name="adj" fmla="val 50000"/>
            </a:avLst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89885" y="2049512"/>
            <a:ext cx="5649664" cy="342900"/>
          </a:xfrm>
          <a:prstGeom prst="rect">
            <a:avLst/>
          </a:prstGeom>
          <a:solidFill>
            <a:srgbClr val="E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89885" y="2382887"/>
            <a:ext cx="5649664" cy="9525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385" y="2154287"/>
            <a:ext cx="123825" cy="123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WELCOME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Setup check — right now (5 minutes)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82400" y="6410325"/>
            <a:ext cx="3619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2248346"/>
            <a:ext cx="480878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1.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Open the repo link → notebooks → </a:t>
            </a:r>
            <a:r>
              <a:rPr sz="1200" b="0" i="0" u="none">
                <a:solidFill>
                  <a:srgbClr val="3B7A57"/>
                </a:solidFill>
                <a:latin typeface="Nunito"/>
              </a:rPr>
              <a:t>00_setup_check.ipynb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→ Open in Colab.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2762696"/>
            <a:ext cx="480878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2.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Run each cell with Shift+Enter. A cell is done when the </a:t>
            </a:r>
            <a:r>
              <a:rPr sz="1200" b="0" i="0" u="none">
                <a:solidFill>
                  <a:srgbClr val="3B7A57"/>
                </a:solidFill>
                <a:latin typeface="Nunito"/>
              </a:rPr>
              <a:t>[ ]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on the left shows a number.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277046"/>
            <a:ext cx="5891919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3.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Look for "You're ready ✔" at the bottom.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3581846"/>
            <a:ext cx="480878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4.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If red text appears: raise a hand. We fix the two or three inevitable ones while everyone else reads the Case 1 brief in the notebook.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475" y="4696271"/>
            <a:ext cx="482783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92400E"/>
                </a:solidFill>
                <a:latin typeface="Nunito"/>
              </a:rPr>
              <a:t>236,549 rows. Remember that number: Excel's limit is 1,048,576 and the real file is hundreds of millions.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435" y="4809380"/>
            <a:ext cx="164961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Fira Code"/>
              </a:rPr>
              <a:t>SETUP CHECK · RUN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3796" y="4809380"/>
            <a:ext cx="237744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Nunito"/>
              </a:rPr>
              <a:t>00_setup_check.ipynb · run every cell · 5 minutes</a:t>
            </a:r>
          </a:p>
        </p:txBody>
      </p:sp>
      <p:sp>
        <p:nvSpPr>
          <p:cNvPr id="22" name="TextBox 21">
            <a:hlinkClick r:id="rId3"/>
          </p:cNvPr>
          <p:cNvSpPr txBox="1"/>
          <p:nvPr/>
        </p:nvSpPr>
        <p:spPr>
          <a:xfrm>
            <a:off x="10222992" y="4860036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>
            <a:noFill/>
          </a:ln>
          <a:effectLst>
            <a:outerShdw blurRad="50800" dist="25400" dir="5400000" rotWithShape="0">
              <a:srgbClr val="1A3A2A">
                <a:alpha val="40000"/>
              </a:srgbClr>
            </a:outerShdw>
          </a:effectLst>
        </p:spPr>
        <p:txBody>
          <a:bodyPr wrap="none" lIns="36576" tIns="0" rIns="36576" bIns="0" anchor="ctr" anchorCtr="0">
            <a:spAutoFit/>
          </a:bodyPr>
          <a:lstStyle/>
          <a:p>
            <a:pPr algn="ctr"/>
            <a:r>
              <a:rPr sz="1000" b="1" i="0" u="none">
                <a:solidFill>
                  <a:srgbClr val="3B7A57"/>
                </a:solidFill>
                <a:latin typeface="Nunito"/>
              </a:rPr>
              <a:t>Open in Colab 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0385" y="2135237"/>
            <a:ext cx="2131218" cy="16192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8593E"/>
                </a:solidFill>
                <a:latin typeface="Fira Code"/>
              </a:rPr>
              <a:t>00_setup_check.ipynb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2300" y="2139999"/>
            <a:ext cx="952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5C7065"/>
                </a:solidFill>
                <a:latin typeface="Fira Code"/>
              </a:rPr>
              <a:t>Colab cell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435" y="2563862"/>
            <a:ext cx="5992564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6D597A"/>
                </a:solidFill>
                <a:latin typeface="Fira Code"/>
              </a:rPr>
              <a:t>import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pandas </a:t>
            </a:r>
            <a:r>
              <a:rPr sz="1050" b="1" i="0" u="none">
                <a:solidFill>
                  <a:srgbClr val="6D597A"/>
                </a:solidFill>
                <a:latin typeface="Fira Code"/>
              </a:rPr>
              <a:t>as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pd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435" y="2789783"/>
            <a:ext cx="5992564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path = 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f"{DATA}/bdc_il_fixed_availability_sample.csv.gz"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435" y="3015704"/>
            <a:ext cx="5992564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avail = pd.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read_csv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(path)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435" y="3241625"/>
            <a:ext cx="5992564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3B7A57"/>
                </a:solidFill>
                <a:latin typeface="Fira Code"/>
              </a:rPr>
              <a:t>print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f"Loaded {len(avail):,} rows x {avail.shape[1]} columns"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99435" y="3693467"/>
            <a:ext cx="5992564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5C7065"/>
                </a:solidFill>
                <a:latin typeface="Fira Code"/>
              </a:rPr>
              <a:t># expected output: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99435" y="3919388"/>
            <a:ext cx="5992564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5C7065"/>
                </a:solidFill>
                <a:latin typeface="Fira Code"/>
              </a:rPr>
              <a:t># Loaded 236,549 rows x 12 columns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99435" y="4145309"/>
            <a:ext cx="5992564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5C7065"/>
                </a:solidFill>
                <a:latin typeface="Fira Code"/>
              </a:rPr>
              <a:t># You're ready ✔ See you at 9:00.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029075"/>
            <a:ext cx="9144000" cy="1266825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62100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237" y="1743075"/>
            <a:ext cx="314325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400300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7A57"/>
                </a:solidFill>
                <a:latin typeface="Fira Code"/>
              </a:rPr>
              <a:t>SECTION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57475"/>
            <a:ext cx="11582400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1D2D24"/>
                </a:solidFill>
                <a:latin typeface="Quicksand"/>
              </a:rPr>
              <a:t>Python bootcamp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76625"/>
            <a:ext cx="11430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8593E"/>
                </a:solidFill>
                <a:latin typeface="Fira Code"/>
              </a:rPr>
              <a:t>Three talks · three labs · 9:25–2:10 (lunch 12:00–1:00)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4276725"/>
            <a:ext cx="10715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5D39"/>
                </a:solidFill>
                <a:latin typeface="Fira Code"/>
              </a:rPr>
              <a:t>BY THE END OF THIS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4533900"/>
            <a:ext cx="866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Nunito"/>
              </a:rPr>
              <a:t>Read and write the eight constructs the two cases use · Translate any Excel operation you know into one line of pandas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214860"/>
            <a:ext cx="5808017" cy="2305347"/>
          </a:xfrm>
          <a:prstGeom prst="roundRect">
            <a:avLst>
              <a:gd name="adj" fmla="val 9089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4653557"/>
            <a:ext cx="5808017" cy="466725"/>
          </a:xfrm>
          <a:prstGeom prst="roundRect">
            <a:avLst>
              <a:gd name="adj" fmla="val 48979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608117" y="2181671"/>
            <a:ext cx="5050482" cy="104775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08117" y="3362771"/>
            <a:ext cx="5050482" cy="104775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608117" y="4543871"/>
            <a:ext cx="5050482" cy="609600"/>
          </a:xfrm>
          <a:prstGeom prst="roundRect">
            <a:avLst>
              <a:gd name="adj" fmla="val 37500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52450" y="2233910"/>
            <a:ext cx="5769917" cy="342900"/>
          </a:xfrm>
          <a:prstGeom prst="rect">
            <a:avLst/>
          </a:prstGeom>
          <a:solidFill>
            <a:srgbClr val="E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52450" y="2567285"/>
            <a:ext cx="5769917" cy="9525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338685"/>
            <a:ext cx="123825" cy="12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PYTHON BOOTCAMP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Python is a calculator with memory and names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82400" y="6410325"/>
            <a:ext cx="3619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425" y="4796432"/>
            <a:ext cx="675995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8593E"/>
                </a:solidFill>
                <a:latin typeface="Fira Code"/>
              </a:rPr>
              <a:t>Excel: =F47*12*F48      Python: arpu_monthly * 12 * target_penetration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5767" y="2391221"/>
            <a:ext cx="4650432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A variable is a named cell.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In Excel the assumption lives in F47 and its name lives in your head. Here the name is the documentation.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5767" y="3572321"/>
            <a:ext cx="4650432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Change it once, everything downstream updates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— exactly like Excel, except the change is visible in the code, in one place, with a name.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46242" y="4743896"/>
            <a:ext cx="534575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84322"/>
                </a:solidFill>
                <a:latin typeface="Nunito"/>
              </a:rPr>
              <a:t>= assigns; == compares.</a:t>
            </a:r>
            <a:r>
              <a:rPr sz="1200" b="0" i="0" u="none">
                <a:solidFill>
                  <a:srgbClr val="B84322"/>
                </a:solidFill>
                <a:latin typeface="Nunito"/>
              </a:rPr>
              <a:t> The single most common first-day error.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2319635"/>
            <a:ext cx="1381125" cy="16192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8593E"/>
                </a:solidFill>
                <a:latin typeface="Fira Code"/>
              </a:rPr>
              <a:t>variables.py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65117" y="2324397"/>
            <a:ext cx="952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5C7065"/>
                </a:solidFill>
                <a:latin typeface="Fira Code"/>
              </a:rPr>
              <a:t>Colab cell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2748260"/>
            <a:ext cx="66885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arpu_monthly =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75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        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a number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2974181"/>
            <a:ext cx="66885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target_penetration =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0.30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a decimal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3200102"/>
            <a:ext cx="66885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company = 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"Lakeshore Broadband"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3426023"/>
            <a:ext cx="66885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is_footprint = </a:t>
            </a:r>
            <a:r>
              <a:rPr sz="1050" b="1" i="0" u="none">
                <a:solidFill>
                  <a:srgbClr val="6D597A"/>
                </a:solidFill>
                <a:latin typeface="Fira Code"/>
              </a:rPr>
              <a:t>True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      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yes/no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3877865"/>
            <a:ext cx="66885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annual_rev_per_home = arpu_monthly *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12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* target_penetration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4103786"/>
            <a:ext cx="66885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3B7A57"/>
                </a:solidFill>
                <a:latin typeface="Fira Code"/>
              </a:rPr>
              <a:t>print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(annual_rev_per_home) 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270.0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108055" y="2076896"/>
            <a:ext cx="5550544" cy="3181350"/>
          </a:xfrm>
          <a:prstGeom prst="roundRect">
            <a:avLst>
              <a:gd name="adj" fmla="val 718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133897"/>
            <a:ext cx="5307955" cy="2305347"/>
          </a:xfrm>
          <a:prstGeom prst="roundRect">
            <a:avLst>
              <a:gd name="adj" fmla="val 9089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4591645"/>
            <a:ext cx="5307955" cy="60960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52450" y="2152947"/>
            <a:ext cx="5269855" cy="342900"/>
          </a:xfrm>
          <a:prstGeom prst="rect">
            <a:avLst/>
          </a:prstGeom>
          <a:solidFill>
            <a:srgbClr val="E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52450" y="2486322"/>
            <a:ext cx="5269855" cy="9525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257722"/>
            <a:ext cx="123825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PYTHON BOOTCAMP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Worked example · a 1-day VaR in four lines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2400" y="6410325"/>
            <a:ext cx="3619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705" y="2286446"/>
            <a:ext cx="583629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B7A57"/>
                </a:solidFill>
                <a:latin typeface="Quicksand"/>
              </a:rPr>
              <a:t>Why a risk team cares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705" y="2686496"/>
            <a:ext cx="5150494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Value at Risk: “on 99 days out of 100, this position should not lose more than X in a day.” Risk desks compute it every night, for every position, at several confidence levels.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705" y="3448496"/>
            <a:ext cx="5150494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In Excel this is one formula — until it is per position, per confidence level, per holding period. Then names beat cell references: change one line, everything downstream updates.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705" y="4210496"/>
            <a:ext cx="5150494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D2D24"/>
                </a:solidFill>
                <a:latin typeface="Nunito"/>
              </a:rPr>
              <a:t>Lab A, in a few minutes: run exactly this, change the position to $40M, add a 95% version (z = 1.65), and scale to 10 days with √t. Every variable on this slide reappears on Day 2 inside the news screen for the same hotel company.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705945"/>
            <a:ext cx="1566118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Fira Code"/>
              </a:rPr>
              <a:t>WORKED EXAMPLE · WATCH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32868" y="4705945"/>
            <a:ext cx="347513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Nunito"/>
              </a:rPr>
              <a:t>no notebook yet — this exact code becomes Lab A in a few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2238672"/>
            <a:ext cx="1559718" cy="16192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8593E"/>
                </a:solidFill>
                <a:latin typeface="Fira Code"/>
              </a:rPr>
              <a:t>var_example.py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98355" y="2243435"/>
            <a:ext cx="12192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5C7065"/>
                </a:solidFill>
                <a:latin typeface="Fira Code"/>
              </a:rPr>
              <a:t>Worked 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2667297"/>
            <a:ext cx="6063443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position_value =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25_000_000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$25M of HLT shares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2893218"/>
            <a:ext cx="6063443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daily_vol =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0.018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        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1.8% daily volatility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3119139"/>
            <a:ext cx="6063443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z_99 =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2.33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              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99% confidence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3570982"/>
            <a:ext cx="6063443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var_1d = position_value * daily_vol * z_99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3796903"/>
            <a:ext cx="6063443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3B7A57"/>
                </a:solidFill>
                <a:latin typeface="Fira Code"/>
              </a:rPr>
              <a:t>print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f"1-day 99% VaR: ${var_1d:,.0f}"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4022824"/>
            <a:ext cx="6063443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5C7065"/>
                </a:solidFill>
                <a:latin typeface="Fira Code"/>
              </a:rPr>
              <a:t># 1-day 99% VaR: $1,048,500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486721"/>
            <a:ext cx="11125200" cy="781050"/>
          </a:xfrm>
          <a:prstGeom prst="roundRect">
            <a:avLst>
              <a:gd name="adj" fmla="val 29268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2429321"/>
            <a:ext cx="1563141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096541" y="2429321"/>
            <a:ext cx="2904976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01517" y="2429321"/>
            <a:ext cx="2396876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98394" y="2429321"/>
            <a:ext cx="4260205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815083"/>
            <a:ext cx="1563141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096541" y="2815083"/>
            <a:ext cx="290497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01517" y="2815083"/>
            <a:ext cx="239687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98394" y="2815083"/>
            <a:ext cx="4260205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3186558"/>
            <a:ext cx="1563141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96541" y="3186558"/>
            <a:ext cx="290497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01517" y="3186558"/>
            <a:ext cx="239687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98394" y="3186558"/>
            <a:ext cx="4260205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3558033"/>
            <a:ext cx="1563141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96541" y="3558033"/>
            <a:ext cx="290497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01517" y="3558033"/>
            <a:ext cx="239687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98394" y="3558033"/>
            <a:ext cx="4260205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3929508"/>
            <a:ext cx="1563141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096541" y="3929508"/>
            <a:ext cx="290497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01517" y="3929508"/>
            <a:ext cx="239687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398394" y="3929508"/>
            <a:ext cx="4260205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3400" y="4300983"/>
            <a:ext cx="1563141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096541" y="4300983"/>
            <a:ext cx="290497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01517" y="4300983"/>
            <a:ext cx="239687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398394" y="4300983"/>
            <a:ext cx="4260205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33400" y="2067371"/>
            <a:ext cx="11125200" cy="22479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33400" y="2067371"/>
          <a:ext cx="11125198" cy="2247900"/>
        </p:xfrm>
        <a:graphic>
          <a:graphicData uri="http://schemas.openxmlformats.org/drawingml/2006/table">
            <a:tbl>
              <a:tblPr/>
              <a:tblGrid>
                <a:gridCol w="15631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4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96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602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D2D24"/>
                          </a:solidFill>
                          <a:latin typeface="Quicksand"/>
                        </a:rPr>
                        <a:t>Python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D2D24"/>
                          </a:solidFill>
                          <a:latin typeface="Quicksand"/>
                        </a:rPr>
                        <a:t>What it holds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D2D24"/>
                          </a:solidFill>
                          <a:latin typeface="Quicksand"/>
                        </a:rPr>
                        <a:t>Excel analogue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D2D24"/>
                          </a:solidFill>
                          <a:latin typeface="Quicksand"/>
                        </a:rPr>
                        <a:t>Where it bites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B7A57"/>
                          </a:solidFill>
                          <a:latin typeface="Fira Code"/>
                        </a:rPr>
                        <a:t>int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whole numbers: 75, 236549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a number cell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row counts, codes that are NOT numbers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B7A57"/>
                          </a:solidFill>
                          <a:latin typeface="Fira Code"/>
                        </a:rPr>
                        <a:t>float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decimals: 0.30, 4.55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a number cell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0.1 + 0.2 ≠ 0.3 exactly; round for display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B7A57"/>
                          </a:solidFill>
                          <a:latin typeface="Fira Code"/>
                        </a:rPr>
                        <a:t>str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text: "Lake", "0031200001"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a text cell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ZIP 02138 → 2138 when read as a number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B7A57"/>
                          </a:solidFill>
                          <a:latin typeface="Fira Code"/>
                        </a:rPr>
                        <a:t>bool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True / False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TRUE / FALSE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the output of every filter condition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B7A57"/>
                          </a:solidFill>
                          <a:latin typeface="Fira Code"/>
                        </a:rPr>
                        <a:t>datetime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2026-09-22 12:00 UTC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a date serial (45923.5)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time zones; 'published' in the news feed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PYTHON BOOTCAMP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Types: the thing Excel hides from you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82400" y="6410325"/>
            <a:ext cx="3619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1525" y="4667696"/>
            <a:ext cx="107442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D2D24"/>
                </a:solidFill>
                <a:latin typeface="Nunito"/>
              </a:rPr>
              <a:t>Excel guesses the type of every cell and usually guesses right. When it guesses wrong — leading zeros, dates as numbers, '1,234' as text — it does so silently. Python makes you say what you mean: </a:t>
            </a:r>
            <a:r>
              <a:rPr sz="1200" b="1" i="0" u="none">
                <a:solidFill>
                  <a:srgbClr val="28593E"/>
                </a:solidFill>
                <a:latin typeface="Nunito"/>
              </a:rPr>
              <a:t>pd.read_csv(..., dtype={"frn": str})</a:t>
            </a:r>
            <a:r>
              <a:rPr sz="1200" b="0" i="0" u="none">
                <a:solidFill>
                  <a:srgbClr val="1D2D24"/>
                </a:solidFill>
                <a:latin typeface="Nunito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5010596"/>
            <a:ext cx="11125200" cy="419100"/>
          </a:xfrm>
          <a:prstGeom prst="roundRect">
            <a:avLst>
              <a:gd name="adj" fmla="val 50000"/>
            </a:avLst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1905446"/>
            <a:ext cx="4093964" cy="29146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817864" y="2276921"/>
            <a:ext cx="3475136" cy="2171700"/>
          </a:xfrm>
          <a:prstGeom prst="roundRect">
            <a:avLst>
              <a:gd name="adj" fmla="val 10526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83500" y="2534096"/>
            <a:ext cx="3175248" cy="1657350"/>
          </a:xfrm>
          <a:prstGeom prst="roundRect">
            <a:avLst>
              <a:gd name="adj" fmla="val 13793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2114996"/>
            <a:ext cx="381000" cy="381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5989" y="2476946"/>
            <a:ext cx="381000" cy="3810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1625" y="2734121"/>
            <a:ext cx="381000" cy="381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875" y="2219771"/>
            <a:ext cx="133350" cy="1714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0289" y="2581721"/>
            <a:ext cx="152400" cy="1714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6400" y="2838896"/>
            <a:ext cx="171450" cy="1714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PYTHON BOOTCAMP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Lab A · 9:55 · 35 minutes — variables and a VaR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5124896"/>
            <a:ext cx="18216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Fira Code"/>
              </a:rPr>
              <a:t>LAB A · WORK SOLO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5812" y="5124896"/>
            <a:ext cx="41671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Nunito"/>
              </a:rPr>
              <a:t>01_python_bootcamp.ipynb · section Lab A · 35 min</a:t>
            </a:r>
          </a:p>
        </p:txBody>
      </p:sp>
      <p:sp>
        <p:nvSpPr>
          <p:cNvPr id="20" name="TextBox 19">
            <a:hlinkClick r:id="rId8"/>
          </p:cNvPr>
          <p:cNvSpPr txBox="1"/>
          <p:nvPr/>
        </p:nvSpPr>
        <p:spPr>
          <a:xfrm>
            <a:off x="10222992" y="5084064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>
            <a:noFill/>
          </a:ln>
          <a:effectLst>
            <a:outerShdw blurRad="50800" dist="25400" dir="5400000" rotWithShape="0">
              <a:srgbClr val="1A3A2A">
                <a:alpha val="40000"/>
              </a:srgbClr>
            </a:outerShdw>
          </a:effectLst>
        </p:spPr>
        <p:txBody>
          <a:bodyPr wrap="none" lIns="36576" tIns="0" rIns="36576" bIns="0" anchor="ctr" anchorCtr="0">
            <a:spAutoFit/>
          </a:bodyPr>
          <a:lstStyle/>
          <a:p>
            <a:pPr algn="ctr"/>
            <a:r>
              <a:rPr sz="1000" b="1" i="0" u="none">
                <a:solidFill>
                  <a:srgbClr val="3B7A57"/>
                </a:solidFill>
                <a:latin typeface="Nunito"/>
              </a:rPr>
              <a:t>Open in Colab 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50" y="2591246"/>
            <a:ext cx="472324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D2D24"/>
                </a:solidFill>
                <a:latin typeface="Quicksand"/>
              </a:rPr>
              <a:t>Do (everyone)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50" y="2953196"/>
            <a:ext cx="3693914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Open </a:t>
            </a:r>
            <a:r>
              <a:rPr sz="1200" b="0" i="0" u="none">
                <a:solidFill>
                  <a:srgbClr val="3B7A57"/>
                </a:solidFill>
                <a:latin typeface="Nunito"/>
              </a:rPr>
              <a:t>01_python_bootcamp.ipynb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, section Lab A — run each cell; do every # TODO beneath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050" y="3467546"/>
            <a:ext cx="3693914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The worked example is your starting point: run the four-line VaR, change the position to $40M, add a 95% version (z = 1.65).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050" y="4191446"/>
            <a:ext cx="3693914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7A57"/>
                </a:solidFill>
                <a:latin typeface="Nunito"/>
              </a:rPr>
              <a:t>Check-out: one sentence — what would have been painful in Excel?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5989" y="2953196"/>
            <a:ext cx="393603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D2D24"/>
                </a:solidFill>
                <a:latin typeface="Quicksand"/>
              </a:rPr>
              <a:t>Fast lane (optional)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55989" y="3315146"/>
            <a:ext cx="3094136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⚡ cells at the end of the section: scale the VaR to 10 days with √t.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55989" y="3829496"/>
            <a:ext cx="3094136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Then help a neighbour. Hands off their keyboard.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21625" y="3210371"/>
            <a:ext cx="347037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D2D24"/>
                </a:solidFill>
                <a:latin typeface="Quicksand"/>
              </a:rPr>
              <a:t>Checkpoints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21625" y="3572321"/>
            <a:ext cx="2794248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28593E"/>
                </a:solidFill>
                <a:latin typeface="Nunito"/>
              </a:rPr>
              <a:t>10:30 — your VaR runs and you re-ran it with a bigger position. Break.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348037" y="4148137"/>
            <a:ext cx="5495925" cy="990600"/>
          </a:xfrm>
          <a:prstGeom prst="roundRect">
            <a:avLst>
              <a:gd name="adj" fmla="val 23076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1719262"/>
            <a:ext cx="571500" cy="57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1890712"/>
            <a:ext cx="22860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661046" y="2481262"/>
            <a:ext cx="68699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B84322"/>
                </a:solidFill>
                <a:latin typeface="Fira Code"/>
              </a:rPr>
              <a:t>DAY 1 · 10:30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89299" y="2719387"/>
            <a:ext cx="7213401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1D2D24"/>
                </a:solidFill>
                <a:latin typeface="Quicksand"/>
              </a:rPr>
              <a:t>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1046" y="3595687"/>
            <a:ext cx="6869906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3B7A57"/>
                </a:solidFill>
                <a:latin typeface="Nunito"/>
              </a:rPr>
              <a:t>Back at 10:50 — Python II: collections and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8234" y="4376737"/>
            <a:ext cx="61555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F5247"/>
                </a:solidFill>
                <a:latin typeface="Nunito"/>
              </a:rPr>
              <a:t>Before you step out: your VaR runs, and you re-ran it at $40M.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8234" y="4681537"/>
            <a:ext cx="615553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B84322"/>
                </a:solidFill>
                <a:latin typeface="Nunito"/>
              </a:rPr>
              <a:t>Not there yet? This is the moment to grab me or a neighbour.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1875234"/>
            <a:ext cx="5877520" cy="3584674"/>
          </a:xfrm>
          <a:prstGeom prst="roundRect">
            <a:avLst>
              <a:gd name="adj" fmla="val 5845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77620" y="2286446"/>
            <a:ext cx="4980979" cy="8382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677620" y="3257996"/>
            <a:ext cx="4980979" cy="838200"/>
          </a:xfrm>
          <a:prstGeom prst="roundRect">
            <a:avLst>
              <a:gd name="adj" fmla="val 27272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77620" y="4229546"/>
            <a:ext cx="4980979" cy="819150"/>
          </a:xfrm>
          <a:prstGeom prst="roundRect">
            <a:avLst>
              <a:gd name="adj" fmla="val 27906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52450" y="1894284"/>
            <a:ext cx="5839420" cy="342900"/>
          </a:xfrm>
          <a:prstGeom prst="rect">
            <a:avLst/>
          </a:prstGeom>
          <a:solidFill>
            <a:srgbClr val="E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52450" y="2227659"/>
            <a:ext cx="5839420" cy="9525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999059"/>
            <a:ext cx="123825" cy="123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PYTHON BOOTCAMP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Lists and dictionaries: a column and a lookup 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5270" y="2495996"/>
            <a:ext cx="4580929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A list is an ordered column.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You index into it by position, slice it, count it, extend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5270" y="3467546"/>
            <a:ext cx="4580929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A dictionary is key → value: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the lookup table you build a VLOOKUP against, minus the fragile column-number argument.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5745" y="4429571"/>
            <a:ext cx="4599979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D2D24"/>
                </a:solidFill>
                <a:latin typeface="Nunito"/>
              </a:rPr>
              <a:t>Both nest.</a:t>
            </a:r>
            <a:r>
              <a:rPr sz="1200" b="0" i="0" u="none">
                <a:solidFill>
                  <a:srgbClr val="1D2D24"/>
                </a:solidFill>
                <a:latin typeface="Nunito"/>
              </a:rPr>
              <a:t> A list of dictionaries is already a table — and pandas will turn it into one in a single call.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1980009"/>
            <a:ext cx="1940718" cy="16192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8593E"/>
                </a:solidFill>
                <a:latin typeface="Fira Code"/>
              </a:rPr>
              <a:t>lists_and_dicts.py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4620" y="1984771"/>
            <a:ext cx="952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5C7065"/>
                </a:solidFill>
                <a:latin typeface="Fira Code"/>
              </a:rPr>
              <a:t>Colab cell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2370534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counties = [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"Lake"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"McHenry"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"Kane"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"Cook"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2596455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counties[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]    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"Lake" (counting starts at 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2822376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counties[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-1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]   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"Cook" (from the end)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3048297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counties[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1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: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3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]  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["McHenry", "Kane"]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3274218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3B7A57"/>
                </a:solidFill>
                <a:latin typeface="Fira Code"/>
              </a:rPr>
              <a:t>len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(counties)  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3500139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counties.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append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"DuPage"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3951982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capex_per_passing = {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"urban"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: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900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"suburban"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: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1100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" y="4177903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                 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"exurban"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: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1400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"rural"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: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2200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950" y="4403824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capex_per_passing[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"rural"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]      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2200 ← VLOOKUP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4629745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capex_per_passing[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"rural"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] =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2400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4855666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6D597A"/>
                </a:solidFill>
                <a:latin typeface="Fira Code"/>
              </a:rPr>
              <a:t>for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kind, capex </a:t>
            </a:r>
            <a:r>
              <a:rPr sz="1050" b="1" i="0" u="none">
                <a:solidFill>
                  <a:srgbClr val="6D597A"/>
                </a:solidFill>
                <a:latin typeface="Fira Code"/>
              </a:rPr>
              <a:t>in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capex_per_passing.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items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():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5081587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print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(kind, capex)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81700" y="2391221"/>
            <a:ext cx="5676900" cy="2552700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003226"/>
            <a:ext cx="5181600" cy="2757189"/>
          </a:xfrm>
          <a:prstGeom prst="roundRect">
            <a:avLst>
              <a:gd name="adj" fmla="val 7600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4912816"/>
            <a:ext cx="5181600" cy="419100"/>
          </a:xfrm>
          <a:prstGeom prst="roundRect">
            <a:avLst>
              <a:gd name="adj" fmla="val 50000"/>
            </a:avLst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52450" y="2022276"/>
            <a:ext cx="5143500" cy="342900"/>
          </a:xfrm>
          <a:prstGeom prst="rect">
            <a:avLst/>
          </a:prstGeom>
          <a:solidFill>
            <a:srgbClr val="E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52450" y="2355651"/>
            <a:ext cx="5143500" cy="9525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127051"/>
            <a:ext cx="123825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PYTHON BOOTCAMP · EXERCISE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Exercise · 3 minutes · your first 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9350" y="2600771"/>
            <a:ext cx="59626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B7A57"/>
                </a:solidFill>
                <a:latin typeface="Quicksand"/>
              </a:rPr>
              <a:t>Type it — don't read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9350" y="3000821"/>
            <a:ext cx="5276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In a fresh Colab cell, build the dictionary and do the three TODOs. A dict maps a name to a value, exactly like a two-column lookup range in Excel — ticker in column A, position in column 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9350" y="3762821"/>
            <a:ext cx="52768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Stuck on syntax? The colon and the commas are the usual suspects. Compare with a neighbour before raising a hand.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9350" y="4315271"/>
            <a:ext cx="52768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D2D24"/>
                </a:solidFill>
                <a:latin typeface="Nunito"/>
              </a:rPr>
              <a:t>This exact book — five positions by the time we are done — carries through Lab B, the loops talk, and the limit-breach check before lunch.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5027116"/>
            <a:ext cx="22502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Fira Code"/>
              </a:rPr>
              <a:t>EXERCISE · TYPE ALONG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9850" y="5027116"/>
            <a:ext cx="3595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Nunito"/>
              </a:rPr>
              <a:t>a fresh Colab cell · 3 minutes · type it yourself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2108001"/>
            <a:ext cx="1464468" cy="16192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8593E"/>
                </a:solidFill>
                <a:latin typeface="Fira Code"/>
              </a:rPr>
              <a:t>first_book.py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2050" y="2112764"/>
            <a:ext cx="8191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5C7065"/>
                </a:solidFill>
                <a:latin typeface="Fira Code"/>
              </a:rPr>
              <a:t>Exercise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2536626"/>
            <a:ext cx="59055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book = {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2762547"/>
            <a:ext cx="59055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"HLT"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: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25_000_000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2988468"/>
            <a:ext cx="59055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"MAR"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: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18_000_000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3214389"/>
            <a:ext cx="59055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"H"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:    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9_500_000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3440310"/>
            <a:ext cx="59055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3892153"/>
            <a:ext cx="59055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5C7065"/>
                </a:solidFill>
                <a:latin typeface="Fira Code"/>
              </a:rPr>
              <a:t># TODO 1: add CHH at 4_200_000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4118074"/>
            <a:ext cx="59055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5C7065"/>
                </a:solidFill>
                <a:latin typeface="Fira Code"/>
              </a:rPr>
              <a:t># TODO 2: print the MAR position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4343995"/>
            <a:ext cx="59055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5C7065"/>
                </a:solidFill>
                <a:latin typeface="Fira Code"/>
              </a:rPr>
              <a:t># TODO 3: total = sum(book.values())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401937"/>
            <a:ext cx="5687764" cy="2531268"/>
          </a:xfrm>
          <a:prstGeom prst="roundRect">
            <a:avLst>
              <a:gd name="adj" fmla="val 8278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87864" y="2057846"/>
            <a:ext cx="5170735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87864" y="2896046"/>
            <a:ext cx="5170735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87864" y="3734246"/>
            <a:ext cx="5170735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87864" y="4572446"/>
            <a:ext cx="5170735" cy="704850"/>
          </a:xfrm>
          <a:prstGeom prst="roundRect">
            <a:avLst>
              <a:gd name="adj" fmla="val 32432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52450" y="2420987"/>
            <a:ext cx="5649664" cy="342900"/>
          </a:xfrm>
          <a:prstGeom prst="rect">
            <a:avLst/>
          </a:prstGeom>
          <a:solidFill>
            <a:srgbClr val="E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52450" y="2754362"/>
            <a:ext cx="5649664" cy="9525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525762"/>
            <a:ext cx="123825" cy="12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PYTHON BOOTCAMP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Functions: formulas with names and documentation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97414" y="2210246"/>
            <a:ext cx="484688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6D597A"/>
                </a:solidFill>
                <a:latin typeface="Nunito"/>
              </a:rPr>
              <a:t>def</a:t>
            </a:r>
            <a:r>
              <a:rPr sz="1200" b="1" i="0" u="none">
                <a:solidFill>
                  <a:srgbClr val="1D2D24"/>
                </a:solidFill>
                <a:latin typeface="Nunito"/>
              </a:rPr>
              <a:t> names the calculation;</a:t>
            </a:r>
            <a:r>
              <a:rPr sz="1200" b="0" i="0" u="none">
                <a:solidFill>
                  <a:srgbClr val="1D2D24"/>
                </a:solidFill>
                <a:latin typeface="Nunito"/>
              </a:rPr>
              <a:t> the indented block is its body; </a:t>
            </a:r>
            <a:r>
              <a:rPr sz="1200" b="0" i="0" u="none">
                <a:solidFill>
                  <a:srgbClr val="6D597A"/>
                </a:solidFill>
                <a:latin typeface="Nunito"/>
              </a:rPr>
              <a:t>return</a:t>
            </a:r>
            <a:r>
              <a:rPr sz="1200" b="0" i="0" u="none">
                <a:solidFill>
                  <a:srgbClr val="1D2D24"/>
                </a:solidFill>
                <a:latin typeface="Nunito"/>
              </a:rPr>
              <a:t> hands back the answer.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7414" y="3048446"/>
            <a:ext cx="484688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D2D24"/>
                </a:solidFill>
                <a:latin typeface="Nunito"/>
              </a:rPr>
              <a:t>Inputs are explicit.</a:t>
            </a:r>
            <a:r>
              <a:rPr sz="1200" b="0" i="0" u="none">
                <a:solidFill>
                  <a:srgbClr val="1D2D24"/>
                </a:solidFill>
                <a:latin typeface="Nunito"/>
              </a:rPr>
              <a:t> A function can only see what you pass it — no hidden reference to a cell three tabs away.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7414" y="3886646"/>
            <a:ext cx="484688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D2D24"/>
                </a:solidFill>
                <a:latin typeface="Nunito"/>
              </a:rPr>
              <a:t>The docstring is documentation</a:t>
            </a:r>
            <a:r>
              <a:rPr sz="1200" b="0" i="0" u="none">
                <a:solidFill>
                  <a:srgbClr val="1D2D24"/>
                </a:solidFill>
                <a:latin typeface="Nunito"/>
              </a:rPr>
              <a:t> that travels with the formula. Try that with </a:t>
            </a:r>
            <a:r>
              <a:rPr sz="1200" b="0" i="0" u="none">
                <a:solidFill>
                  <a:srgbClr val="3B7A57"/>
                </a:solidFill>
                <a:latin typeface="Nunito"/>
              </a:rPr>
              <a:t>=IFERROR(A2/B2,"inf")</a:t>
            </a:r>
            <a:r>
              <a:rPr sz="1200" b="0" i="0" u="none">
                <a:solidFill>
                  <a:srgbClr val="1D2D24"/>
                </a:solidFill>
                <a:latin typeface="Nunito"/>
              </a:rPr>
              <a:t>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87889" y="4715321"/>
            <a:ext cx="486593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84322"/>
                </a:solidFill>
                <a:latin typeface="Nunito"/>
              </a:rPr>
              <a:t>Later today:</a:t>
            </a:r>
            <a:r>
              <a:rPr sz="1200" b="0" i="0" u="none">
                <a:solidFill>
                  <a:srgbClr val="B84322"/>
                </a:solidFill>
                <a:latin typeface="Nunito"/>
              </a:rPr>
              <a:t> </a:t>
            </a:r>
            <a:r>
              <a:rPr sz="1200" b="1" i="0" u="none">
                <a:solidFill>
                  <a:srgbClr val="B84322"/>
                </a:solidFill>
                <a:latin typeface="Nunito"/>
              </a:rPr>
              <a:t>run(arpu, max_competitors)</a:t>
            </a:r>
            <a:r>
              <a:rPr sz="1200" b="0" i="0" u="none">
                <a:solidFill>
                  <a:srgbClr val="B84322"/>
                </a:solidFill>
                <a:latin typeface="Nunito"/>
              </a:rPr>
              <a:t> will re-run the whole whitespace analysis for a sensitivity table.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2506712"/>
            <a:ext cx="1750218" cy="16192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8593E"/>
                </a:solidFill>
                <a:latin typeface="Fira Code"/>
              </a:rPr>
              <a:t>payback_years.py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44864" y="2511474"/>
            <a:ext cx="952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5C7065"/>
                </a:solidFill>
                <a:latin typeface="Fira Code"/>
              </a:rPr>
              <a:t>Colab cell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2935337"/>
            <a:ext cx="653820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6D597A"/>
                </a:solidFill>
                <a:latin typeface="Fira Code"/>
              </a:rPr>
              <a:t>def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payback_years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(capex, annual_revenue):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3161258"/>
            <a:ext cx="653820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5C7065"/>
                </a:solidFill>
                <a:latin typeface="Fira Code"/>
              </a:rPr>
              <a:t>    """Simple payback: years of revenue to recover capex."""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3387179"/>
            <a:ext cx="653820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</a:t>
            </a:r>
            <a:r>
              <a:rPr sz="1050" b="1" i="0" u="none">
                <a:solidFill>
                  <a:srgbClr val="6D597A"/>
                </a:solidFill>
                <a:latin typeface="Fira Code"/>
              </a:rPr>
              <a:t>if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annual_revenue &lt;=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3613100"/>
            <a:ext cx="653820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    </a:t>
            </a:r>
            <a:r>
              <a:rPr sz="1050" b="1" i="0" u="none">
                <a:solidFill>
                  <a:srgbClr val="6D597A"/>
                </a:solidFill>
                <a:latin typeface="Fira Code"/>
              </a:rPr>
              <a:t>return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float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"inf"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3839021"/>
            <a:ext cx="653820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</a:t>
            </a:r>
            <a:r>
              <a:rPr sz="1050" b="1" i="0" u="none">
                <a:solidFill>
                  <a:srgbClr val="6D597A"/>
                </a:solidFill>
                <a:latin typeface="Fira Code"/>
              </a:rPr>
              <a:t>return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capex / annual_revenue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4290863"/>
            <a:ext cx="653820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3B7A57"/>
                </a:solidFill>
                <a:latin typeface="Fira Code"/>
              </a:rPr>
              <a:t>payback_years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2200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270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) 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8.15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4516784"/>
            <a:ext cx="653820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3B7A57"/>
                </a:solidFill>
                <a:latin typeface="Fira Code"/>
              </a:rPr>
              <a:t>payback_years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900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)  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inf — no division error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81700" y="2286446"/>
            <a:ext cx="5676900" cy="276225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003226"/>
            <a:ext cx="5181600" cy="2757189"/>
          </a:xfrm>
          <a:prstGeom prst="roundRect">
            <a:avLst>
              <a:gd name="adj" fmla="val 7600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4912816"/>
            <a:ext cx="5181600" cy="419100"/>
          </a:xfrm>
          <a:prstGeom prst="roundRect">
            <a:avLst>
              <a:gd name="adj" fmla="val 50000"/>
            </a:avLst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52450" y="2022276"/>
            <a:ext cx="5143500" cy="342900"/>
          </a:xfrm>
          <a:prstGeom prst="rect">
            <a:avLst/>
          </a:prstGeom>
          <a:solidFill>
            <a:srgbClr val="E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52450" y="2355651"/>
            <a:ext cx="5143500" cy="9525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127051"/>
            <a:ext cx="123825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PYTHON BOOTCAMP · EXERCISE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Exercise · 3 minutes · P&amp;L as a 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9350" y="2495996"/>
            <a:ext cx="59626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B7A57"/>
                </a:solidFill>
                <a:latin typeface="Quicksand"/>
              </a:rPr>
              <a:t>One verb, named inputs, one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9350" y="2896046"/>
            <a:ext cx="5276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A function is a named formula: inputs in parentheses, result after return. The Excel analogue is a LAMBDA — except you can read it, test it, and reuse it across every workbook.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9350" y="3658046"/>
            <a:ext cx="52768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Naming convention: a function does one thing and its name says it. position_pnl, not calc or do_stuff.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9350" y="4210496"/>
            <a:ext cx="5276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D2D24"/>
                </a:solidFill>
                <a:latin typeface="Nunito"/>
              </a:rPr>
              <a:t>In Lab B you will write position_var(value, vol, z) and call it in a loop over the whole book — the same pattern Case 1 uses on 458 census blocks.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5027116"/>
            <a:ext cx="22502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Fira Code"/>
              </a:rPr>
              <a:t>EXERCISE · TYPE ALONG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9850" y="5027116"/>
            <a:ext cx="3595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Nunito"/>
              </a:rPr>
              <a:t>a fresh Colab cell · 3 minutes · type it yourself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2108001"/>
            <a:ext cx="1654968" cy="16192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8593E"/>
                </a:solidFill>
                <a:latin typeface="Fira Code"/>
              </a:rPr>
              <a:t>position_pnl.py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72050" y="2112764"/>
            <a:ext cx="8191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5C7065"/>
                </a:solidFill>
                <a:latin typeface="Fira Code"/>
              </a:rPr>
              <a:t>Exercise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2536626"/>
            <a:ext cx="59055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6D597A"/>
                </a:solidFill>
                <a:latin typeface="Fira Code"/>
              </a:rPr>
              <a:t>def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position_pnl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(value_start, value_end):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2762547"/>
            <a:ext cx="59055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</a:t>
            </a:r>
            <a:r>
              <a:rPr sz="1050" b="1" i="0" u="none">
                <a:solidFill>
                  <a:srgbClr val="6D597A"/>
                </a:solidFill>
                <a:latin typeface="Fira Code"/>
              </a:rPr>
              <a:t>return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value_end - value_start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3214389"/>
            <a:ext cx="59055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3B7A57"/>
                </a:solidFill>
                <a:latin typeface="Fira Code"/>
              </a:rPr>
              <a:t>print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position_pnl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25_000_000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25_750_000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))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3440310"/>
            <a:ext cx="59055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5C7065"/>
                </a:solidFill>
                <a:latin typeface="Fira Code"/>
              </a:rPr>
              <a:t># 750000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3892153"/>
            <a:ext cx="59055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5C7065"/>
                </a:solidFill>
                <a:latin typeface="Fira Code"/>
              </a:rPr>
              <a:t># TODO: write pct_return(value_start,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4118074"/>
            <a:ext cx="59055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5C7065"/>
                </a:solidFill>
                <a:latin typeface="Fira Code"/>
              </a:rPr>
              <a:t>#       value_end) → 0.03 for the inputs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4343995"/>
            <a:ext cx="59055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5C7065"/>
                </a:solidFill>
                <a:latin typeface="Fira Code"/>
              </a:rPr>
              <a:t>#       above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519064"/>
            <a:ext cx="5687764" cy="762000"/>
          </a:xfrm>
          <a:prstGeom prst="roundRect">
            <a:avLst>
              <a:gd name="adj" fmla="val 30000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3414414"/>
            <a:ext cx="5687764" cy="1401663"/>
          </a:xfrm>
          <a:prstGeom prst="roundRect">
            <a:avLst>
              <a:gd name="adj" fmla="val 14950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87864" y="1848296"/>
            <a:ext cx="5170735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87864" y="2686496"/>
            <a:ext cx="5170735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87864" y="3524696"/>
            <a:ext cx="5170735" cy="933450"/>
          </a:xfrm>
          <a:prstGeom prst="roundRect">
            <a:avLst>
              <a:gd name="adj" fmla="val 24489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87864" y="4572446"/>
            <a:ext cx="5170735" cy="914400"/>
          </a:xfrm>
          <a:prstGeom prst="roundRect">
            <a:avLst>
              <a:gd name="adj" fmla="val 25000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52450" y="3433464"/>
            <a:ext cx="5649664" cy="342900"/>
          </a:xfrm>
          <a:prstGeom prst="rect">
            <a:avLst/>
          </a:prstGeom>
          <a:solidFill>
            <a:srgbClr val="E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2450" y="3766839"/>
            <a:ext cx="5649664" cy="9525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3538239"/>
            <a:ext cx="123825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PYTHON BOOTCAMP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Loops and conditions replace fill-down and nested 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2475" y="2680989"/>
            <a:ext cx="65620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B84322"/>
                </a:solidFill>
                <a:latin typeface="Fira Code"/>
              </a:rPr>
              <a:t>EXCEL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2475" y="2919114"/>
            <a:ext cx="656201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D2D24"/>
                </a:solidFill>
                <a:latin typeface="Fira Code"/>
              </a:rPr>
              <a:t>=IF(B2&lt;1500,"attractive","expensive")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8364" y="2000696"/>
            <a:ext cx="488498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Excel: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write the formula once, grab the corner, drag to row 60,500. Hope nobody inserts a row; hope the range was anchored.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8364" y="2838896"/>
            <a:ext cx="488498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Python: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the loop runs once per item, whatever the count. The if picks the branch. There is no range to anchor.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8364" y="3677096"/>
            <a:ext cx="488498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Indentation is not decoration.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The indented lines are what the loop repeats. Four spaces, consistently — Colab indents for you after a colon.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8839" y="4715321"/>
            <a:ext cx="490403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D2D24"/>
                </a:solidFill>
                <a:latin typeface="Nunito"/>
              </a:rPr>
              <a:t>In pandas you rarely write the loop at all:</a:t>
            </a:r>
            <a:r>
              <a:rPr sz="1200" b="0" i="0" u="none">
                <a:solidFill>
                  <a:srgbClr val="1D2D24"/>
                </a:solidFill>
                <a:latin typeface="Nunito"/>
              </a:rPr>
              <a:t> np.where(df.capex &lt; 1500, "attractive", "expensive") does the whole column at once.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3519189"/>
            <a:ext cx="923925" cy="16192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8593E"/>
                </a:solidFill>
                <a:latin typeface="Fira Code"/>
              </a:rPr>
              <a:t>PYTHON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4864" y="3523952"/>
            <a:ext cx="952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5C7065"/>
                </a:solidFill>
                <a:latin typeface="Fira Code"/>
              </a:rPr>
              <a:t>Colab cell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3947814"/>
            <a:ext cx="653820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6D597A"/>
                </a:solidFill>
                <a:latin typeface="Fira Code"/>
              </a:rPr>
              <a:t>for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county_type, capex </a:t>
            </a:r>
            <a:r>
              <a:rPr sz="1050" b="1" i="0" u="none">
                <a:solidFill>
                  <a:srgbClr val="6D597A"/>
                </a:solidFill>
                <a:latin typeface="Fira Code"/>
              </a:rPr>
              <a:t>in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capex_per_passing.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items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4173735"/>
            <a:ext cx="653820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verdict = 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"attractive"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</a:t>
            </a:r>
            <a:r>
              <a:rPr sz="1050" b="1" i="0" u="none">
                <a:solidFill>
                  <a:srgbClr val="6D597A"/>
                </a:solidFill>
                <a:latin typeface="Fira Code"/>
              </a:rPr>
              <a:t>if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capex &lt;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1500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</a:t>
            </a:r>
            <a:r>
              <a:rPr sz="1050" b="1" i="0" u="none">
                <a:solidFill>
                  <a:srgbClr val="6D597A"/>
                </a:solidFill>
                <a:latin typeface="Fira Code"/>
              </a:rPr>
              <a:t>else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"expensive"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4399657"/>
            <a:ext cx="653820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print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f"{county_type:10s} ${capex:&gt;6,} {verdict}"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562921"/>
            <a:ext cx="11125200" cy="419100"/>
          </a:xfrm>
          <a:prstGeom prst="roundRect">
            <a:avLst>
              <a:gd name="adj" fmla="val 50000"/>
            </a:avLst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353121"/>
            <a:ext cx="5714107" cy="2019300"/>
          </a:xfrm>
          <a:prstGeom prst="roundRect">
            <a:avLst>
              <a:gd name="adj" fmla="val 11320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438007" y="2362646"/>
            <a:ext cx="5220592" cy="2000250"/>
          </a:xfrm>
          <a:prstGeom prst="roundRect">
            <a:avLst>
              <a:gd name="adj" fmla="val 11428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PYTHON BOOTCAMP ·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Lab B · 11:20 · 40 minutes — the five-position 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677221"/>
            <a:ext cx="18216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Fira Code"/>
              </a:rPr>
              <a:t>LAB B · WORK SOLO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0575" y="4677221"/>
            <a:ext cx="41552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Nunito"/>
              </a:rPr>
              <a:t>01_python_bootcamp.ipynb · section Lab B · 40 min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10222992" y="4636007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>
            <a:noFill/>
          </a:ln>
          <a:effectLst>
            <a:outerShdw blurRad="50800" dist="25400" dir="5400000" rotWithShape="0">
              <a:srgbClr val="1A3A2A">
                <a:alpha val="40000"/>
              </a:srgbClr>
            </a:outerShdw>
          </a:effectLst>
        </p:spPr>
        <p:txBody>
          <a:bodyPr wrap="none" lIns="36576" tIns="0" rIns="36576" bIns="0" anchor="ctr" anchorCtr="0">
            <a:spAutoFit/>
          </a:bodyPr>
          <a:lstStyle/>
          <a:p>
            <a:pPr algn="ctr"/>
            <a:r>
              <a:rPr sz="1000" b="1" i="0" u="none" dirty="0">
                <a:solidFill>
                  <a:srgbClr val="3B7A57"/>
                </a:solidFill>
                <a:latin typeface="Nunito"/>
              </a:rPr>
              <a:t>Open in </a:t>
            </a:r>
            <a:r>
              <a:rPr sz="1000" b="1" i="0" u="none" dirty="0" err="1">
                <a:solidFill>
                  <a:srgbClr val="3B7A57"/>
                </a:solidFill>
                <a:latin typeface="Nunito"/>
              </a:rPr>
              <a:t>Colab</a:t>
            </a:r>
            <a:r>
              <a:rPr sz="1000" b="1" i="0" u="none" dirty="0">
                <a:solidFill>
                  <a:srgbClr val="3B7A57"/>
                </a:solidFill>
                <a:latin typeface="Nunito"/>
              </a:rPr>
              <a:t> 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2562671"/>
            <a:ext cx="68496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B7A57"/>
                </a:solidFill>
                <a:latin typeface="Quicksand"/>
              </a:rPr>
              <a:t>Do (everyone)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2924621"/>
            <a:ext cx="5314057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Same notebook, section Lab B — run each cell; do every # TODO beneath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3438971"/>
            <a:ext cx="5314057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A five-position book: write position_var(value, vol, z), loop it over the book, sum a total, and flag any VaR above $500,000.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50" y="3953321"/>
            <a:ext cx="652350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7A57"/>
                </a:solidFill>
                <a:latin typeface="Nunito"/>
              </a:rPr>
              <a:t>Check-out: one sentence — what would have been painful in Excel?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6132" y="2562671"/>
            <a:ext cx="551586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D2D24"/>
                </a:solidFill>
                <a:latin typeface="Quicksand"/>
              </a:rPr>
              <a:t>Fast lane (optional)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6132" y="2924621"/>
            <a:ext cx="4839592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⚡ sort the book by VaR without pandas; rewrite the loop as a dict comprehension; extend position_pnl with a stop_loss threshold.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6132" y="3648521"/>
            <a:ext cx="551586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Then help a neighbour. Hands off their keyboard.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6132" y="3953321"/>
            <a:ext cx="5515867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84322"/>
                </a:solidFill>
                <a:latin typeface="Nunito"/>
              </a:rPr>
              <a:t>Checkpoint, 12:00 — the book loop prints five P&amp;L lines. Lunch.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381250" y="4033837"/>
            <a:ext cx="7429500" cy="12192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1604962"/>
            <a:ext cx="571500" cy="57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987" y="1776412"/>
            <a:ext cx="200025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52562" y="2366962"/>
            <a:ext cx="9286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B7A57"/>
                </a:solidFill>
                <a:latin typeface="Fira Code"/>
              </a:rPr>
              <a:t>DAY 1 · 12:00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0390" y="2605087"/>
            <a:ext cx="9751218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1D2D24"/>
                </a:solidFill>
                <a:latin typeface="Quicksand"/>
              </a:rPr>
              <a:t>Lunch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2562" y="3481387"/>
            <a:ext cx="92868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28593E"/>
                </a:solidFill>
                <a:latin typeface="Nunito"/>
              </a:rPr>
              <a:t>Back at 1:00 — the pandas talk, a live demo, then Lab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9750" y="4262437"/>
            <a:ext cx="85725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D2D24"/>
                </a:solidFill>
                <a:latin typeface="Nunito"/>
              </a:rPr>
              <a:t>Checkpoint before you go: the book loop prints five P&amp;L lines.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09750" y="4567237"/>
            <a:ext cx="8572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3F5247"/>
                </a:solidFill>
                <a:latin typeface="Nunito"/>
              </a:rPr>
              <a:t>This afternoon: pandas on 236,549 FCC rows, data management, and Case 1 end-to-end.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288976"/>
            <a:ext cx="5877520" cy="2757189"/>
          </a:xfrm>
          <a:prstGeom prst="roundRect">
            <a:avLst>
              <a:gd name="adj" fmla="val 7600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77620" y="2057846"/>
            <a:ext cx="4980979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677620" y="2896046"/>
            <a:ext cx="4980979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77620" y="3734246"/>
            <a:ext cx="4980979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677620" y="4572446"/>
            <a:ext cx="4980979" cy="704850"/>
          </a:xfrm>
          <a:prstGeom prst="roundRect">
            <a:avLst>
              <a:gd name="adj" fmla="val 32432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52450" y="2308026"/>
            <a:ext cx="5839420" cy="342900"/>
          </a:xfrm>
          <a:prstGeom prst="rect">
            <a:avLst/>
          </a:prstGeom>
          <a:solidFill>
            <a:srgbClr val="E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52450" y="2641401"/>
            <a:ext cx="5839420" cy="9525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412801"/>
            <a:ext cx="123825" cy="12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PYTHON BOOTCAMP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The DataFrame: a spreadsheet that fits in a variable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8120" y="2210246"/>
            <a:ext cx="4695229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Rows × columns, named.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A DataFrame is the sheet; a Series is one column; the index is the row label.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8120" y="3048446"/>
            <a:ext cx="4695229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It reads compressed files directly.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The .csv.gz stays zipped on disk; 236,549 rows load in about a second.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8120" y="3886646"/>
            <a:ext cx="4695229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Filters are booleans.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avail["technology"] == 50 is a column of True/False; putting it in [ ] keeps the True rows.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595" y="4715321"/>
            <a:ext cx="4714279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84322"/>
                </a:solidFill>
                <a:latin typeface="Nunito"/>
              </a:rPr>
              <a:t>Parentheses around each condition</a:t>
            </a:r>
            <a:r>
              <a:rPr sz="1200" b="0" i="0" u="none">
                <a:solidFill>
                  <a:srgbClr val="B84322"/>
                </a:solidFill>
                <a:latin typeface="Nunito"/>
              </a:rPr>
              <a:t> when you combine with &amp; or | — the error otherwise is baffling.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2393751"/>
            <a:ext cx="1940718" cy="16192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8593E"/>
                </a:solidFill>
                <a:latin typeface="Fira Code"/>
              </a:rPr>
              <a:t>dataframe_intro.py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4620" y="2398514"/>
            <a:ext cx="952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5C7065"/>
                </a:solidFill>
                <a:latin typeface="Fira Code"/>
              </a:rPr>
              <a:t>Colab cell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2822376"/>
            <a:ext cx="67754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6D597A"/>
                </a:solidFill>
                <a:latin typeface="Fira Code"/>
              </a:rPr>
              <a:t>import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pandas </a:t>
            </a:r>
            <a:r>
              <a:rPr sz="1050" b="1" i="0" u="none">
                <a:solidFill>
                  <a:srgbClr val="6D597A"/>
                </a:solidFill>
                <a:latin typeface="Fira Code"/>
              </a:rPr>
              <a:t>as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pd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3048297"/>
            <a:ext cx="67754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avail = pd.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read_csv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f"{DATA}/bdc_il_fixed_availability_sample.csv.gz"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3274218"/>
            <a:ext cx="67754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                dtype={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"frn"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: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str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"block_geoid"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: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str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})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3726060"/>
            <a:ext cx="67754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avail.shape          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(236549, 12) rows, columns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3951982"/>
            <a:ext cx="67754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avail.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info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()         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every column: name, type, missing values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4177903"/>
            <a:ext cx="67754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avail.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head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()         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first five rows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4403824"/>
            <a:ext cx="67754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avail[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"technology"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]  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one column → a Series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4629745"/>
            <a:ext cx="67754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avail[avail[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"technology"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] ==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50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] 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filter → smaller DataFrame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5182046"/>
            <a:ext cx="11125200" cy="381000"/>
          </a:xfrm>
          <a:prstGeom prst="roundRect">
            <a:avLst>
              <a:gd name="adj" fmla="val 50000"/>
            </a:avLst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2010221"/>
            <a:ext cx="2290464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823864" y="2010221"/>
            <a:ext cx="2885330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09195" y="2010221"/>
            <a:ext cx="5949404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3400" y="2329308"/>
            <a:ext cx="229046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823864" y="2329308"/>
            <a:ext cx="2885330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09195" y="2329308"/>
            <a:ext cx="594940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2634108"/>
            <a:ext cx="229046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823864" y="2634108"/>
            <a:ext cx="2885330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09195" y="2634108"/>
            <a:ext cx="594940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2938908"/>
            <a:ext cx="229046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23864" y="2938908"/>
            <a:ext cx="2885330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09195" y="2938908"/>
            <a:ext cx="594940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3243708"/>
            <a:ext cx="229046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823864" y="3243708"/>
            <a:ext cx="2885330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09195" y="3243708"/>
            <a:ext cx="594940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3400" y="3548508"/>
            <a:ext cx="229046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823864" y="3548508"/>
            <a:ext cx="2885330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709195" y="3548508"/>
            <a:ext cx="594940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33400" y="3853308"/>
            <a:ext cx="229046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2823864" y="3853308"/>
            <a:ext cx="2885330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09195" y="3853308"/>
            <a:ext cx="594940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33400" y="4158108"/>
            <a:ext cx="229046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823864" y="4158108"/>
            <a:ext cx="2885330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09195" y="4158108"/>
            <a:ext cx="594940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33400" y="4462908"/>
            <a:ext cx="229046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2823864" y="4462908"/>
            <a:ext cx="2885330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09195" y="4462908"/>
            <a:ext cx="594940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33400" y="4767708"/>
            <a:ext cx="229046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823864" y="4767708"/>
            <a:ext cx="2885330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709195" y="4767708"/>
            <a:ext cx="594940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33400" y="5072508"/>
            <a:ext cx="229046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823864" y="5072508"/>
            <a:ext cx="2885330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709195" y="5072508"/>
            <a:ext cx="5949404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533400" y="1714946"/>
            <a:ext cx="11125200" cy="33718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533400" y="1714946"/>
          <a:ext cx="11125198" cy="3371850"/>
        </p:xfrm>
        <a:graphic>
          <a:graphicData uri="http://schemas.openxmlformats.org/drawingml/2006/table">
            <a:tbl>
              <a:tblPr/>
              <a:tblGrid>
                <a:gridCol w="22904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5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94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653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2D24"/>
                          </a:solidFill>
                          <a:latin typeface="Quicksand"/>
                        </a:rPr>
                        <a:t>You want to…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2D24"/>
                          </a:solidFill>
                          <a:latin typeface="Quicksand"/>
                        </a:rPr>
                        <a:t>Excel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2D24"/>
                          </a:solidFill>
                          <a:latin typeface="Quicksand"/>
                        </a:rPr>
                        <a:t>pandas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53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F5247"/>
                          </a:solidFill>
                          <a:latin typeface="Nunito"/>
                        </a:rPr>
                        <a:t>Filter rows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AutoFilter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B7A57"/>
                          </a:solidFill>
                          <a:latin typeface="Fira Code"/>
                        </a:rPr>
                        <a:t>df[(df.down &gt;= 100) &amp; (df.up &gt;= 20)]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53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F5247"/>
                          </a:solidFill>
                          <a:latin typeface="Nunito"/>
                        </a:rPr>
                        <a:t>Calculated column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=A2*B2, fill down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B7A57"/>
                          </a:solidFill>
                          <a:latin typeface="Fira Code"/>
                        </a:rPr>
                        <a:t>df["rev"] = df.units * df.arpu * 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53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F5247"/>
                          </a:solidFill>
                          <a:latin typeface="Nunito"/>
                        </a:rPr>
                        <a:t>Sum / mean / count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SUM, AVERAGE, COUNT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B7A57"/>
                          </a:solidFill>
                          <a:latin typeface="Fira Code"/>
                        </a:rPr>
                        <a:t>df.rev.sum()   df.rev.mean()   df.rev.count()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53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F5247"/>
                          </a:solidFill>
                          <a:latin typeface="Nunito"/>
                        </a:rPr>
                        <a:t>Sort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Data → Sort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B7A57"/>
                          </a:solidFill>
                          <a:latin typeface="Fira Code"/>
                        </a:rPr>
                        <a:t>df.sort_values("rev", ascending=False)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53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F5247"/>
                          </a:solidFill>
                          <a:latin typeface="Nunito"/>
                        </a:rPr>
                        <a:t>Count-if / sum-if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COUNTIFS, SUMIFS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B7A57"/>
                          </a:solidFill>
                          <a:latin typeface="Fira Code"/>
                        </a:rPr>
                        <a:t>df[df.tech == 50].rev.sum()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53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F5247"/>
                          </a:solidFill>
                          <a:latin typeface="Nunito"/>
                        </a:rPr>
                        <a:t>Remove duplicates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Data → Remove Duplicates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B7A57"/>
                          </a:solidFill>
                          <a:latin typeface="Fira Code"/>
                        </a:rPr>
                        <a:t>df.drop_duplicates()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53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F5247"/>
                          </a:solidFill>
                          <a:latin typeface="Nunito"/>
                        </a:rPr>
                        <a:t>Save for the partner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Save As .xlsx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B7A57"/>
                          </a:solidFill>
                          <a:latin typeface="Fira Code"/>
                        </a:rPr>
                        <a:t>df.to_excel("out.xlsx", index=False)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653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F5247"/>
                          </a:solidFill>
                          <a:latin typeface="Nunito"/>
                        </a:rPr>
                        <a:t>Pivot table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Insert → PivotTable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D95D39"/>
                          </a:solidFill>
                          <a:latin typeface="Fira Code"/>
                        </a:rPr>
                        <a:t>df.groupby("county").agg(units=("units","sum"))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6531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F5247"/>
                          </a:solidFill>
                          <a:latin typeface="Nunito"/>
                        </a:rPr>
                        <a:t>Look up a 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VLOOKUP / XLOOKUP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D95D39"/>
                          </a:solidFill>
                          <a:latin typeface="Fira Code"/>
                        </a:rPr>
                        <a:t>df.merge(other, on="key", how="left")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654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F5247"/>
                          </a:solidFill>
                          <a:latin typeface="Nunito"/>
                        </a:rPr>
                        <a:t>Clean 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TRIM, PROPER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F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D95D39"/>
                          </a:solidFill>
                          <a:latin typeface="Fira Code"/>
                        </a:rPr>
                        <a:t>df.name.str.strip().str.title()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2EF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0" name="TextBox 39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PYTHON BOOTCAMP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Excel → pandas: the ten you need today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20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2950" y="5277296"/>
            <a:ext cx="16073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Fira Code"/>
              </a:rPr>
              <a:t>LIVE DEMO AHEAD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686050" y="5277296"/>
            <a:ext cx="95059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Nunito"/>
              </a:rPr>
              <a:t>the last three rows (gray) — pivot, lookup, text cleaning — each get a run-along demo in a few slides: 01b_excel_to_pandas_demo.ipynb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1997868"/>
            <a:ext cx="11125200" cy="1777305"/>
          </a:xfrm>
          <a:prstGeom prst="roundRect">
            <a:avLst>
              <a:gd name="adj" fmla="val 11790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52450" y="2016918"/>
            <a:ext cx="11087100" cy="342900"/>
          </a:xfrm>
          <a:prstGeom prst="rect">
            <a:avLst/>
          </a:prstGeom>
          <a:solidFill>
            <a:srgbClr val="E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946624"/>
            <a:ext cx="2667000" cy="1390650"/>
          </a:xfrm>
          <a:prstGeom prst="roundRect">
            <a:avLst>
              <a:gd name="adj" fmla="val 16438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3352800" y="3946624"/>
            <a:ext cx="2667000" cy="1390650"/>
          </a:xfrm>
          <a:prstGeom prst="roundRect">
            <a:avLst>
              <a:gd name="adj" fmla="val 16438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72200" y="3946624"/>
            <a:ext cx="2667000" cy="1390650"/>
          </a:xfrm>
          <a:prstGeom prst="roundRect">
            <a:avLst>
              <a:gd name="adj" fmla="val 16438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991600" y="3946624"/>
            <a:ext cx="2667000" cy="1390650"/>
          </a:xfrm>
          <a:prstGeom prst="roundRect">
            <a:avLst>
              <a:gd name="adj" fmla="val 16438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52450" y="2350293"/>
            <a:ext cx="11087100" cy="9525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121693"/>
            <a:ext cx="123825" cy="12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PYTHON BOOTCAMP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Reading the error is the skill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2102643"/>
            <a:ext cx="3369468" cy="16192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B84322"/>
                </a:solidFill>
                <a:latin typeface="Fira Code"/>
              </a:rPr>
              <a:t>Traceback (most recent call last)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15550" y="2107406"/>
            <a:ext cx="1666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5C7065"/>
                </a:solidFill>
                <a:latin typeface="Fira Code"/>
              </a:rPr>
              <a:t>Read from the bottom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2493168"/>
            <a:ext cx="114300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fiber = avail[avail[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"Technology"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] ==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50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2719089"/>
            <a:ext cx="114300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D95D39"/>
                </a:solidFill>
                <a:latin typeface="Fira Code"/>
              </a:rPr>
              <a:t>KeyError: </a:t>
            </a:r>
            <a:r>
              <a:rPr sz="1050" b="1" i="0" u="none">
                <a:solidFill>
                  <a:srgbClr val="28593E"/>
                </a:solidFill>
                <a:latin typeface="Fira Code"/>
              </a:rPr>
              <a:t>'Technology'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170932"/>
            <a:ext cx="114300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5C7065"/>
                </a:solidFill>
                <a:latin typeface="Fira Code"/>
              </a:rPr>
              <a:t># Read from the BOTTOM: the last line names the problem. 'Technology' is not a column;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3396853"/>
            <a:ext cx="114300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5C7065"/>
                </a:solidFill>
                <a:latin typeface="Fira Code"/>
              </a:rPr>
              <a:t># columns are lowercase. Paste the last line + the cell into an LLM, read the explanation, fix it yourself.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375" y="4127599"/>
            <a:ext cx="252031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B84322"/>
                </a:solidFill>
                <a:latin typeface="Fira Code"/>
              </a:rPr>
              <a:t>NameError: 'df' is not defined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4375" y="4584799"/>
            <a:ext cx="24003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You skipped the cell that created it. Run cells top to bottom (Runtime → Run all).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33775" y="4127599"/>
            <a:ext cx="252031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2400E"/>
                </a:solidFill>
                <a:latin typeface="Fira Code"/>
              </a:rPr>
              <a:t>SyntaxError / IndentationError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33775" y="4584799"/>
            <a:ext cx="24003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A missing colon, bracket or quote — or a line indented differently from its neighbours.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3175" y="4127599"/>
            <a:ext cx="252031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28593E"/>
                </a:solidFill>
                <a:latin typeface="Fira Code"/>
              </a:rPr>
              <a:t>ValueError: truth value is ambiguous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3175" y="4584799"/>
            <a:ext cx="24003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Two conditions combined without parentheses. Write (a &gt; 1) &amp; (b &lt; 2).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2575" y="4127599"/>
            <a:ext cx="252031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D2D24"/>
                </a:solidFill>
                <a:latin typeface="Fira Code"/>
              </a:rPr>
              <a:t>TypeError: '&gt;=' between str and 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72575" y="4584799"/>
            <a:ext cx="24003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A column is text that should be a number — or the reverse. Check df.info().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997053"/>
            <a:ext cx="11125200" cy="419100"/>
          </a:xfrm>
          <a:prstGeom prst="roundRect">
            <a:avLst>
              <a:gd name="adj" fmla="val 50000"/>
            </a:avLst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086421"/>
            <a:ext cx="5448300" cy="2571750"/>
          </a:xfrm>
          <a:prstGeom prst="roundRect">
            <a:avLst>
              <a:gd name="adj" fmla="val 888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1918989"/>
            <a:ext cx="5448300" cy="2906613"/>
          </a:xfrm>
          <a:prstGeom prst="roundRect">
            <a:avLst>
              <a:gd name="adj" fmla="val 7864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57950" y="2985789"/>
            <a:ext cx="4953000" cy="944463"/>
          </a:xfrm>
          <a:prstGeom prst="roundRect">
            <a:avLst>
              <a:gd name="adj" fmla="val 14119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2295971"/>
            <a:ext cx="400050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7950" y="2128539"/>
            <a:ext cx="400050" cy="400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537" y="2400746"/>
            <a:ext cx="219075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2233314"/>
            <a:ext cx="190500" cy="190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PYTHON BOOTCAMP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Two habits that separate analysis from tinkering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5111353"/>
            <a:ext cx="16073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Fira Code"/>
              </a:rPr>
              <a:t>LIVE DEMO AHEAD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8950" y="5111353"/>
            <a:ext cx="91630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Nunito"/>
              </a:rPr>
              <a:t>both habits shown live in Colab in a moment — 01b_excel_to_pandas_demo.ipynb, on a trades table small enough to check by eye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2791271"/>
            <a:ext cx="6500812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D2D24"/>
                </a:solidFill>
                <a:latin typeface="Quicksand"/>
              </a:rPr>
              <a:t>1 · Look before you compute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" y="3172271"/>
            <a:ext cx="61912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B7A57"/>
                </a:solidFill>
                <a:latin typeface="Nunito"/>
              </a:rPr>
              <a:t>df.info()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— types and missing values. Are the codes text?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1050" y="3458021"/>
            <a:ext cx="61912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B7A57"/>
                </a:solidFill>
                <a:latin typeface="Nunito"/>
              </a:rPr>
              <a:t>df.head()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— does it look like what the documentation says?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050" y="3743771"/>
            <a:ext cx="50482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B7A57"/>
                </a:solidFill>
                <a:latin typeface="Nunito"/>
              </a:rPr>
              <a:t>df["brand_name"].value_counts()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— how many ways is the same thing spelled?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050" y="4239071"/>
            <a:ext cx="61912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B7A57"/>
                </a:solidFill>
                <a:latin typeface="Nunito"/>
              </a:rPr>
              <a:t>df.duplicated().sum()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— are there exact repeats, and why?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7950" y="2623839"/>
            <a:ext cx="57340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D2D24"/>
                </a:solidFill>
                <a:latin typeface="Quicksand"/>
              </a:rPr>
              <a:t>2 · Assumptions at the top, in capitals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7950" y="4044553"/>
            <a:ext cx="5048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Everything downstream refers to the name. When the partner asks 'what about 25/3?', you change one line, re-run, and the whole notebook — chart and Excel export included — updates. The change is visible, with a name.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3119139"/>
            <a:ext cx="55626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DOWN_MIN, UP_MIN =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100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3345060"/>
            <a:ext cx="55626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SATELLITE = {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60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61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3570982"/>
            <a:ext cx="55626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ARPU_MONTHLY =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75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372171"/>
            <a:ext cx="2333625" cy="857250"/>
          </a:xfrm>
          <a:prstGeom prst="roundRect">
            <a:avLst>
              <a:gd name="adj" fmla="val 26666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09925" y="2281683"/>
            <a:ext cx="2705100" cy="1038225"/>
          </a:xfrm>
          <a:prstGeom prst="roundRect">
            <a:avLst>
              <a:gd name="adj" fmla="val 22018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57925" y="2281683"/>
            <a:ext cx="2705100" cy="1038225"/>
          </a:xfrm>
          <a:prstGeom prst="roundRect">
            <a:avLst>
              <a:gd name="adj" fmla="val 22018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305925" y="2362646"/>
            <a:ext cx="2352675" cy="87630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3400" y="3796158"/>
            <a:ext cx="3388518" cy="104775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2418" y="3691383"/>
            <a:ext cx="3388518" cy="1257300"/>
          </a:xfrm>
          <a:prstGeom prst="roundRect">
            <a:avLst>
              <a:gd name="adj" fmla="val 18181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691437" y="3586608"/>
            <a:ext cx="3967162" cy="1466850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PYTHON BOOTCAMP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Python does not replace Excel — it feeds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0375" y="2619821"/>
            <a:ext cx="36195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8375" y="2619821"/>
            <a:ext cx="36195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6375" y="2619821"/>
            <a:ext cx="361950" cy="3619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3B7A57"/>
                </a:solidFill>
                <a:latin typeface="Nunito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310" y="2572196"/>
            <a:ext cx="243780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D2D24"/>
                </a:solidFill>
                <a:latin typeface="Quicksand"/>
              </a:rPr>
              <a:t>Raw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353" y="2848421"/>
            <a:ext cx="2321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5C7065"/>
                </a:solidFill>
                <a:latin typeface="Fira Code"/>
              </a:rPr>
              <a:t>(.csv.gz, API, database)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9792" y="2481708"/>
            <a:ext cx="292536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28593E"/>
                </a:solidFill>
                <a:latin typeface="Quicksand"/>
              </a:rPr>
              <a:t>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69443" y="2757933"/>
            <a:ext cx="278606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28593E"/>
                </a:solidFill>
                <a:latin typeface="Fira Code"/>
              </a:rPr>
              <a:t>clean · join · aggregate ·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47792" y="2481708"/>
            <a:ext cx="292536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92400E"/>
                </a:solidFill>
                <a:latin typeface="Quicksand"/>
              </a:rPr>
              <a:t>Excel workbook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443" y="2757933"/>
            <a:ext cx="2786062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2400E"/>
                </a:solidFill>
                <a:latin typeface="Fira Code"/>
              </a:rPr>
              <a:t>ranking · blocks · assumptions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3360" y="2572196"/>
            <a:ext cx="243780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1D2D24"/>
                </a:solidFill>
                <a:latin typeface="Quicksand"/>
              </a:rPr>
              <a:t>Partner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1403" y="2848421"/>
            <a:ext cx="2321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5C7065"/>
                </a:solidFill>
                <a:latin typeface="Nunito"/>
              </a:rPr>
              <a:t>opens Excel, never sees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050" y="4005708"/>
            <a:ext cx="2988468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The notebook is the engine and the audit trail.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Every step is visible, re-runnable, and diff-able.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60068" y="3900933"/>
            <a:ext cx="2988468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The workbook is the delivery format.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Partners, management teams and lenders live in Excel; that will not change this decade.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9087" y="3796158"/>
            <a:ext cx="3567112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Write the assumptions sheet from code.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</a:t>
            </a:r>
            <a:r>
              <a:rPr sz="1050" b="0" i="0" u="none">
                <a:solidFill>
                  <a:srgbClr val="3B7A57"/>
                </a:solidFill>
                <a:latin typeface="Nunito"/>
              </a:rPr>
              <a:t>with pd.ExcelWriter(...) as xw: county.to_excel(xw, "Ranking"); assumptions.to_excel(xw, "Assumptions")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— auditability for free.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81700" y="2286446"/>
            <a:ext cx="5676900" cy="2762250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020937"/>
            <a:ext cx="5181600" cy="2531268"/>
          </a:xfrm>
          <a:prstGeom prst="roundRect">
            <a:avLst>
              <a:gd name="adj" fmla="val 8278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4704605"/>
            <a:ext cx="5181600" cy="609600"/>
          </a:xfrm>
          <a:prstGeom prst="roundRect">
            <a:avLst>
              <a:gd name="adj" fmla="val 50000"/>
            </a:avLst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52450" y="2039987"/>
            <a:ext cx="5143500" cy="342900"/>
          </a:xfrm>
          <a:prstGeom prst="rect">
            <a:avLst/>
          </a:prstGeom>
          <a:solidFill>
            <a:srgbClr val="E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52450" y="2373362"/>
            <a:ext cx="5143500" cy="9525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144762"/>
            <a:ext cx="123825" cy="123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PYTHON BOOTCAMP · LIVE DEMO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Live demo · run along · the pivot and the lookup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29350" y="2495996"/>
            <a:ext cx="596265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B7A57"/>
                </a:solidFill>
                <a:latin typeface="Quicksand"/>
              </a:rPr>
              <a:t>Open it now — we build it together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9350" y="2896046"/>
            <a:ext cx="5276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Open 01b_excel_to_pandas_demo.ipynb in Colab and run each cell as it comes up on screen. The data is the five-position book from Lab B plus a reference table — small enough to check every number by eye.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9350" y="3658046"/>
            <a:ext cx="52768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We break both moves on purpose: a missing key, then a duplicated one. Excel fails these quietly; pandas fails them loudly. Loud is what you want.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29350" y="4210496"/>
            <a:ext cx="52768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D2D24"/>
                </a:solidFill>
                <a:latin typeface="Nunito"/>
              </a:rPr>
              <a:t>When the last cell has run, Lab C hands you the same moves on 236,549 FCC rows — where nobody can check by eye. That is the whole argument of the morning.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818905"/>
            <a:ext cx="1394966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Fira Code"/>
              </a:rPr>
              <a:t>LIVE DEMO · RUN ALONG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61716" y="4818905"/>
            <a:ext cx="2286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Nunito"/>
              </a:rPr>
              <a:t>01b_excel_to_pandas_demo.ipynb · run each cell as I do</a:t>
            </a:r>
          </a:p>
        </p:txBody>
      </p:sp>
      <p:sp>
        <p:nvSpPr>
          <p:cNvPr id="20" name="TextBox 19">
            <a:hlinkClick r:id="rId3"/>
          </p:cNvPr>
          <p:cNvSpPr txBox="1"/>
          <p:nvPr/>
        </p:nvSpPr>
        <p:spPr>
          <a:xfrm>
            <a:off x="4434840" y="4878324"/>
            <a:ext cx="1170432" cy="274320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>
            <a:noFill/>
          </a:ln>
          <a:effectLst>
            <a:outerShdw blurRad="50800" dist="25400" dir="5400000" rotWithShape="0">
              <a:srgbClr val="1A3A2A">
                <a:alpha val="40000"/>
              </a:srgbClr>
            </a:outerShdw>
          </a:effectLst>
        </p:spPr>
        <p:txBody>
          <a:bodyPr wrap="none" lIns="36576" tIns="0" rIns="36576" bIns="0" anchor="ctr" anchorCtr="0">
            <a:spAutoFit/>
          </a:bodyPr>
          <a:lstStyle/>
          <a:p>
            <a:pPr algn="ctr"/>
            <a:r>
              <a:rPr sz="900" b="1" i="0" u="none">
                <a:solidFill>
                  <a:srgbClr val="3B7A57"/>
                </a:solidFill>
                <a:latin typeface="Nunito"/>
              </a:rPr>
              <a:t>Open in Colab 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2125712"/>
            <a:ext cx="3083718" cy="16192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8593E"/>
                </a:solidFill>
                <a:latin typeface="Fira Code"/>
              </a:rPr>
              <a:t>01b_excel_to_pandas_demo.ipynb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5375" y="2130474"/>
            <a:ext cx="8858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5C7065"/>
                </a:solidFill>
                <a:latin typeface="Fira Code"/>
              </a:rPr>
              <a:t>Live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2554337"/>
            <a:ext cx="59055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5C7065"/>
                </a:solidFill>
                <a:latin typeface="Fira Code"/>
              </a:rPr>
              <a:t># notebooks → 01b_excel_to_pandas_demo.ipynb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3006179"/>
            <a:ext cx="59055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pivot = trades.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pivot_table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3232100"/>
            <a:ext cx="59055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index=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"ticker"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columns=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"side"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3458021"/>
            <a:ext cx="59055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values=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"notional"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aggfunc=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"sum"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3909863"/>
            <a:ext cx="59055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looked_up = summary.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merge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4135784"/>
            <a:ext cx="59055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ref, on=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"ticker"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how=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"left"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534346"/>
            <a:ext cx="11125200" cy="419100"/>
          </a:xfrm>
          <a:prstGeom prst="roundRect">
            <a:avLst>
              <a:gd name="adj" fmla="val 50000"/>
            </a:avLst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495996"/>
            <a:ext cx="5824388" cy="1733550"/>
          </a:xfrm>
          <a:prstGeom prst="roundRect">
            <a:avLst>
              <a:gd name="adj" fmla="val 13186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48288" y="2381696"/>
            <a:ext cx="5110311" cy="1962150"/>
          </a:xfrm>
          <a:prstGeom prst="roundRect">
            <a:avLst>
              <a:gd name="adj" fmla="val 11650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PYTHON BOOTCAMP · 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Lab C · 1:30 · 40 minutes — pandas on the FCC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648646"/>
            <a:ext cx="18216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Fira Code"/>
              </a:rPr>
              <a:t>LAB C · WORK SOLO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0575" y="4648646"/>
            <a:ext cx="41552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Nunito"/>
              </a:rPr>
              <a:t>01_python_bootcamp.ipynb · section Lab C · 40 min</a:t>
            </a:r>
          </a:p>
        </p:txBody>
      </p:sp>
      <p:sp>
        <p:nvSpPr>
          <p:cNvPr id="13" name="TextBox 12">
            <a:hlinkClick r:id="rId2"/>
          </p:cNvPr>
          <p:cNvSpPr txBox="1"/>
          <p:nvPr/>
        </p:nvSpPr>
        <p:spPr>
          <a:xfrm>
            <a:off x="10222992" y="4608576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>
            <a:noFill/>
          </a:ln>
          <a:effectLst>
            <a:outerShdw blurRad="50800" dist="25400" dir="5400000" rotWithShape="0">
              <a:srgbClr val="1A3A2A">
                <a:alpha val="40000"/>
              </a:srgbClr>
            </a:outerShdw>
          </a:effectLst>
        </p:spPr>
        <p:txBody>
          <a:bodyPr wrap="none" lIns="36576" tIns="0" rIns="36576" bIns="0" anchor="ctr" anchorCtr="0">
            <a:spAutoFit/>
          </a:bodyPr>
          <a:lstStyle/>
          <a:p>
            <a:pPr algn="ctr"/>
            <a:r>
              <a:rPr sz="1000" b="1" i="0" u="none">
                <a:solidFill>
                  <a:srgbClr val="3B7A57"/>
                </a:solidFill>
                <a:latin typeface="Nunito"/>
              </a:rPr>
              <a:t>Open in Colab 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2705546"/>
            <a:ext cx="6994428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B7A57"/>
                </a:solidFill>
                <a:latin typeface="Quicksand"/>
              </a:rPr>
              <a:t>Do (everyone)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050" y="3067496"/>
            <a:ext cx="5424338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Same notebook, section Lab C. Load the availability file, filter it, pivot providers by technology, clean the brand names (21 raw spellings → 7 providers), merge the technology codes, export bootcamp_sample.xlsx.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3810446"/>
            <a:ext cx="666136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7A57"/>
                </a:solidFill>
                <a:latin typeface="Nunito"/>
              </a:rPr>
              <a:t>Check-out: one sentence — what would have been painful in Excel?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6413" y="2581721"/>
            <a:ext cx="540558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D2D24"/>
                </a:solidFill>
                <a:latin typeface="Quicksand"/>
              </a:rPr>
              <a:t>Fast lane (optional)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6413" y="2943671"/>
            <a:ext cx="4729311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⚡ a bar chart of offers per technology; a served(df, down, up) function; the one-expression rebuild of the whole pipeline.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6413" y="3458021"/>
            <a:ext cx="540558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Then help a neighbour. Hands off their keyboard.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6413" y="3762821"/>
            <a:ext cx="4729311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B84322"/>
                </a:solidFill>
                <a:latin typeface="Nunito"/>
              </a:rPr>
              <a:t>Checkpoint, 2:10 — the brand-name pivot shows 7 providers, not 21, and bootcamp_sample.xlsx is downloaded. Then a short break.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381250" y="3919537"/>
            <a:ext cx="7429500" cy="14478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0250" y="1490662"/>
            <a:ext cx="571500" cy="571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1700" y="1662112"/>
            <a:ext cx="228600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52562" y="2252662"/>
            <a:ext cx="92868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B84322"/>
                </a:solidFill>
                <a:latin typeface="Fira Code"/>
              </a:rPr>
              <a:t>DAY 1 · 2:10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0390" y="2490787"/>
            <a:ext cx="9751218" cy="762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1D2D24"/>
                </a:solidFill>
                <a:latin typeface="Quicksand"/>
              </a:rPr>
              <a:t>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52562" y="3367087"/>
            <a:ext cx="92868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3B7A57"/>
                </a:solidFill>
                <a:latin typeface="Nunito"/>
              </a:rPr>
              <a:t>Back at 2:25 — data management, then straight into Case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9750" y="4148137"/>
            <a:ext cx="8572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D2D24"/>
                </a:solidFill>
                <a:latin typeface="Nunito"/>
              </a:rPr>
              <a:t>The bootcamp is done: three talks, three labs, bootcamp_sample.xlsx on your machine.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96363" y="4681537"/>
            <a:ext cx="6634716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3F5247"/>
                </a:solidFill>
                <a:latin typeface="Nunito"/>
              </a:rPr>
              <a:t>After the break the afternoon runs uninterrupted — a 20-minute data-management talk, then Case 1, the main event of the day.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295775"/>
            <a:ext cx="9144000" cy="1266825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295400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62" y="1476375"/>
            <a:ext cx="219075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133600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7A57"/>
                </a:solidFill>
                <a:latin typeface="Fira Code"/>
              </a:rPr>
              <a:t>SECTION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390775"/>
            <a:ext cx="9701212" cy="1200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50" b="1" i="0" u="none">
                <a:solidFill>
                  <a:srgbClr val="1D2D24"/>
                </a:solidFill>
                <a:latin typeface="Quicksand"/>
              </a:rPr>
              <a:t>Data management &amp; financial data considerations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743325"/>
            <a:ext cx="11430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B7A57"/>
                </a:solidFill>
                <a:latin typeface="Fira Code"/>
              </a:rPr>
              <a:t>20-minute talk (2:25–2:45) · leads straight into Case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4543425"/>
            <a:ext cx="10715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5D39"/>
                </a:solidFill>
                <a:latin typeface="Fira Code"/>
              </a:rPr>
              <a:t>BY THE END OF THIS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4800600"/>
            <a:ext cx="866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Nunito"/>
              </a:rPr>
              <a:t>Treat data hygiene as analysis, not overhead · Name the exact places Excel breaks — and where it is still the right tool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290762"/>
            <a:ext cx="2652712" cy="2753469"/>
          </a:xfrm>
          <a:prstGeom prst="roundRect">
            <a:avLst>
              <a:gd name="adj" fmla="val 8617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57562" y="2392263"/>
            <a:ext cx="2652712" cy="2550616"/>
          </a:xfrm>
          <a:prstGeom prst="roundRect">
            <a:avLst>
              <a:gd name="adj" fmla="val 8962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81725" y="2268438"/>
            <a:ext cx="2652712" cy="2798266"/>
          </a:xfrm>
          <a:prstGeom prst="roundRect">
            <a:avLst>
              <a:gd name="adj" fmla="val 8617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05887" y="2493615"/>
            <a:ext cx="2652712" cy="2347763"/>
          </a:xfrm>
          <a:prstGeom prst="roundRect">
            <a:avLst>
              <a:gd name="adj" fmla="val 9736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19362"/>
            <a:ext cx="419100" cy="4191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6162" y="2620863"/>
            <a:ext cx="419100" cy="4191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325" y="2497038"/>
            <a:ext cx="419100" cy="4191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4487" y="2722215"/>
            <a:ext cx="419100" cy="4191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2" y="2633662"/>
            <a:ext cx="14287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8562" y="2735163"/>
            <a:ext cx="1143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24625" y="2611338"/>
            <a:ext cx="19050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48787" y="2836515"/>
            <a:ext cx="19050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DATA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Where financial data comes from — and what each one lies about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28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052762"/>
            <a:ext cx="288161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Filings &amp; disclosures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3395662"/>
            <a:ext cx="2290762" cy="1419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SEC EDGAR, offering memoranda, lender reports. Authoritative but formatted for lawyers: tables change shape year to year, footnotes hold the real numbers, restatements rewrite history.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6162" y="3154263"/>
            <a:ext cx="288161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Vendors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6162" y="3497163"/>
            <a:ext cx="2290762" cy="1217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Bloomberg, CapIQ, PitchBook, Placer, credit-card panels. Clean and fast, but the cleaning is invisible: mappings, survivorship, ticker changes and 'estimates' silently filled.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0325" y="3030438"/>
            <a:ext cx="2405300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Government open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0325" y="3620988"/>
            <a:ext cx="2290762" cy="12171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FCC, Census, BLS, FRED, CMS. Free, huge, documented — and revised. Vintages differ; challenged records vanish retroactively; codes need a codebook.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4487" y="3255615"/>
            <a:ext cx="288161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Scraped &amp; fed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4487" y="3598515"/>
            <a:ext cx="2290762" cy="10142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sz="1125" b="0" i="0" u="none">
                <a:solidFill>
                  <a:srgbClr val="3F5247"/>
                </a:solidFill>
                <a:latin typeface="Nunito"/>
              </a:rPr>
              <a:t>News RSS, job postings, app reviews, web traffic. Timely and unstructured. Duplicates, name collisions and format drift are the norm, not the exception.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3355181"/>
            <a:ext cx="11125200" cy="1434405"/>
          </a:xfrm>
          <a:prstGeom prst="roundRect">
            <a:avLst>
              <a:gd name="adj" fmla="val 14608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4941986"/>
            <a:ext cx="11125200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1669256"/>
            <a:ext cx="3581400" cy="1533525"/>
          </a:xfrm>
          <a:prstGeom prst="roundRect">
            <a:avLst>
              <a:gd name="adj" fmla="val 14906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05300" y="1764506"/>
            <a:ext cx="3581400" cy="1343025"/>
          </a:xfrm>
          <a:prstGeom prst="roundRect">
            <a:avLst>
              <a:gd name="adj" fmla="val 17021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77200" y="1764506"/>
            <a:ext cx="3581400" cy="1343025"/>
          </a:xfrm>
          <a:prstGeom prst="roundRect">
            <a:avLst>
              <a:gd name="adj" fmla="val 17021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DATA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Case in point: the FCC Broadband Data Collection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29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5094386"/>
            <a:ext cx="108013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Download by state and technology at </a:t>
            </a:r>
            <a:r>
              <a:rPr sz="1200" b="0" i="0" u="none">
                <a:solidFill>
                  <a:srgbClr val="3B7A57"/>
                </a:solidFill>
                <a:latin typeface="Nunito"/>
              </a:rPr>
              <a:t>broadbandmap.fcc.gov/data-download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. Our classroom extract keeps the exact schema at 236,549 rows so today's code runs unchanged on the real files.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1869281"/>
            <a:ext cx="3881437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28593E"/>
                </a:solidFill>
                <a:latin typeface="Quicksand"/>
              </a:rPr>
              <a:t>100M+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525" y="2431256"/>
            <a:ext cx="3200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rows in the national fixed-availability data — 'hundreds of millions of records, tens of gigabytes' (NSF analysis guide)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3425" y="1964531"/>
            <a:ext cx="3881437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B84322"/>
                </a:solidFill>
                <a:latin typeface="Quicksand"/>
              </a:rPr>
              <a:t>2× / year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3425" y="2526506"/>
            <a:ext cx="3200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vintages (June and December filings); challenged records can be removed retroactively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5325" y="1964531"/>
            <a:ext cx="3876675" cy="504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150" b="1" i="0" u="none">
                <a:solidFill>
                  <a:srgbClr val="1D2D24"/>
                </a:solidFill>
                <a:latin typeface="Quicksand"/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2526506"/>
            <a:ext cx="32004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columns per row: provider × location × technology, with advertised speeds and latency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3507581"/>
            <a:ext cx="114300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3B7A57"/>
                </a:solidFill>
                <a:latin typeface="Fira Code"/>
              </a:rPr>
              <a:t>frn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·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provider_id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·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brand_name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·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location_id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·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technology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3733502"/>
            <a:ext cx="114300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3B7A57"/>
                </a:solidFill>
                <a:latin typeface="Fira Code"/>
              </a:rPr>
              <a:t>max_advertised_download_speed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·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max_advertised_upload_speed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3959423"/>
            <a:ext cx="114300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3B7A57"/>
                </a:solidFill>
                <a:latin typeface="Fira Code"/>
              </a:rPr>
              <a:t>low_latency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·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business_residential_code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·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state_usps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·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block_geoid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·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h3_res8_id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411265"/>
            <a:ext cx="114300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5C7065"/>
                </a:solidFill>
                <a:latin typeface="Fira Code"/>
              </a:rPr>
              <a:t>technology: 10 copper · 40 cable · 50 fiber · 60/61 satellite · 70/71/72 fixed wireless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489400"/>
            <a:ext cx="11125200" cy="756642"/>
          </a:xfrm>
          <a:prstGeom prst="roundRect">
            <a:avLst>
              <a:gd name="adj" fmla="val 27694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2451050"/>
            <a:ext cx="2248197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81597" y="2451050"/>
            <a:ext cx="2157710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39307" y="2451050"/>
            <a:ext cx="2997696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937003" y="2451050"/>
            <a:ext cx="3721596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836812"/>
            <a:ext cx="2248197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81597" y="2836812"/>
            <a:ext cx="2157710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939307" y="2836812"/>
            <a:ext cx="299769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37003" y="2836812"/>
            <a:ext cx="372159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3208287"/>
            <a:ext cx="2248197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81597" y="3208287"/>
            <a:ext cx="2157710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939307" y="3208287"/>
            <a:ext cx="299769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37003" y="3208287"/>
            <a:ext cx="372159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3579762"/>
            <a:ext cx="2248197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781597" y="3579762"/>
            <a:ext cx="2157710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939307" y="3579762"/>
            <a:ext cx="299769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937003" y="3579762"/>
            <a:ext cx="372159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3951237"/>
            <a:ext cx="2248197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781597" y="3951237"/>
            <a:ext cx="2157710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939307" y="3951237"/>
            <a:ext cx="299769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937003" y="3951237"/>
            <a:ext cx="372159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33400" y="4322712"/>
            <a:ext cx="2248197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81597" y="4322712"/>
            <a:ext cx="2157710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939307" y="4322712"/>
            <a:ext cx="299769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937003" y="4322712"/>
            <a:ext cx="3721596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33400" y="2089100"/>
            <a:ext cx="11125200" cy="22479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33400" y="2089100"/>
          <a:ext cx="11125199" cy="2247900"/>
        </p:xfrm>
        <a:graphic>
          <a:graphicData uri="http://schemas.openxmlformats.org/drawingml/2006/table">
            <a:tbl>
              <a:tblPr/>
              <a:tblGrid>
                <a:gridCol w="2248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7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97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15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D2D24"/>
                          </a:solidFill>
                          <a:latin typeface="Quicksand"/>
                        </a:rPr>
                        <a:t>Field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D2D24"/>
                          </a:solidFill>
                          <a:latin typeface="Quicksand"/>
                        </a:rPr>
                        <a:t>Looks like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D2D24"/>
                          </a:solidFill>
                          <a:latin typeface="Quicksand"/>
                        </a:rPr>
                        <a:t>Read as a number becomes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1D2D24"/>
                          </a:solidFill>
                          <a:latin typeface="Quicksand"/>
                        </a:rPr>
                        <a:t>Consequence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F5247"/>
                          </a:solidFill>
                          <a:latin typeface="Nunito"/>
                        </a:rPr>
                        <a:t>FCC FRN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B7A57"/>
                          </a:solidFill>
                          <a:latin typeface="Fira Code"/>
                        </a:rPr>
                        <a:t>0031200001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95D39"/>
                          </a:solidFill>
                          <a:latin typeface="Fira Code"/>
                        </a:rPr>
                        <a:t>31200001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join to the provider table fails silently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F5247"/>
                          </a:solidFill>
                          <a:latin typeface="Nunito"/>
                        </a:rPr>
                        <a:t>Census block GEOID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B7A57"/>
                          </a:solidFill>
                          <a:latin typeface="Fira Code"/>
                        </a:rPr>
                        <a:t>170310243001062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95D39"/>
                          </a:solidFill>
                          <a:latin typeface="Fira Code"/>
                        </a:rPr>
                        <a:t>1.7031E+14 (Excel)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precision lost; blocks merge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F5247"/>
                          </a:solidFill>
                          <a:latin typeface="Nunito"/>
                        </a:rPr>
                        <a:t>ZIP code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B7A57"/>
                          </a:solidFill>
                          <a:latin typeface="Fira Code"/>
                        </a:rPr>
                        <a:t>02138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95D39"/>
                          </a:solidFill>
                          <a:latin typeface="Fira Code"/>
                        </a:rPr>
                        <a:t>2138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geocoding puts Cambridge in Georgia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F5247"/>
                          </a:solidFill>
                          <a:latin typeface="Nunito"/>
                        </a:rPr>
                        <a:t>CUSIP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B7A57"/>
                          </a:solidFill>
                          <a:latin typeface="Fira Code"/>
                        </a:rPr>
                        <a:t>037833100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95D39"/>
                          </a:solidFill>
                          <a:latin typeface="Fira Code"/>
                        </a:rPr>
                        <a:t>37833100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security lookups miss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F5247"/>
                          </a:solidFill>
                          <a:latin typeface="Nunito"/>
                        </a:rPr>
                        <a:t>Account / ticket IDs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B7A57"/>
                          </a:solidFill>
                          <a:latin typeface="Fira Code"/>
                        </a:rPr>
                        <a:t>000482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D95D39"/>
                          </a:solidFill>
                          <a:latin typeface="Fira Code"/>
                        </a:rPr>
                        <a:t>482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F5247"/>
                          </a:solidFill>
                          <a:latin typeface="Nunito"/>
                        </a:rPr>
                        <a:t>duplicates appear where none existed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DATA MANAGEMENT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Codes are not numbers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2000" y="4641800"/>
            <a:ext cx="114300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avail = pd.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read_csv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(path, dtype={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"frn"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: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str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"block_geoid"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: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str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"h3_res8_id"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: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str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})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2000" y="4867721"/>
            <a:ext cx="11430000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5C7065"/>
                </a:solidFill>
                <a:latin typeface="Fira Code"/>
              </a:rPr>
              <a:t># Rule: anything you would never add up is text. Say so on the way in.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1943546"/>
            <a:ext cx="5946278" cy="87630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934146"/>
            <a:ext cx="5946278" cy="87630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924746"/>
            <a:ext cx="5946278" cy="6858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4724846"/>
            <a:ext cx="5946278" cy="666750"/>
          </a:xfrm>
          <a:prstGeom prst="roundRect">
            <a:avLst>
              <a:gd name="adj" fmla="val 34285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746378" y="1950094"/>
            <a:ext cx="4912221" cy="3434953"/>
          </a:xfrm>
          <a:prstGeom prst="roundRect">
            <a:avLst>
              <a:gd name="adj" fmla="val 6100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765428" y="1969144"/>
            <a:ext cx="4874121" cy="342900"/>
          </a:xfrm>
          <a:prstGeom prst="rect">
            <a:avLst/>
          </a:prstGeom>
          <a:solidFill>
            <a:srgbClr val="E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765428" y="2302519"/>
            <a:ext cx="4874121" cy="9525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928" y="2073919"/>
            <a:ext cx="123825" cy="12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DATA MANAGEMENT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Duplicates, casing, and other honest mistakes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31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900" y="2095946"/>
            <a:ext cx="5660528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F5247"/>
                </a:solidFill>
                <a:latin typeface="Nunito"/>
              </a:rPr>
              <a:t>Exact duplicates (≈1% of our rows).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Real cause in BDC data: providers refile a location across submissions. Real cause in your future: two exports appended. Count them before dropping — the count is a finding.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900" y="3086546"/>
            <a:ext cx="5660528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F5247"/>
                </a:solidFill>
                <a:latin typeface="Nunito"/>
              </a:rPr>
              <a:t>Inconsistent names (≈2%).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"Prairie Fiber", "PRAIRIE FIBER", "Prairie Fiber ". A pivot shows 21 providers instead of 7. TRIM+PROPER by hand in Excel; three chained methods in pandas — once, for every run.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900" y="4077146"/>
            <a:ext cx="5660528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F5247"/>
                </a:solidFill>
                <a:latin typeface="Nunito"/>
              </a:rPr>
              <a:t>Missing values.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Blank ≠ zero. df.info() shows non-null counts; decide explicitly with fillna() and write down why.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4375" y="4867721"/>
            <a:ext cx="5679578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D2D24"/>
                </a:solidFill>
                <a:latin typeface="Nunito"/>
              </a:rPr>
              <a:t>Impossible values.</a:t>
            </a:r>
            <a:r>
              <a:rPr sz="1125" b="0" i="0" u="none">
                <a:solidFill>
                  <a:srgbClr val="1D2D24"/>
                </a:solidFill>
                <a:latin typeface="Nunito"/>
              </a:rPr>
              <a:t> Upload faster than download; negative units; dates in the future. A one-line assert catches them every run: assert (df.up &lt;= df.down).all().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5928" y="2054869"/>
            <a:ext cx="1654968" cy="16192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8593E"/>
                </a:solidFill>
                <a:latin typeface="Fira Code"/>
              </a:rPr>
              <a:t>clean_brands.py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2300" y="2059632"/>
            <a:ext cx="952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5C7065"/>
                </a:solidFill>
                <a:latin typeface="Fira Code"/>
              </a:rPr>
              <a:t>Colab cell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4978" y="2483494"/>
            <a:ext cx="52170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n0 =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len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(avail)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4978" y="2709416"/>
            <a:ext cx="52170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avail = avail.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drop_duplicates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74978" y="3161258"/>
            <a:ext cx="52170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fixes = {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"Midstate Cable"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: 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"MidState Cable"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74978" y="3387179"/>
            <a:ext cx="52170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     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"Heritagetel"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: 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"HeritageTel"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4978" y="3613100"/>
            <a:ext cx="52170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avail[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"brand_name"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] = (avail[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"brand_name"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74978" y="3839021"/>
            <a:ext cx="52170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                   .str.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strip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74978" y="4064942"/>
            <a:ext cx="52170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                   .str.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title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4978" y="4290863"/>
            <a:ext cx="52170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                   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replace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(fixes))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74978" y="4742705"/>
            <a:ext cx="52170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3B7A57"/>
                </a:solidFill>
                <a:latin typeface="Fira Code"/>
              </a:rPr>
              <a:t>print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f"dropped {n0 - len(avail):,} dups"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74978" y="4968626"/>
            <a:ext cx="52170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5C7065"/>
                </a:solidFill>
                <a:latin typeface="Fira Code"/>
              </a:rPr>
              <a:t># dropped 2,342 dups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935735"/>
            <a:ext cx="11125200" cy="530721"/>
          </a:xfrm>
          <a:prstGeom prst="roundRect">
            <a:avLst>
              <a:gd name="adj" fmla="val 39484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1868685"/>
            <a:ext cx="5476875" cy="1362075"/>
          </a:xfrm>
          <a:prstGeom prst="roundRect">
            <a:avLst>
              <a:gd name="adj" fmla="val 16783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81725" y="1868685"/>
            <a:ext cx="5476875" cy="1362075"/>
          </a:xfrm>
          <a:prstGeom prst="roundRect">
            <a:avLst>
              <a:gd name="adj" fmla="val 16783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3506985"/>
            <a:ext cx="5476875" cy="1152525"/>
          </a:xfrm>
          <a:prstGeom prst="roundRect">
            <a:avLst>
              <a:gd name="adj" fmla="val 19834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81725" y="3402210"/>
            <a:ext cx="5476875" cy="1362075"/>
          </a:xfrm>
          <a:prstGeom prst="roundRect">
            <a:avLst>
              <a:gd name="adj" fmla="val 16783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DATA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Definitions are decisions — make them parameters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50" y="2078235"/>
            <a:ext cx="653831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7A57"/>
                </a:solidFill>
                <a:latin typeface="Quicksand"/>
              </a:rPr>
              <a:t>What counts as 'served'?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050" y="2392560"/>
            <a:ext cx="50768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25/3 Mbps was the FCC benchmark for years; 100/20 is the BEAD programme's threshold. The whitespace map changes materially between them.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2078235"/>
            <a:ext cx="57626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7A57"/>
                </a:solidFill>
                <a:latin typeface="Quicksand"/>
              </a:rPr>
              <a:t>Does satellite count as competition?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2392560"/>
            <a:ext cx="50768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Low-earth-orbit satellite advertises 100/20 almost everywhere. Include it and there is no whitespace; exclude it and you must defend why. Both numbers belong in the memo.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50" y="3716535"/>
            <a:ext cx="6538317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7A57"/>
                </a:solidFill>
                <a:latin typeface="Quicksand"/>
              </a:rPr>
              <a:t>Residential, business, or both?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4030860"/>
            <a:ext cx="50768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business_residential_code R / B / X. A fiber offer to a strip mall is not a competitor for a subdivision.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9375" y="3611760"/>
            <a:ext cx="57626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B7A57"/>
                </a:solidFill>
                <a:latin typeface="Quicksand"/>
              </a:rPr>
              <a:t>Adjacent to what?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9375" y="3926085"/>
            <a:ext cx="50768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County? Drive time? Fiber route? Today: county relation (core / adjacent / outer). In a real diligence this is a map, and the definition is half the argument.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-273843" y="5088135"/>
            <a:ext cx="12739687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DOWN_MIN, UP_MIN =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100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20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     SATELLITE = {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60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61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}      MAX_COMPETITORS =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1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     ARPU_MONTHLY = 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75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1953071"/>
            <a:ext cx="11125200" cy="200025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4143821"/>
            <a:ext cx="3594050" cy="1238250"/>
          </a:xfrm>
          <a:prstGeom prst="roundRect">
            <a:avLst>
              <a:gd name="adj" fmla="val 18461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298900" y="4143821"/>
            <a:ext cx="3594050" cy="1238250"/>
          </a:xfrm>
          <a:prstGeom prst="roundRect">
            <a:avLst>
              <a:gd name="adj" fmla="val 18461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64400" y="4143821"/>
            <a:ext cx="3594050" cy="1238250"/>
          </a:xfrm>
          <a:prstGeom prst="roundRect">
            <a:avLst>
              <a:gd name="adj" fmla="val 18461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19150" y="2448371"/>
            <a:ext cx="10553700" cy="133350"/>
          </a:xfrm>
          <a:prstGeom prst="roundRect">
            <a:avLst>
              <a:gd name="adj" fmla="val 50000"/>
            </a:avLst>
          </a:prstGeom>
          <a:solidFill>
            <a:srgbClr val="E6F2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19150" y="2981771"/>
            <a:ext cx="10553700" cy="133350"/>
          </a:xfrm>
          <a:prstGeom prst="roundRect">
            <a:avLst>
              <a:gd name="adj" fmla="val 50000"/>
            </a:avLst>
          </a:prstGeom>
          <a:solidFill>
            <a:srgbClr val="D95D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19150" y="2448371"/>
            <a:ext cx="2321718" cy="133350"/>
          </a:xfrm>
          <a:prstGeom prst="roundRect">
            <a:avLst>
              <a:gd name="adj" fmla="val 50000"/>
            </a:avLst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Where Excel breaks: rows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33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9150" y="3267521"/>
            <a:ext cx="106489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B84322"/>
                </a:solidFill>
                <a:latin typeface="Nunito"/>
              </a:rPr>
              <a:t>Off the chart: the national BDC availability file — 'hundreds of millions of records, tens of gigabytes'. At this scale the bar would be 20 metres wide.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4343846"/>
            <a:ext cx="3213050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1,048,576 rows, 16,384 columns.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Above that Excel loads what fits and shows a warning dialog. The analysis proceeds on a truncated file and nobody notices.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7025" y="4343846"/>
            <a:ext cx="3213050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Long before the limit: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COUNTIFS across 200,000 rows and a 60,000-row lookup runs for minutes and recalculates on every keystroke.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525" y="4343846"/>
            <a:ext cx="3213050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D2D24"/>
                </a:solidFill>
                <a:latin typeface="Nunito"/>
              </a:rPr>
              <a:t>Live demo:</a:t>
            </a:r>
            <a:r>
              <a:rPr sz="1200" b="0" i="0" u="none">
                <a:solidFill>
                  <a:srgbClr val="1D2D24"/>
                </a:solidFill>
                <a:latin typeface="Nunito"/>
              </a:rPr>
              <a:t> </a:t>
            </a:r>
            <a:r>
              <a:rPr sz="1050" b="0" i="0" u="none">
                <a:solidFill>
                  <a:srgbClr val="1D2D24"/>
                </a:solidFill>
                <a:latin typeface="Nunito"/>
              </a:rPr>
              <a:t>python build/generate_fcc_data.py --scale 20</a:t>
            </a:r>
            <a:r>
              <a:rPr sz="1200" b="0" i="0" u="none">
                <a:solidFill>
                  <a:srgbClr val="1D2D24"/>
                </a:solidFill>
                <a:latin typeface="Nunito"/>
              </a:rPr>
              <a:t> → 4.7M rows. Open it in Excel. Read the dialog out loud.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" y="2200721"/>
            <a:ext cx="284559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D2D24"/>
                </a:solidFill>
                <a:latin typeface="Nunito"/>
              </a:rPr>
              <a:t>Classroom sample (236,549 rows)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2200721"/>
            <a:ext cx="1928812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B7A57"/>
                </a:solidFill>
                <a:latin typeface="Fira Code"/>
              </a:rPr>
              <a:t>22% of Excel limit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" y="2734121"/>
            <a:ext cx="29408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D2D24"/>
                </a:solidFill>
                <a:latin typeface="Nunito"/>
              </a:rPr>
              <a:t>Excel hard ceiling (1,048,576 rows)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15675" y="2734121"/>
            <a:ext cx="5429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D95D39"/>
                </a:solidFill>
                <a:latin typeface="Fira Code"/>
              </a:rPr>
              <a:t>MAX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962971"/>
            <a:ext cx="11125200" cy="762000"/>
          </a:xfrm>
          <a:prstGeom prst="roundRect">
            <a:avLst>
              <a:gd name="adj" fmla="val 30000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1610171"/>
            <a:ext cx="5448300" cy="3181350"/>
          </a:xfrm>
          <a:prstGeom prst="roundRect">
            <a:avLst>
              <a:gd name="adj" fmla="val 718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210300" y="1629221"/>
            <a:ext cx="5448300" cy="314325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050" y="1819721"/>
            <a:ext cx="400050" cy="4000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7950" y="1838771"/>
            <a:ext cx="400050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825" y="1924496"/>
            <a:ext cx="19050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1943546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DATA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Where Excel breaks: two famous spreadsheets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-279796" y="5124896"/>
            <a:ext cx="12751593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75" b="1" i="0" u="none">
                <a:solidFill>
                  <a:srgbClr val="B84322"/>
                </a:solidFill>
                <a:latin typeface="Nunito"/>
              </a:rPr>
              <a:t>Neither failure was a Python-vs-Excel failure. Both were process failures Excel makes easy: hidden ranges, manual copy-paste, no diff, no test.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050" y="2315021"/>
            <a:ext cx="5300662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Reinhart &amp; Rogoff, 'Growth in a Time of Debt' (2010)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050" y="2924621"/>
            <a:ext cx="50482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Widely cited finding: growth falls sharply when public debt exceeds 90% of GDP.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050" y="3438971"/>
            <a:ext cx="5048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In 2013 Herndon, Ash and Pollin obtained the spreadsheet: an averaging formula's range omitted five countries, alongside other weighting choices.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050" y="4162871"/>
            <a:ext cx="50482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Corrected, the headline gap shrank substantially. The error was invisible in the published table and found only because the file was shared.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7950" y="2334071"/>
            <a:ext cx="573405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JPMorgan CIO 'London Whale' (2012)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7950" y="2696021"/>
            <a:ext cx="5048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The bank's 2013 task-force report describes a new VaR model run through Excel spreadsheets completed manually by copying and pasting between files.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7950" y="3419921"/>
            <a:ext cx="50482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A formula divided by the sum of two rates rather than their average, understating volatility — and therefore risk — while losses grew past $6 billion.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7950" y="4143821"/>
            <a:ext cx="50482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No test, no review, no version history: the three things the last hour of today is about.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341959"/>
            <a:ext cx="5429250" cy="2651224"/>
          </a:xfrm>
          <a:prstGeom prst="roundRect">
            <a:avLst>
              <a:gd name="adj" fmla="val 8622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2341959"/>
            <a:ext cx="5429250" cy="2651224"/>
          </a:xfrm>
          <a:prstGeom prst="roundRect">
            <a:avLst>
              <a:gd name="adj" fmla="val 8622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DATA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Provenance: a notebook is an audit trail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35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618184"/>
            <a:ext cx="64008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B84322"/>
                </a:solidFill>
                <a:latin typeface="Quicksand"/>
              </a:rPr>
              <a:t>The workbook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05575" y="2618184"/>
            <a:ext cx="5686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8593E"/>
                </a:solidFill>
                <a:latin typeface="Quicksand"/>
              </a:rPr>
              <a:t>The notebook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3058239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0125" y="3056334"/>
            <a:ext cx="5857875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F5247"/>
                </a:solidFill>
                <a:latin typeface="Nunito"/>
              </a:rPr>
              <a:t>Where did this number come from?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Trace precedents, tab by tab.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366760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125" y="3364855"/>
            <a:ext cx="4781550" cy="426541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F5247"/>
                </a:solidFill>
                <a:latin typeface="Nunito"/>
              </a:rPr>
              <a:t>Which assumption changed between v11 and v12?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Open both, compare by eye.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3888551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0125" y="3886646"/>
            <a:ext cx="4781550" cy="426541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F5247"/>
                </a:solidFill>
                <a:latin typeface="Nunito"/>
              </a:rPr>
              <a:t>Can we re-run it with December data?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Re-paste 200,000 rows and hope the ranges hold.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4410342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125" y="4408437"/>
            <a:ext cx="5857875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F5247"/>
                </a:solidFill>
                <a:latin typeface="Nunito"/>
              </a:rPr>
              <a:t>Who changed F47, when, and why?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Nobody knows.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9875" y="3058239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075" y="3056334"/>
            <a:ext cx="5495925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F5247"/>
                </a:solidFill>
                <a:latin typeface="Nunito"/>
              </a:rPr>
              <a:t>Where did this number come from?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Read the cell above it.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19875" y="3366760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6075" y="3364855"/>
            <a:ext cx="5495925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F5247"/>
                </a:solidFill>
                <a:latin typeface="Nunito"/>
              </a:rPr>
              <a:t>What changed?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git diff shows the exact line.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9875" y="3675280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6075" y="3673375"/>
            <a:ext cx="4781550" cy="426541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F5247"/>
                </a:solidFill>
                <a:latin typeface="Nunito"/>
              </a:rPr>
              <a:t>Re-run with December data?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Change the file path; Runtime → Run all; 40 seconds.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19875" y="4197072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6075" y="4195167"/>
            <a:ext cx="4781550" cy="426541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F5247"/>
                </a:solidFill>
                <a:latin typeface="Nunito"/>
              </a:rPr>
              <a:t>Who, when, why?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The commit message — if you wrote a good one (4:20 today).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1834008"/>
            <a:ext cx="3594050" cy="1628775"/>
          </a:xfrm>
          <a:prstGeom prst="roundRect">
            <a:avLst>
              <a:gd name="adj" fmla="val 14035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98900" y="1834008"/>
            <a:ext cx="3594050" cy="1628775"/>
          </a:xfrm>
          <a:prstGeom prst="roundRect">
            <a:avLst>
              <a:gd name="adj" fmla="val 14035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64400" y="1834008"/>
            <a:ext cx="3594050" cy="1628775"/>
          </a:xfrm>
          <a:prstGeom prst="roundRect">
            <a:avLst>
              <a:gd name="adj" fmla="val 14035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3400" y="3753296"/>
            <a:ext cx="3594050" cy="1628775"/>
          </a:xfrm>
          <a:prstGeom prst="roundRect">
            <a:avLst>
              <a:gd name="adj" fmla="val 14035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98900" y="3848546"/>
            <a:ext cx="3594050" cy="1438275"/>
          </a:xfrm>
          <a:prstGeom prst="roundRect">
            <a:avLst>
              <a:gd name="adj" fmla="val 15894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64400" y="3634233"/>
            <a:ext cx="3594050" cy="1866900"/>
          </a:xfrm>
          <a:prstGeom prst="roundRect">
            <a:avLst>
              <a:gd name="adj" fmla="val 12244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25" y="2062608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8925" y="2062608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4425" y="2062608"/>
            <a:ext cx="209550" cy="20955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3981896"/>
            <a:ext cx="20955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925" y="4077146"/>
            <a:ext cx="20955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425" y="3862833"/>
            <a:ext cx="209550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DATA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When Excel is still the right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36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425" y="2395983"/>
            <a:ext cx="41921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Quicksand"/>
              </a:rPr>
              <a:t>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425" y="2691258"/>
            <a:ext cx="3289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The partner, the management team, the lender and the auditor read Excel. Produce it from code; deliver it as .xlsx.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925" y="2395983"/>
            <a:ext cx="41921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Quicksand"/>
              </a:rPr>
              <a:t>Small, one-off, exploratory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925" y="2691258"/>
            <a:ext cx="3289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Twenty numbers from a CIM, a quick back-of-envelope, a chart for a Tuesday call. Opening a notebook would be ceremony.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64425" y="2395983"/>
            <a:ext cx="392757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Quicksand"/>
              </a:rPr>
              <a:t>Hand-tuned layouts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4425" y="2691258"/>
            <a:ext cx="3289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A model whose value is its formatting and cell-by-cell narrative — an LBO tab someone will present live.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425" y="4315271"/>
            <a:ext cx="41921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Quicksand"/>
              </a:rPr>
              <a:t>Not: anything you will run twice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425" y="4610546"/>
            <a:ext cx="3289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If the same analysis must be repeated with new data or new assumptions, the second run in Excel already cost more than learning the pandas.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925" y="4410521"/>
            <a:ext cx="41921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Quicksand"/>
              </a:rPr>
              <a:t>Not: anything over ~100k rows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925" y="4705796"/>
            <a:ext cx="32892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Or with joins across several tables. Not because Excel can't — because you can't check it.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4425" y="4196208"/>
            <a:ext cx="3453712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Quicksand"/>
              </a:rPr>
              <a:t>Not: anything that must be audited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64425" y="4729608"/>
            <a:ext cx="3289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F5247"/>
                </a:solidFill>
                <a:latin typeface="Nunito"/>
              </a:rPr>
              <a:t>Regulatory, fund reporting, anything a third party will re-perform. Code plus tests is the defensible artefact.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262437"/>
            <a:ext cx="9144000" cy="1266825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328737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287" y="1509712"/>
            <a:ext cx="276225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166937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B84322"/>
                </a:solidFill>
                <a:latin typeface="Fira Code"/>
              </a:rPr>
              <a:t>SECTION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424112"/>
            <a:ext cx="9701212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1D2D24"/>
                </a:solidFill>
                <a:latin typeface="Quicksand"/>
              </a:rPr>
              <a:t>Case 1 · Whitespace analysis for Lakeshore Broadband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719512"/>
            <a:ext cx="1143000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0" i="0" u="none">
                <a:solidFill>
                  <a:srgbClr val="B84322"/>
                </a:solidFill>
                <a:latin typeface="Fira Code"/>
              </a:rPr>
              <a:t>10-minute brief · 45 min solo · 25 min with your table · 15 min debrief (2:45–4:20)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4510087"/>
            <a:ext cx="10715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BY THE END OF THIS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4767262"/>
            <a:ext cx="866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Nunito"/>
              </a:rPr>
              <a:t>Answer a real sizing question — where should Lakeshore expand, and how big is it · Do the analysis in Python, deliver it in Excel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970835" y="1953071"/>
            <a:ext cx="5687764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970835" y="2791271"/>
            <a:ext cx="5687764" cy="933450"/>
          </a:xfrm>
          <a:prstGeom prst="roundRect">
            <a:avLst>
              <a:gd name="adj" fmla="val 24489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70835" y="3839021"/>
            <a:ext cx="5687764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70835" y="4677221"/>
            <a:ext cx="5687764" cy="704850"/>
          </a:xfrm>
          <a:prstGeom prst="roundRect">
            <a:avLst>
              <a:gd name="adj" fmla="val 32432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33400" y="2629346"/>
            <a:ext cx="1221283" cy="628650"/>
          </a:xfrm>
          <a:prstGeom prst="roundRect">
            <a:avLst>
              <a:gd name="adj" fmla="val 27272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849933" y="2629346"/>
            <a:ext cx="1221283" cy="628650"/>
          </a:xfrm>
          <a:prstGeom prst="roundRect">
            <a:avLst>
              <a:gd name="adj" fmla="val 27272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166467" y="2629346"/>
            <a:ext cx="1221283" cy="628650"/>
          </a:xfrm>
          <a:prstGeom prst="roundRect">
            <a:avLst>
              <a:gd name="adj" fmla="val 27272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483000" y="2629346"/>
            <a:ext cx="1221283" cy="628650"/>
          </a:xfrm>
          <a:prstGeom prst="roundRect">
            <a:avLst>
              <a:gd name="adj" fmla="val 27272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33400" y="3353246"/>
            <a:ext cx="1221283" cy="628650"/>
          </a:xfrm>
          <a:prstGeom prst="roundRect">
            <a:avLst>
              <a:gd name="adj" fmla="val 27272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849933" y="3353246"/>
            <a:ext cx="1221283" cy="628650"/>
          </a:xfrm>
          <a:prstGeom prst="roundRect">
            <a:avLst>
              <a:gd name="adj" fmla="val 27272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166467" y="3353246"/>
            <a:ext cx="1221283" cy="628650"/>
          </a:xfrm>
          <a:prstGeom prst="roundRect">
            <a:avLst>
              <a:gd name="adj" fmla="val 27272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483000" y="3353246"/>
            <a:ext cx="1221283" cy="628650"/>
          </a:xfrm>
          <a:prstGeom prst="roundRect">
            <a:avLst>
              <a:gd name="adj" fmla="val 27272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33400" y="4077146"/>
            <a:ext cx="1221283" cy="628650"/>
          </a:xfrm>
          <a:prstGeom prst="roundRect">
            <a:avLst>
              <a:gd name="adj" fmla="val 27272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849933" y="4077146"/>
            <a:ext cx="1221283" cy="628650"/>
          </a:xfrm>
          <a:prstGeom prst="roundRect">
            <a:avLst>
              <a:gd name="adj" fmla="val 27272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166467" y="4077146"/>
            <a:ext cx="1221283" cy="628650"/>
          </a:xfrm>
          <a:prstGeom prst="roundRect">
            <a:avLst>
              <a:gd name="adj" fmla="val 27272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483000" y="4077146"/>
            <a:ext cx="1221283" cy="628650"/>
          </a:xfrm>
          <a:prstGeom prst="roundRect">
            <a:avLst>
              <a:gd name="adj" fmla="val 27272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CASE 1 · BRIEF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Situation: a sponsor is evaluating Lakeshore Broadband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1335" y="2105471"/>
            <a:ext cx="5402014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Lakeshore is a regional cable/fiber operator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in Lake, McHenry, Kane and part of Boone County — the core.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1335" y="2943671"/>
            <a:ext cx="5402014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The question: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in which adjacent counties are there homes with no strong terrestrial alternative — whitespace — and what would it be worth to build there?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1335" y="3991421"/>
            <a:ext cx="5402014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Twelve Illinois counties,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60,500 locations, 236,549 provider offers, seven providers (all fictional), one footprint file.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1810" y="4820096"/>
            <a:ext cx="5421064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D2D24"/>
                </a:solidFill>
                <a:latin typeface="Nunito"/>
              </a:rPr>
              <a:t>Deliverable:</a:t>
            </a:r>
            <a:r>
              <a:rPr sz="1200" b="0" i="0" u="none">
                <a:solidFill>
                  <a:srgbClr val="1D2D24"/>
                </a:solidFill>
                <a:latin typeface="Nunito"/>
              </a:rPr>
              <a:t> a ranked county table with units, revenue, capex and payback; one chart; an Excel workbook with an assumptions sheet.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4350" y="2753171"/>
            <a:ext cx="125938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2D24"/>
                </a:solidFill>
                <a:latin typeface="Nunito"/>
              </a:rPr>
              <a:t>Lake</a:t>
            </a:r>
            <a:r>
              <a:t>
</a:t>
            </a:r>
            <a:r>
              <a:rPr sz="975" b="1" i="0" u="none">
                <a:solidFill>
                  <a:srgbClr val="28593E"/>
                </a:solidFill>
                <a:latin typeface="Nunito"/>
              </a:rPr>
              <a:t>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30883" y="2753171"/>
            <a:ext cx="125938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2D24"/>
                </a:solidFill>
                <a:latin typeface="Nunito"/>
              </a:rPr>
              <a:t>McHenry</a:t>
            </a:r>
            <a:r>
              <a:t>
</a:t>
            </a:r>
            <a:r>
              <a:rPr sz="975" b="1" i="0" u="none">
                <a:solidFill>
                  <a:srgbClr val="28593E"/>
                </a:solidFill>
                <a:latin typeface="Nunito"/>
              </a:rPr>
              <a:t>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47417" y="2753171"/>
            <a:ext cx="125938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2D24"/>
                </a:solidFill>
                <a:latin typeface="Nunito"/>
              </a:rPr>
              <a:t>Kane</a:t>
            </a:r>
            <a:r>
              <a:t>
</a:t>
            </a:r>
            <a:r>
              <a:rPr sz="975" b="1" i="0" u="none">
                <a:solidFill>
                  <a:srgbClr val="28593E"/>
                </a:solidFill>
                <a:latin typeface="Nunito"/>
              </a:rPr>
              <a:t>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3950" y="2753171"/>
            <a:ext cx="125938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2D24"/>
                </a:solidFill>
                <a:latin typeface="Nunito"/>
              </a:rPr>
              <a:t>Boone</a:t>
            </a:r>
            <a:r>
              <a:t>
</a:t>
            </a:r>
            <a:r>
              <a:rPr sz="975" b="1" i="0" u="none">
                <a:solidFill>
                  <a:srgbClr val="28593E"/>
                </a:solidFill>
                <a:latin typeface="Nunito"/>
              </a:rPr>
              <a:t>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350" y="3477071"/>
            <a:ext cx="125938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2D24"/>
                </a:solidFill>
                <a:latin typeface="Nunito"/>
              </a:rPr>
              <a:t>Cook</a:t>
            </a:r>
            <a:r>
              <a:t>
</a:t>
            </a:r>
            <a:r>
              <a:rPr sz="975" b="1" i="0" u="none">
                <a:solidFill>
                  <a:srgbClr val="92400E"/>
                </a:solidFill>
                <a:latin typeface="Nunito"/>
              </a:rPr>
              <a:t>adjacent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30883" y="3477071"/>
            <a:ext cx="125938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2D24"/>
                </a:solidFill>
                <a:latin typeface="Nunito"/>
              </a:rPr>
              <a:t>DuPage</a:t>
            </a:r>
            <a:r>
              <a:t>
</a:t>
            </a:r>
            <a:r>
              <a:rPr sz="975" b="1" i="0" u="none">
                <a:solidFill>
                  <a:srgbClr val="92400E"/>
                </a:solidFill>
                <a:latin typeface="Nunito"/>
              </a:rPr>
              <a:t>adjacent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47417" y="3477071"/>
            <a:ext cx="125938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2D24"/>
                </a:solidFill>
                <a:latin typeface="Nunito"/>
              </a:rPr>
              <a:t>DeKalb</a:t>
            </a:r>
            <a:r>
              <a:t>
</a:t>
            </a:r>
            <a:r>
              <a:rPr sz="975" b="1" i="0" u="none">
                <a:solidFill>
                  <a:srgbClr val="92400E"/>
                </a:solidFill>
                <a:latin typeface="Nunito"/>
              </a:rPr>
              <a:t>adjacent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63950" y="3477071"/>
            <a:ext cx="125938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2D24"/>
                </a:solidFill>
                <a:latin typeface="Nunito"/>
              </a:rPr>
              <a:t>Winnebago</a:t>
            </a:r>
            <a:r>
              <a:t>
</a:t>
            </a:r>
            <a:r>
              <a:rPr sz="975" b="1" i="0" u="none">
                <a:solidFill>
                  <a:srgbClr val="92400E"/>
                </a:solidFill>
                <a:latin typeface="Nunito"/>
              </a:rPr>
              <a:t>adjacent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4350" y="4200971"/>
            <a:ext cx="125938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2D24"/>
                </a:solidFill>
                <a:latin typeface="Nunito"/>
              </a:rPr>
              <a:t>Kendall</a:t>
            </a:r>
            <a:r>
              <a:t>
</a:t>
            </a:r>
            <a:r>
              <a:rPr sz="975" b="1" i="0" u="none">
                <a:solidFill>
                  <a:srgbClr val="92400E"/>
                </a:solidFill>
                <a:latin typeface="Nunito"/>
              </a:rPr>
              <a:t>adjacent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30883" y="4200971"/>
            <a:ext cx="125938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2D24"/>
                </a:solidFill>
                <a:latin typeface="Nunito"/>
              </a:rPr>
              <a:t>Will</a:t>
            </a:r>
            <a:r>
              <a:t>
</a:t>
            </a:r>
            <a:r>
              <a:rPr sz="975" b="1" i="0" u="none">
                <a:solidFill>
                  <a:srgbClr val="5C7065"/>
                </a:solidFill>
                <a:latin typeface="Nunito"/>
              </a:rPr>
              <a:t>outer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147417" y="4200971"/>
            <a:ext cx="125938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2D24"/>
                </a:solidFill>
                <a:latin typeface="Nunito"/>
              </a:rPr>
              <a:t>LaSalle</a:t>
            </a:r>
            <a:r>
              <a:t>
</a:t>
            </a:r>
            <a:r>
              <a:rPr sz="975" b="1" i="0" u="none">
                <a:solidFill>
                  <a:srgbClr val="5C7065"/>
                </a:solidFill>
                <a:latin typeface="Nunito"/>
              </a:rPr>
              <a:t>outer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63950" y="4200971"/>
            <a:ext cx="125938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2D24"/>
                </a:solidFill>
                <a:latin typeface="Nunito"/>
              </a:rPr>
              <a:t>Kankakee</a:t>
            </a:r>
            <a:r>
              <a:t>
</a:t>
            </a:r>
            <a:r>
              <a:rPr sz="975" b="1" i="0" u="none">
                <a:solidFill>
                  <a:srgbClr val="5C7065"/>
                </a:solidFill>
                <a:latin typeface="Nunito"/>
              </a:rPr>
              <a:t>outer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4215258"/>
            <a:ext cx="2623839" cy="885825"/>
          </a:xfrm>
          <a:prstGeom prst="roundRect">
            <a:avLst>
              <a:gd name="adj" fmla="val 25806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2495996"/>
            <a:ext cx="3704778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238178" y="2495996"/>
            <a:ext cx="947737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185916" y="2495996"/>
            <a:ext cx="6472683" cy="19050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290589" y="4124771"/>
            <a:ext cx="2623839" cy="1066800"/>
          </a:xfrm>
          <a:prstGeom prst="roundRect">
            <a:avLst>
              <a:gd name="adj" fmla="val 21428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047779" y="4215258"/>
            <a:ext cx="2623839" cy="885825"/>
          </a:xfrm>
          <a:prstGeom prst="roundRect">
            <a:avLst>
              <a:gd name="adj" fmla="val 25806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04969" y="4124771"/>
            <a:ext cx="2853779" cy="1066800"/>
          </a:xfrm>
          <a:prstGeom prst="roundRect">
            <a:avLst>
              <a:gd name="adj" fmla="val 21428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2872233"/>
            <a:ext cx="3704778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38178" y="2872233"/>
            <a:ext cx="947737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185916" y="2872233"/>
            <a:ext cx="6472683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33400" y="3234183"/>
            <a:ext cx="3704778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38178" y="3234183"/>
            <a:ext cx="947737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85916" y="3234183"/>
            <a:ext cx="6472683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3596133"/>
            <a:ext cx="3704778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238178" y="3596133"/>
            <a:ext cx="947737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85916" y="3596133"/>
            <a:ext cx="6472683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33400" y="3958083"/>
            <a:ext cx="3704778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38178" y="3958083"/>
            <a:ext cx="947737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185916" y="3958083"/>
            <a:ext cx="6472683" cy="9525"/>
          </a:xfrm>
          <a:prstGeom prst="rect">
            <a:avLst/>
          </a:prstGeom>
          <a:solidFill>
            <a:srgbClr val="E2EC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533400" y="2143571"/>
            <a:ext cx="11125200" cy="18288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33400" y="2143571"/>
          <a:ext cx="11125198" cy="1828800"/>
        </p:xfrm>
        <a:graphic>
          <a:graphicData uri="http://schemas.openxmlformats.org/drawingml/2006/table">
            <a:tbl>
              <a:tblPr/>
              <a:tblGrid>
                <a:gridCol w="37047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77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72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2D24"/>
                          </a:solidFill>
                          <a:latin typeface="Quicksand"/>
                        </a:rPr>
                        <a:t>Table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2D24"/>
                          </a:solidFill>
                          <a:latin typeface="Quicksand"/>
                        </a:rPr>
                        <a:t>Rows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1D2D24"/>
                          </a:solidFill>
                          <a:latin typeface="Quicksand"/>
                        </a:rPr>
                        <a:t>What it 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6F2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B7A57"/>
                          </a:solidFill>
                          <a:latin typeface="Fira Code"/>
                        </a:rPr>
                        <a:t>bdc_il_fixed_availability_sample.csv.gz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Fira Code"/>
                        </a:rPr>
                        <a:t>236,549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provider × location × technology, advertised speeds, latency, R/B/X code — the BDC schema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B7A57"/>
                          </a:solidFill>
                          <a:latin typeface="Fira Code"/>
                        </a:rPr>
                        <a:t>bdc_il_locations_sample.csv.gz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Fira Code"/>
                        </a:rPr>
                        <a:t>60,500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location → census block, county, lat/lon, unit_count (stand-in for the licensed FCC Fabric)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B7A57"/>
                          </a:solidFill>
                          <a:latin typeface="Fira Code"/>
                        </a:rPr>
                        <a:t>lakeshore_footprint_blocks.csv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Fira Code"/>
                        </a:rPr>
                        <a:t>336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blocks where Lakeshore operates today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050" b="1" i="0" u="none">
                          <a:solidFill>
                            <a:srgbClr val="3B7A57"/>
                          </a:solidFill>
                          <a:latin typeface="Fira Code"/>
                        </a:rPr>
                        <a:t>il_county_demographics_illustrative.csv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Fira Code"/>
                        </a:rPr>
                        <a:t>12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u="none">
                          <a:solidFill>
                            <a:srgbClr val="3F5247"/>
                          </a:solidFill>
                          <a:latin typeface="Nunito"/>
                        </a:rPr>
                        <a:t>households, income, county type, relation to footprint (core / adjacent / outer)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CASE 1 · BRIEF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Data and definitions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39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325" y="4358133"/>
            <a:ext cx="301873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28593E"/>
                </a:solidFill>
                <a:latin typeface="Quicksand"/>
              </a:rPr>
              <a:t>Served location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5325" y="4596258"/>
            <a:ext cx="239523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≥1 terrestrial, low-latency, residential-capable offer at ≥ 100/20 Mbps.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2514" y="4267646"/>
            <a:ext cx="301873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D2D24"/>
                </a:solidFill>
                <a:latin typeface="Quicksand"/>
              </a:rPr>
              <a:t>Competitors in a block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52514" y="4505771"/>
            <a:ext cx="2395239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Distinct providers other than Lakeshore at ≥ 100/20, averaged over the block's locations.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09704" y="4358133"/>
            <a:ext cx="301873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92400E"/>
                </a:solidFill>
                <a:latin typeface="Quicksand"/>
              </a:rPr>
              <a:t>Whitespace block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9704" y="4596258"/>
            <a:ext cx="2395239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Not in footprint · in an adjacent county · average competitors ≤ 1.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6894" y="4267646"/>
            <a:ext cx="322510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B84322"/>
                </a:solidFill>
                <a:latin typeface="Quicksand"/>
              </a:rPr>
              <a:t>Opportunity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6894" y="4505771"/>
            <a:ext cx="2625179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units × penetration (by county type) × $75 × 12; capex = units × cost per passing; payback = capex ÷ revenue.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343846"/>
            <a:ext cx="11125200" cy="571500"/>
          </a:xfrm>
          <a:prstGeom prst="roundRect">
            <a:avLst>
              <a:gd name="adj" fmla="val 40000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5029646"/>
            <a:ext cx="11125200" cy="381000"/>
          </a:xfrm>
          <a:prstGeom prst="roundRect">
            <a:avLst>
              <a:gd name="adj" fmla="val 50000"/>
            </a:avLst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1886396"/>
            <a:ext cx="5476875" cy="234315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200775" y="1986408"/>
            <a:ext cx="5457825" cy="2143125"/>
          </a:xfrm>
          <a:prstGeom prst="roundRect">
            <a:avLst>
              <a:gd name="adj" fmla="val 10666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086421"/>
            <a:ext cx="171450" cy="171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76908"/>
            <a:ext cx="219075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CASE 1 · BRIEF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What to produce, and how it is assessed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4448621"/>
            <a:ext cx="108585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D2D24"/>
                </a:solidFill>
                <a:latin typeface="Nunito"/>
              </a:rPr>
              <a:t>Assessed on:</a:t>
            </a:r>
            <a:r>
              <a:rPr sz="1050" b="0" i="0" u="none">
                <a:solidFill>
                  <a:srgbClr val="1D2D24"/>
                </a:solidFill>
                <a:latin typeface="Nunito"/>
              </a:rPr>
              <a:t> data hygiene · definitions as parameters · aggregation logic (Lakeshore is not its own competitor) · output (table, chart, Excel with assumptions) · a specific answer to 'where does Excel break first'.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5124896"/>
            <a:ext cx="21431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Fira Code"/>
              </a:rPr>
              <a:t>CASE · NOTEBOOK OPEN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9137" y="5124896"/>
            <a:ext cx="4655343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Nunito"/>
              </a:rPr>
              <a:t>02_fcc_whitespace_STARTER.ipynb · solo, then your table</a:t>
            </a:r>
          </a:p>
        </p:txBody>
      </p:sp>
      <p:sp>
        <p:nvSpPr>
          <p:cNvPr id="17" name="TextBox 16">
            <a:hlinkClick r:id="rId4"/>
          </p:cNvPr>
          <p:cNvSpPr txBox="1"/>
          <p:nvPr/>
        </p:nvSpPr>
        <p:spPr>
          <a:xfrm>
            <a:off x="10222992" y="5084064"/>
            <a:ext cx="1325880" cy="274320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>
            <a:noFill/>
          </a:ln>
          <a:effectLst>
            <a:outerShdw blurRad="50800" dist="25400" dir="5400000" rotWithShape="0">
              <a:srgbClr val="1A3A2A">
                <a:alpha val="40000"/>
              </a:srgbClr>
            </a:outerShdw>
          </a:effectLst>
        </p:spPr>
        <p:txBody>
          <a:bodyPr wrap="none" lIns="36576" tIns="0" rIns="36576" bIns="0" anchor="ctr" anchorCtr="0">
            <a:spAutoFit/>
          </a:bodyPr>
          <a:lstStyle/>
          <a:p>
            <a:pPr algn="ctr"/>
            <a:r>
              <a:rPr sz="1000" b="1" i="0" u="none">
                <a:solidFill>
                  <a:srgbClr val="3B7A57"/>
                </a:solidFill>
                <a:latin typeface="Nunito"/>
              </a:rPr>
              <a:t>Open in Colab 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2343596"/>
            <a:ext cx="663832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D2D24"/>
                </a:solidFill>
                <a:latin typeface="Quicksand"/>
              </a:rPr>
              <a:t>Part 1 · solo · 45 min · </a:t>
            </a:r>
            <a:r>
              <a:rPr sz="1050" b="1" i="0" u="none">
                <a:solidFill>
                  <a:srgbClr val="1D2D24"/>
                </a:solidFill>
                <a:latin typeface="Quicksand"/>
              </a:rPr>
              <a:t>02_fcc_whitespace_STARTER.ipynb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2638871"/>
            <a:ext cx="51530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F5247"/>
                </a:solidFill>
                <a:latin typeface="Nunito"/>
              </a:rPr>
              <a:t>Seven TODO steps: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load with dtypes → clean → parameters → location level → block level &amp; whitespace flag → sizing → chart + 3-sheet Excel.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3077021"/>
            <a:ext cx="51530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F5247"/>
                </a:solidFill>
                <a:latin typeface="Nunito"/>
              </a:rPr>
              <a:t>Check-out, two sentences: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largest revenue vs best payback — same county? Which step breaks first in Excel?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3515171"/>
            <a:ext cx="5153025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Stuck for more than 3 minutes: open the SOLUTION notebook for that one step, read it, close it, type it yourself. At 3:40 the whole table switches to Part 2 — start from the table's most complete notebook; an unfinished Part 1 is normal.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34083"/>
            <a:ext cx="57912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D2D24"/>
                </a:solidFill>
                <a:latin typeface="Quicksand"/>
              </a:rPr>
              <a:t>Part 2 · your table · 25 min · hard switch at 3:40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729358"/>
            <a:ext cx="51530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F5247"/>
                </a:solidFill>
                <a:latin typeface="Nunito"/>
              </a:rPr>
              <a:t>Sensitivity: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wrap steps 5–6 in run(arpu, max_competitors); 3×3 payback table over ARPU {60, 75, 90} × competitors {0, 1, 2}.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167508"/>
            <a:ext cx="51530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F5247"/>
                </a:solidFill>
                <a:latin typeface="Nunito"/>
              </a:rPr>
              <a:t>Definition risk: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include satellite. How many whitespace blocks vanish? Show the partner both numbers?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05658"/>
            <a:ext cx="5153025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F5247"/>
                </a:solidFill>
                <a:latin typeface="Nunito"/>
              </a:rPr>
              <a:t>Recommendation: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top-2 counties, three bullets, one risk the data cannot see (poles, permits, incumbent response). Two minutes to defend it at 4:05.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019550"/>
            <a:ext cx="9144000" cy="1266825"/>
          </a:xfrm>
          <a:prstGeom prst="roundRect">
            <a:avLst>
              <a:gd name="adj" fmla="val 18045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71625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62" y="1752600"/>
            <a:ext cx="219075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409825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7A57"/>
                </a:solidFill>
                <a:latin typeface="Fira Code"/>
              </a:rPr>
              <a:t>SECTION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667000"/>
            <a:ext cx="11582400" cy="647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050" b="1" i="0" u="none">
                <a:solidFill>
                  <a:srgbClr val="1D2D24"/>
                </a:solidFill>
                <a:latin typeface="Quicksand"/>
              </a:rPr>
              <a:t>Version control &amp;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467100"/>
            <a:ext cx="11430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28593E"/>
                </a:solidFill>
                <a:latin typeface="Fira Code"/>
              </a:rPr>
              <a:t>15-minute talk + 15-minute exercise (4:20–4:50)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4267200"/>
            <a:ext cx="10715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5D39"/>
                </a:solidFill>
                <a:latin typeface="Fira Code"/>
              </a:rPr>
              <a:t>BY THE END OF THIS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4524375"/>
            <a:ext cx="8667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Nunito"/>
              </a:rPr>
              <a:t>Explain repo, commit, branch and pull request · Read a CI file line by line · Push code that ran — failed, then passed — on a machine that is not yours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347168"/>
            <a:ext cx="5429250" cy="2575024"/>
          </a:xfrm>
          <a:prstGeom prst="roundRect">
            <a:avLst>
              <a:gd name="adj" fmla="val 8877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2086272"/>
            <a:ext cx="5429250" cy="3096815"/>
          </a:xfrm>
          <a:prstGeom prst="roundRect">
            <a:avLst>
              <a:gd name="adj" fmla="val 7381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VERSION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" y="619125"/>
            <a:ext cx="11658600" cy="30658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 i="0" u="none">
                <a:solidFill>
                  <a:srgbClr val="1D2D24"/>
                </a:solidFill>
                <a:latin typeface="Quicksand"/>
              </a:rPr>
              <a:t>model_v12_FINAL_final2_LG_edits.xlsx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" y="2604343"/>
            <a:ext cx="645080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B84322"/>
                </a:solidFill>
                <a:latin typeface="Quicksand"/>
              </a:rPr>
              <a:t>How teams actually version a spreadsheet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2343447"/>
            <a:ext cx="57054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28593E"/>
                </a:solidFill>
                <a:latin typeface="Quicksand"/>
              </a:rPr>
              <a:t>What version control gives you instead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4875" y="3006298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3004393"/>
            <a:ext cx="4819650" cy="426541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Copy the file; add a suffix; email it; someone edits v11 while you edit v12.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3528089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3526184"/>
            <a:ext cx="5905500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Which one has the fixed capex assumption? Open both, tab by tab.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875" y="3836610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1075" y="3834705"/>
            <a:ext cx="5905500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Who changed the ARPU on Tuesday, and why? Ask around.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875" y="4145131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1075" y="4143226"/>
            <a:ext cx="4819650" cy="426541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0" i="0" u="none">
                <a:solidFill>
                  <a:srgbClr val="3F5247"/>
                </a:solidFill>
                <a:latin typeface="Nunito"/>
              </a:rPr>
              <a:t>The deal closes. Six months later: 'can we reproduce the number in the IC memo?'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825" y="2745402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7025" y="2743497"/>
            <a:ext cx="4819650" cy="426541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F5247"/>
                </a:solidFill>
                <a:latin typeface="Nunito"/>
              </a:rPr>
              <a:t>One folder, its entire history,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and the reason for every change — as a first-class object.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825" y="3267194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7025" y="3265289"/>
            <a:ext cx="5514975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F5247"/>
                </a:solidFill>
                <a:latin typeface="Nunito"/>
              </a:rPr>
              <a:t>diff: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exactly which lines changed between any two points.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0825" y="3575714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7025" y="3573809"/>
            <a:ext cx="5514975" cy="213270"/>
          </a:xfrm>
          <a:prstGeom prst="rect">
            <a:avLst/>
          </a:prstGeom>
          <a:noFill/>
        </p:spPr>
        <p:txBody>
          <a:bodyPr wrap="non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F5247"/>
                </a:solidFill>
                <a:latin typeface="Nunito"/>
              </a:rPr>
              <a:t>blame: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who changed this line, when, with what message.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00825" y="3884235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7025" y="3882330"/>
            <a:ext cx="4819650" cy="426541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F5247"/>
                </a:solidFill>
                <a:latin typeface="Nunito"/>
              </a:rPr>
              <a:t>Branches: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work in parallel without copying the folder; merge deliberately, with review.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0825" y="4406026"/>
            <a:ext cx="7620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7025" y="4404121"/>
            <a:ext cx="4819650" cy="426541"/>
          </a:xfrm>
          <a:prstGeom prst="rect">
            <a:avLst/>
          </a:prstGeom>
          <a:noFill/>
        </p:spPr>
        <p:txBody>
          <a:bodyPr wrap="square" lIns="7620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200" b="1" i="0" u="none">
                <a:solidFill>
                  <a:srgbClr val="3F5247"/>
                </a:solidFill>
                <a:latin typeface="Nunito"/>
              </a:rPr>
              <a:t>It works on any text: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code, notebooks, prompts, labelling guides, this CI file.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186433"/>
            <a:ext cx="11125200" cy="1704975"/>
          </a:xfrm>
          <a:prstGeom prst="roundRect">
            <a:avLst>
              <a:gd name="adj" fmla="val 13407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4158108"/>
            <a:ext cx="2681287" cy="895350"/>
          </a:xfrm>
          <a:prstGeom prst="roundRect">
            <a:avLst>
              <a:gd name="adj" fmla="val 25531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348037" y="4062858"/>
            <a:ext cx="2681287" cy="1085850"/>
          </a:xfrm>
          <a:prstGeom prst="roundRect">
            <a:avLst>
              <a:gd name="adj" fmla="val 21052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62675" y="4062858"/>
            <a:ext cx="2681287" cy="1085850"/>
          </a:xfrm>
          <a:prstGeom prst="roundRect">
            <a:avLst>
              <a:gd name="adj" fmla="val 21052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977312" y="4158108"/>
            <a:ext cx="2681287" cy="895350"/>
          </a:xfrm>
          <a:prstGeom prst="roundRect">
            <a:avLst>
              <a:gd name="adj" fmla="val 25531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81050" y="2596008"/>
            <a:ext cx="533400" cy="257175"/>
          </a:xfrm>
          <a:prstGeom prst="roundRect">
            <a:avLst>
              <a:gd name="adj" fmla="val 50000"/>
            </a:avLst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409700" y="2395983"/>
            <a:ext cx="1725959" cy="657225"/>
          </a:xfrm>
          <a:prstGeom prst="roundRect">
            <a:avLst>
              <a:gd name="adj" fmla="val 20289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478559" y="2395983"/>
            <a:ext cx="1725959" cy="657225"/>
          </a:xfrm>
          <a:prstGeom prst="roundRect">
            <a:avLst>
              <a:gd name="adj" fmla="val 20289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547419" y="2395983"/>
            <a:ext cx="1725959" cy="657225"/>
          </a:xfrm>
          <a:prstGeom prst="roundRect">
            <a:avLst>
              <a:gd name="adj" fmla="val 20289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616279" y="2395983"/>
            <a:ext cx="1725959" cy="657225"/>
          </a:xfrm>
          <a:prstGeom prst="roundRect">
            <a:avLst>
              <a:gd name="adj" fmla="val 20289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85139" y="2395983"/>
            <a:ext cx="1725959" cy="657225"/>
          </a:xfrm>
          <a:prstGeom prst="roundRect">
            <a:avLst>
              <a:gd name="adj" fmla="val 20289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5545633" y="3186558"/>
            <a:ext cx="1704230" cy="495300"/>
          </a:xfrm>
          <a:prstGeom prst="roundRect">
            <a:avLst>
              <a:gd name="adj" fmla="val 26923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592764" y="3186558"/>
            <a:ext cx="1640978" cy="495300"/>
          </a:xfrm>
          <a:prstGeom prst="roundRect">
            <a:avLst>
              <a:gd name="adj" fmla="val 26923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VERSION CONTROL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Git in one picture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43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5350" y="2634108"/>
            <a:ext cx="4000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Fira Code"/>
              </a:rPr>
              <a:t>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30909" y="2619821"/>
            <a:ext cx="4381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7A57"/>
                </a:solidFill>
                <a:latin typeface="Nunito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99769" y="2619821"/>
            <a:ext cx="4381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7A57"/>
                </a:solidFill>
                <a:latin typeface="Nunito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8629" y="2619821"/>
            <a:ext cx="4381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7A57"/>
                </a:solidFill>
                <a:latin typeface="Nunito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37489" y="2619821"/>
            <a:ext cx="4381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7A57"/>
                </a:solidFill>
                <a:latin typeface="Nunito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57550" y="3267521"/>
            <a:ext cx="228808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D95D39"/>
                </a:solidFill>
                <a:latin typeface="Fira Code"/>
              </a:rPr>
              <a:t>git switch -c try-25-3-threshold 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5114" y="3329433"/>
            <a:ext cx="438150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D95D39"/>
                </a:solidFill>
                <a:latin typeface="Nunito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8993" y="3267521"/>
            <a:ext cx="2177206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B7A57"/>
                </a:solidFill>
                <a:latin typeface="Fira Code"/>
              </a:rPr>
              <a:t>↗ pull request → review → merge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5325" y="4320033"/>
            <a:ext cx="245268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F5247"/>
                </a:solidFill>
                <a:latin typeface="Nunito"/>
              </a:rPr>
              <a:t>A commit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is a named snapshot of the whole folder plus a message saying why. The hash is its ID.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962" y="4224783"/>
            <a:ext cx="2452687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F5247"/>
                </a:solidFill>
                <a:latin typeface="Nunito"/>
              </a:rPr>
              <a:t>A branch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is a parallel line of commits — rerun the case at the older 25/3 threshold without touching main.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4600" y="4224783"/>
            <a:ext cx="2452687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F5247"/>
                </a:solidFill>
                <a:latin typeface="Nunito"/>
              </a:rPr>
              <a:t>A pull request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proposes merging a branch, shows the diff, and is where someone else reads your change before it lands. Review is the point.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9237" y="4320033"/>
            <a:ext cx="2452687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F5247"/>
                </a:solidFill>
                <a:latin typeface="Nunito"/>
              </a:rPr>
              <a:t>GitHub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is the shared copy of the repository plus the review interface plus the machines that run CI.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33525" y="2481708"/>
            <a:ext cx="157355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2D24"/>
                </a:solidFill>
                <a:latin typeface="Fira Code"/>
              </a:rPr>
              <a:t>a1f3</a:t>
            </a:r>
            <a:r>
              <a:t>
</a:t>
            </a:r>
            <a:r>
              <a:rPr sz="975" b="0" i="0" u="none">
                <a:solidFill>
                  <a:srgbClr val="1D2D24"/>
                </a:solidFill>
                <a:latin typeface="Fira Code"/>
              </a:rPr>
              <a:t> initial case notebook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02384" y="2481708"/>
            <a:ext cx="157355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2D24"/>
                </a:solidFill>
                <a:latin typeface="Fira Code"/>
              </a:rPr>
              <a:t>b7c2</a:t>
            </a:r>
            <a:r>
              <a:t>
</a:t>
            </a:r>
            <a:r>
              <a:rPr sz="975" b="0" i="0" u="none">
                <a:solidFill>
                  <a:srgbClr val="1D2D24"/>
                </a:solidFill>
                <a:latin typeface="Fira Code"/>
              </a:rPr>
              <a:t> fix GEOID leading zeros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71244" y="2481708"/>
            <a:ext cx="157355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2D24"/>
                </a:solidFill>
                <a:latin typeface="Fira Code"/>
              </a:rPr>
              <a:t>c9d1</a:t>
            </a:r>
            <a:r>
              <a:t>
</a:t>
            </a:r>
            <a:r>
              <a:rPr sz="975" b="0" i="0" u="none">
                <a:solidFill>
                  <a:srgbClr val="1D2D24"/>
                </a:solidFill>
                <a:latin typeface="Fira Code"/>
              </a:rPr>
              <a:t> whitespace flag + tests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40104" y="2481708"/>
            <a:ext cx="157355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2D24"/>
                </a:solidFill>
                <a:latin typeface="Fira Code"/>
              </a:rPr>
              <a:t>d4e8</a:t>
            </a:r>
            <a:r>
              <a:t>
</a:t>
            </a:r>
            <a:r>
              <a:rPr sz="975" b="0" i="0" u="none">
                <a:solidFill>
                  <a:srgbClr val="1D2D24"/>
                </a:solidFill>
                <a:latin typeface="Fira Code"/>
              </a:rPr>
              <a:t> fix: exclude satellite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08964" y="2481708"/>
            <a:ext cx="1573559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2D24"/>
                </a:solidFill>
                <a:latin typeface="Fira Code"/>
              </a:rPr>
              <a:t>f0a9</a:t>
            </a:r>
            <a:r>
              <a:t>
</a:t>
            </a:r>
            <a:r>
              <a:rPr sz="975" b="0" i="0" u="none">
                <a:solidFill>
                  <a:srgbClr val="1D2D24"/>
                </a:solidFill>
                <a:latin typeface="Fira Code"/>
              </a:rPr>
              <a:t> merge: 25/3 sensitivity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458" y="3272283"/>
            <a:ext cx="155183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2D24"/>
                </a:solidFill>
                <a:latin typeface="Fira Code"/>
              </a:rPr>
              <a:t>e2a7</a:t>
            </a:r>
            <a:r>
              <a:rPr sz="975" b="0" i="0" u="none">
                <a:solidFill>
                  <a:srgbClr val="1D2D24"/>
                </a:solidFill>
                <a:latin typeface="Fira Code"/>
              </a:rPr>
              <a:t> try 25/3 threshold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16589" y="3272283"/>
            <a:ext cx="1488578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1D2D24"/>
                </a:solidFill>
                <a:latin typeface="Fira Code"/>
              </a:rPr>
              <a:t>f5b1</a:t>
            </a:r>
            <a:r>
              <a:rPr sz="975" b="0" i="0" u="none">
                <a:solidFill>
                  <a:srgbClr val="1D2D24"/>
                </a:solidFill>
                <a:latin typeface="Fira Code"/>
              </a:rPr>
              <a:t> 25/3 county table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4784228"/>
            <a:ext cx="11125200" cy="4572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161430"/>
            <a:ext cx="2558206" cy="2402532"/>
          </a:xfrm>
          <a:prstGeom prst="roundRect">
            <a:avLst>
              <a:gd name="adj" fmla="val 9514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244006" y="2146101"/>
            <a:ext cx="2558206" cy="2433339"/>
          </a:xfrm>
          <a:prstGeom prst="roundRect">
            <a:avLst>
              <a:gd name="adj" fmla="val 9394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54613" y="2093714"/>
            <a:ext cx="2775793" cy="2538114"/>
          </a:xfrm>
          <a:prstGeom prst="roundRect">
            <a:avLst>
              <a:gd name="adj" fmla="val 9006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882806" y="2400746"/>
            <a:ext cx="2775793" cy="1924050"/>
          </a:xfrm>
          <a:prstGeom prst="roundRect">
            <a:avLst>
              <a:gd name="adj" fmla="val 11881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3900" y="3609230"/>
            <a:ext cx="2177206" cy="326082"/>
          </a:xfrm>
          <a:prstGeom prst="roundRect">
            <a:avLst>
              <a:gd name="adj" fmla="val 29210"/>
            </a:avLst>
          </a:prstGeom>
          <a:solidFill>
            <a:srgbClr val="F0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434506" y="3412926"/>
            <a:ext cx="2177206" cy="537864"/>
          </a:xfrm>
          <a:prstGeom prst="roundRect">
            <a:avLst>
              <a:gd name="adj" fmla="val 17708"/>
            </a:avLst>
          </a:prstGeom>
          <a:solidFill>
            <a:srgbClr val="F0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45113" y="3903464"/>
            <a:ext cx="2394793" cy="537864"/>
          </a:xfrm>
          <a:prstGeom prst="roundRect">
            <a:avLst>
              <a:gd name="adj" fmla="val 17708"/>
            </a:avLst>
          </a:prstGeom>
          <a:solidFill>
            <a:srgbClr val="F0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2380505"/>
            <a:ext cx="17145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4506" y="2365176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5113" y="2312789"/>
            <a:ext cx="171450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3306" y="2619821"/>
            <a:ext cx="19050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VERSION CONTROL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Four steps — all you need this week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-303609" y="4908053"/>
            <a:ext cx="12799218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1D2D24"/>
                </a:solidFill>
                <a:latin typeface="Nunito"/>
              </a:rPr>
              <a:t>Note:</a:t>
            </a:r>
            <a:r>
              <a:rPr sz="1200" b="0" i="0" u="none">
                <a:solidFill>
                  <a:srgbClr val="1D2D24"/>
                </a:solidFill>
                <a:latin typeface="Nunito"/>
              </a:rPr>
              <a:t> Small PRs often actually get reviewed; while large ones often include bugs that remain unseen. Small, explained PRs are almost always better.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3900" y="2685305"/>
            <a:ext cx="285758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B7A57"/>
                </a:solidFill>
                <a:latin typeface="Fira Code"/>
              </a:rPr>
              <a:t>clone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3900" y="2990105"/>
            <a:ext cx="2272456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Copy the repository — code and history — to your machine or your Colab.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900" y="4011513"/>
            <a:ext cx="227245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You did this in the setup cell this morning.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4506" y="2669976"/>
            <a:ext cx="285758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B7A57"/>
                </a:solidFill>
                <a:latin typeface="Fira Code"/>
              </a:rPr>
              <a:t>commit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34506" y="2974776"/>
            <a:ext cx="227245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Save a named checkpoint with a message that says why, not what.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34506" y="4026991"/>
            <a:ext cx="2272456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'fix GEOID dtype so leading zeros survive' beats 'update notebook'.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45113" y="2617589"/>
            <a:ext cx="314316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D95D39"/>
                </a:solidFill>
                <a:latin typeface="Fira Code"/>
              </a:rPr>
              <a:t>push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45113" y="2922389"/>
            <a:ext cx="2490043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Send your commits to your own branch on GitHub, never straight to main. CI checks start here. Colab: File → Save a copy in GitHub, and pick your branch. Otherwise in terminal: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3306" y="2924621"/>
            <a:ext cx="3118693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B7A57"/>
                </a:solidFill>
                <a:latin typeface="Fira Code"/>
              </a:rPr>
              <a:t>pull request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3306" y="3229421"/>
            <a:ext cx="2490043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Propose your branch for merging. After pushing, click Compare &amp; pull request on GitHub (or run gh pr create). Someone reads the diff; CI reports green or red; you discuss; it merges.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9150" y="3666380"/>
            <a:ext cx="2483383" cy="183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3"/>
              </a:lnSpc>
            </a:pPr>
            <a:r>
              <a:rPr sz="975" b="0" i="0" u="none">
                <a:solidFill>
                  <a:srgbClr val="1D2D24"/>
                </a:solidFill>
                <a:latin typeface="Fira Code"/>
              </a:rPr>
              <a:t>git clone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9756" y="3470076"/>
            <a:ext cx="2483383" cy="183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3"/>
              </a:lnSpc>
            </a:pPr>
            <a:r>
              <a:rPr sz="975" b="0" i="0" u="none">
                <a:solidFill>
                  <a:srgbClr val="1D2D24"/>
                </a:solidFill>
                <a:latin typeface="Fira Code"/>
              </a:rPr>
              <a:t>git add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9756" y="3681858"/>
            <a:ext cx="2483383" cy="183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3"/>
              </a:lnSpc>
            </a:pPr>
            <a:r>
              <a:rPr sz="975" b="0" i="0" u="none">
                <a:solidFill>
                  <a:srgbClr val="1D2D24"/>
                </a:solidFill>
                <a:latin typeface="Fira Code"/>
              </a:rPr>
              <a:t>git commit -m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0363" y="3960614"/>
            <a:ext cx="2755366" cy="183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3"/>
              </a:lnSpc>
            </a:pPr>
            <a:r>
              <a:rPr sz="975" b="0" i="0" u="none">
                <a:solidFill>
                  <a:srgbClr val="1D2D24"/>
                </a:solidFill>
                <a:latin typeface="Fira Code"/>
              </a:rPr>
              <a:t>git switch -c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0363" y="4172396"/>
            <a:ext cx="2755366" cy="18320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43"/>
              </a:lnSpc>
            </a:pPr>
            <a:r>
              <a:rPr sz="975" b="0" i="0" u="none">
                <a:solidFill>
                  <a:srgbClr val="1D2D24"/>
                </a:solidFill>
                <a:latin typeface="Fira Code"/>
              </a:rPr>
              <a:t>git push -u origin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245518"/>
            <a:ext cx="4886325" cy="1853505"/>
          </a:xfrm>
          <a:prstGeom prst="roundRect">
            <a:avLst>
              <a:gd name="adj" fmla="val 11305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4251424"/>
            <a:ext cx="4886325" cy="838200"/>
          </a:xfrm>
          <a:prstGeom prst="roundRect">
            <a:avLst>
              <a:gd name="adj" fmla="val 27272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86425" y="1953071"/>
            <a:ext cx="5972175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686425" y="2791271"/>
            <a:ext cx="5972175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686425" y="3629471"/>
            <a:ext cx="5972175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86425" y="4467671"/>
            <a:ext cx="5972175" cy="914400"/>
          </a:xfrm>
          <a:prstGeom prst="roundRect">
            <a:avLst>
              <a:gd name="adj" fmla="val 25000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52450" y="2264568"/>
            <a:ext cx="4848225" cy="342900"/>
          </a:xfrm>
          <a:prstGeom prst="rect">
            <a:avLst/>
          </a:prstGeom>
          <a:solidFill>
            <a:srgbClr val="E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52450" y="2597943"/>
            <a:ext cx="4848225" cy="9525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369343"/>
            <a:ext cx="123825" cy="12382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VERSION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Never commit a secret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1525" y="4451449"/>
            <a:ext cx="45053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B84322"/>
                </a:solidFill>
                <a:latin typeface="Nunito"/>
              </a:rPr>
              <a:t>Rule of thumb: if you would not put it on a slide, do not put it in a repository.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6925" y="2105471"/>
            <a:ext cx="56864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A key in a commit is public forever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— even after you delete it, it is in the history. Automated scanners find keys on GitHub within minutes.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6925" y="2943671"/>
            <a:ext cx="56864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Secrets live in the environment, not in files: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Colab's Secrets panel; an environment variable locally; a repository secret in GitHub Actions.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76925" y="3781871"/>
            <a:ext cx="56864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The code reads the environment: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tomorrow's anthropic.Anthropic() will find ANTHROPIC_API_KEY on its own. Nothing to paste.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67400" y="4610546"/>
            <a:ext cx="57054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D2D24"/>
                </a:solidFill>
                <a:latin typeface="Nunito"/>
              </a:rPr>
              <a:t>Notebooks store outputs.</a:t>
            </a:r>
            <a:r>
              <a:rPr sz="1200" b="0" i="0" u="none">
                <a:solidFill>
                  <a:srgbClr val="1D2D24"/>
                </a:solidFill>
                <a:latin typeface="Nunito"/>
              </a:rPr>
              <a:t> Clear outputs before committing (Edit → Clear all outputs) or you commit whatever the cell printed — including that DataFrame of confidential rows.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2350293"/>
            <a:ext cx="1228725" cy="16192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8593E"/>
                </a:solidFill>
                <a:latin typeface="Fira Code"/>
              </a:rPr>
              <a:t>.gitignore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0100" y="2355056"/>
            <a:ext cx="8858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5C7065"/>
                </a:solidFill>
                <a:latin typeface="Fira Code"/>
              </a:rPr>
              <a:t>Repo root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2778918"/>
            <a:ext cx="5536406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5C7065"/>
                </a:solidFill>
                <a:latin typeface="Fira Code"/>
              </a:rPr>
              <a:t># .gitignore — files git will refuse to track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3004839"/>
            <a:ext cx="5536406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.env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3230760"/>
            <a:ext cx="5536406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*.key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3456682"/>
            <a:ext cx="5536406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__pycache__/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3682603"/>
            <a:ext cx="5536406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.ipynb_checkpoints/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1762273"/>
            <a:ext cx="5877520" cy="3810595"/>
          </a:xfrm>
          <a:prstGeom prst="roundRect">
            <a:avLst>
              <a:gd name="adj" fmla="val 5499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77620" y="1962596"/>
            <a:ext cx="4980979" cy="933450"/>
          </a:xfrm>
          <a:prstGeom prst="roundRect">
            <a:avLst>
              <a:gd name="adj" fmla="val 24489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677620" y="3010346"/>
            <a:ext cx="4980979" cy="723900"/>
          </a:xfrm>
          <a:prstGeom prst="roundRect">
            <a:avLst>
              <a:gd name="adj" fmla="val 3157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77620" y="3848546"/>
            <a:ext cx="4980979" cy="704850"/>
          </a:xfrm>
          <a:prstGeom prst="roundRect">
            <a:avLst>
              <a:gd name="adj" fmla="val 32432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677620" y="4667696"/>
            <a:ext cx="4980979" cy="704850"/>
          </a:xfrm>
          <a:prstGeom prst="roundRect">
            <a:avLst>
              <a:gd name="adj" fmla="val 32432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52450" y="1781323"/>
            <a:ext cx="5839420" cy="342900"/>
          </a:xfrm>
          <a:prstGeom prst="rect">
            <a:avLst/>
          </a:prstGeom>
          <a:solidFill>
            <a:srgbClr val="E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52450" y="2114698"/>
            <a:ext cx="5839420" cy="9525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886098"/>
            <a:ext cx="123825" cy="12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CI/CD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CI: a script another computer runs on every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46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8120" y="2114996"/>
            <a:ext cx="4695229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It is a recipe, read top to bottom: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when (push or PR), where (a fresh Ubuntu machine), what (get code, install Python, install packages, run tests).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68120" y="3162746"/>
            <a:ext cx="4695229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Fresh machine is the point.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'It works on my laptop' is not evidence. It works on a machine that has never seen your laptop 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595" y="3991421"/>
            <a:ext cx="4714279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D2D24"/>
                </a:solidFill>
                <a:latin typeface="Nunito"/>
              </a:rPr>
              <a:t>Green check or red X</a:t>
            </a:r>
            <a:r>
              <a:rPr sz="1200" b="0" i="0" u="none">
                <a:solidFill>
                  <a:srgbClr val="1D2D24"/>
                </a:solidFill>
                <a:latin typeface="Nunito"/>
              </a:rPr>
              <a:t> appears on every commit and pull request. Nobody has to remember to run the tests.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595" y="4810571"/>
            <a:ext cx="4714279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F5247"/>
                </a:solidFill>
                <a:latin typeface="Nunito"/>
              </a:rPr>
              <a:t>Yours to read at .github/workflows/ci.yml,</a:t>
            </a:r>
            <a:r>
              <a:rPr sz="1200" b="0" i="0" u="none">
                <a:solidFill>
                  <a:srgbClr val="3F5247"/>
                </a:solidFill>
                <a:latin typeface="Nunito"/>
              </a:rPr>
              <a:t> at the repo root. Twenty lines. Every line is on this slide.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1867048"/>
            <a:ext cx="2512218" cy="16192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8593E"/>
                </a:solidFill>
                <a:latin typeface="Fira Code"/>
              </a:rPr>
              <a:t>.github/workflows/ci.yml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7920" y="1871811"/>
            <a:ext cx="12192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5C7065"/>
                </a:solidFill>
                <a:latin typeface="Fira Code"/>
              </a:rPr>
              <a:t>GitHub Actions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2257573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6D597A"/>
                </a:solidFill>
                <a:latin typeface="Fira Code"/>
              </a:rPr>
              <a:t>name: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ci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2483494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6D597A"/>
                </a:solidFill>
                <a:latin typeface="Fira Code"/>
              </a:rPr>
              <a:t>on: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950" y="2709416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</a:t>
            </a:r>
            <a:r>
              <a:rPr sz="1050" b="1" i="0" u="none">
                <a:solidFill>
                  <a:srgbClr val="6D597A"/>
                </a:solidFill>
                <a:latin typeface="Fira Code"/>
              </a:rPr>
              <a:t>push: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           { branches: [main] 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950" y="2935337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6D597A"/>
                </a:solidFill>
                <a:latin typeface="Fira Code"/>
              </a:rPr>
              <a:t>  pull_request: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950" y="3387179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6D597A"/>
                </a:solidFill>
                <a:latin typeface="Fira Code"/>
              </a:rPr>
              <a:t>jobs: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950" y="3613100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6D597A"/>
                </a:solidFill>
                <a:latin typeface="Fira Code"/>
              </a:rPr>
              <a:t>  test: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2950" y="3839021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</a:t>
            </a:r>
            <a:r>
              <a:rPr sz="1050" b="1" i="0" u="none">
                <a:solidFill>
                  <a:srgbClr val="6D597A"/>
                </a:solidFill>
                <a:latin typeface="Fira Code"/>
              </a:rPr>
              <a:t>runs-on: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ubuntu-latest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950" y="4064942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6D597A"/>
                </a:solidFill>
                <a:latin typeface="Fira Code"/>
              </a:rPr>
              <a:t>    steps: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2950" y="4290863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  -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uses: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actions/checkout@v4      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1 get the code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2950" y="4516784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  -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uses: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actions/setup-python@v5  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2 install Python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2950" y="4742705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    </a:t>
            </a:r>
            <a:r>
              <a:rPr sz="1050" b="1" i="0" u="none">
                <a:solidFill>
                  <a:srgbClr val="6D597A"/>
                </a:solidFill>
                <a:latin typeface="Fira Code"/>
              </a:rPr>
              <a:t>with: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{ python-version: 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"3.12"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950" y="4968626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  -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run: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pip install pandas pytest 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3 dependencies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2950" y="5194548"/>
            <a:ext cx="6823025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  -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run: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pytest -q                     </a:t>
            </a:r>
            <a:r>
              <a:rPr sz="1050" b="0" i="0" u="none">
                <a:solidFill>
                  <a:srgbClr val="5C7065"/>
                </a:solidFill>
                <a:latin typeface="Fira Code"/>
              </a:rPr>
              <a:t># 4 tests; fail → red X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2063055"/>
            <a:ext cx="5808017" cy="3209032"/>
          </a:xfrm>
          <a:prstGeom prst="roundRect">
            <a:avLst>
              <a:gd name="adj" fmla="val 6530"/>
            </a:avLst>
          </a:prstGeom>
          <a:solidFill>
            <a:srgbClr val="F0F6F2"/>
          </a:solidFill>
          <a:ln w="19050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608117" y="1762571"/>
            <a:ext cx="5050482" cy="1066800"/>
          </a:xfrm>
          <a:prstGeom prst="roundRect">
            <a:avLst>
              <a:gd name="adj" fmla="val 21428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608117" y="2943671"/>
            <a:ext cx="5050482" cy="876300"/>
          </a:xfrm>
          <a:prstGeom prst="roundRect">
            <a:avLst>
              <a:gd name="adj" fmla="val 26086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608117" y="3934271"/>
            <a:ext cx="5050482" cy="666750"/>
          </a:xfrm>
          <a:prstGeom prst="roundRect">
            <a:avLst>
              <a:gd name="adj" fmla="val 34285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608117" y="4715321"/>
            <a:ext cx="5050482" cy="857250"/>
          </a:xfrm>
          <a:prstGeom prst="roundRect">
            <a:avLst>
              <a:gd name="adj" fmla="val 26666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52450" y="2082105"/>
            <a:ext cx="5769917" cy="342900"/>
          </a:xfrm>
          <a:prstGeom prst="rect">
            <a:avLst/>
          </a:prstGeom>
          <a:solidFill>
            <a:srgbClr val="E0ED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52450" y="2415480"/>
            <a:ext cx="5769917" cy="9525"/>
          </a:xfrm>
          <a:prstGeom prst="rect">
            <a:avLst/>
          </a:prstGeom>
          <a:solidFill>
            <a:srgbClr val="C8D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186880"/>
            <a:ext cx="123825" cy="1238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CI/CD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Tests: assertions about behaviour that stay true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8617" y="1914971"/>
            <a:ext cx="4764732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F5247"/>
                </a:solidFill>
                <a:latin typeface="Nunito"/>
              </a:rPr>
              <a:t>A test is a check-sum cell that runs itself: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given this input, the function must return that. These three pin down bugs you met in this afternoon's case. They ship in the repo under case1/tests/ — in the exercise you push them through CI yourself.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8617" y="3096071"/>
            <a:ext cx="4764732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3F5247"/>
                </a:solidFill>
                <a:latin typeface="Nunito"/>
              </a:rPr>
              <a:t>Write the test for the bug you just found.</a:t>
            </a:r>
            <a:r>
              <a:rPr sz="1125" b="0" i="0" u="none">
                <a:solidFill>
                  <a:srgbClr val="3F5247"/>
                </a:solidFill>
                <a:latin typeface="Nunito"/>
              </a:rPr>
              <a:t> This afternoon's case handed you real ones — the GEOID dtype, the satellite rows, the whitespace rule. Each fix could ship with the test that keeps it fixed.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89092" y="4077146"/>
            <a:ext cx="4783782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D2D24"/>
                </a:solidFill>
                <a:latin typeface="Nunito"/>
              </a:rPr>
              <a:t>A failing test is allowed.</a:t>
            </a:r>
            <a:r>
              <a:rPr sz="1125" b="0" i="0" u="none">
                <a:solidFill>
                  <a:srgbClr val="1D2D24"/>
                </a:solidFill>
                <a:latin typeface="Nunito"/>
              </a:rPr>
              <a:t> It documents a known weakness honestly — better than a passing test that checks nothing.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9092" y="4858196"/>
            <a:ext cx="4783782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D2D24"/>
                </a:solidFill>
                <a:latin typeface="Nunito"/>
              </a:rPr>
              <a:t>A finished analysis can run as a test too:</a:t>
            </a:r>
            <a:r>
              <a:rPr sz="1125" b="0" i="0" u="none">
                <a:solidFill>
                  <a:srgbClr val="1D2D24"/>
                </a:solidFill>
                <a:latin typeface="Nunito"/>
              </a:rPr>
              <a:t> 'the county ranking must not change when the pipeline re-runs on the same data'. That is how an analysis becomes a living asset.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2167830"/>
            <a:ext cx="3083718" cy="16192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28593E"/>
                </a:solidFill>
                <a:latin typeface="Fira Code"/>
              </a:rPr>
              <a:t>case1/tests/test_whitespace.py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31817" y="2172592"/>
            <a:ext cx="6858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5C7065"/>
                </a:solidFill>
                <a:latin typeface="Fira Code"/>
              </a:rPr>
              <a:t>pytest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2596455"/>
            <a:ext cx="66885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6D597A"/>
                </a:solidFill>
                <a:latin typeface="Fira Code"/>
              </a:rPr>
              <a:t>def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test_geoid_keeps_leading_zeros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2822376"/>
            <a:ext cx="66885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locs =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load_locations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"bdc_il_locations_sample.csv.gz"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3048297"/>
            <a:ext cx="66885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</a:t>
            </a:r>
            <a:r>
              <a:rPr sz="1050" b="1" i="0" u="none">
                <a:solidFill>
                  <a:srgbClr val="6D597A"/>
                </a:solidFill>
                <a:latin typeface="Fira Code"/>
              </a:rPr>
              <a:t>assert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locs.block_geoid.str.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len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().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eq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15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).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all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3500139"/>
            <a:ext cx="66885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6D597A"/>
                </a:solidFill>
                <a:latin typeface="Fira Code"/>
              </a:rPr>
              <a:t>def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test_satellite_never_counts_as_served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3726060"/>
            <a:ext cx="66885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served =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served_offers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(avail, down_min=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100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, up_min=</a:t>
            </a:r>
            <a:r>
              <a:rPr sz="1050" b="1" i="0" u="none">
                <a:solidFill>
                  <a:srgbClr val="D95D39"/>
                </a:solidFill>
                <a:latin typeface="Fira Code"/>
              </a:rPr>
              <a:t>20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3951982"/>
            <a:ext cx="66885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</a:t>
            </a:r>
            <a:r>
              <a:rPr sz="1050" b="1" i="0" u="none">
                <a:solidFill>
                  <a:srgbClr val="6D597A"/>
                </a:solidFill>
                <a:latin typeface="Fira Code"/>
              </a:rPr>
              <a:t>assert not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served.technology.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isin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(SATELLITE).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any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000" y="4403824"/>
            <a:ext cx="66885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1" i="0" u="none">
                <a:solidFill>
                  <a:srgbClr val="6D597A"/>
                </a:solidFill>
                <a:latin typeface="Fira Code"/>
              </a:rPr>
              <a:t>def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test_whitespace_blocks_are_adjacent_only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():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4629745"/>
            <a:ext cx="66885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ws = blk[blk.whitespace]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2000" y="4855666"/>
            <a:ext cx="6688521" cy="19734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554"/>
              </a:lnSpc>
            </a:pPr>
            <a:r>
              <a:rPr sz="1050" b="0" i="0" u="none">
                <a:solidFill>
                  <a:srgbClr val="1D2D24"/>
                </a:solidFill>
                <a:latin typeface="Fira Code"/>
              </a:rPr>
              <a:t>    </a:t>
            </a:r>
            <a:r>
              <a:rPr sz="1050" b="1" i="0" u="none">
                <a:solidFill>
                  <a:srgbClr val="6D597A"/>
                </a:solidFill>
                <a:latin typeface="Fira Code"/>
              </a:rPr>
              <a:t>assert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 (ws.relation_to_footprint == </a:t>
            </a:r>
            <a:r>
              <a:rPr sz="1050" b="0" i="0" u="none">
                <a:solidFill>
                  <a:srgbClr val="28593E"/>
                </a:solidFill>
                <a:latin typeface="Fira Code"/>
              </a:rPr>
              <a:t>"adjacent"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).</a:t>
            </a:r>
            <a:r>
              <a:rPr sz="1050" b="1" i="0" u="none">
                <a:solidFill>
                  <a:srgbClr val="3B7A57"/>
                </a:solidFill>
                <a:latin typeface="Fira Code"/>
              </a:rPr>
              <a:t>all</a:t>
            </a:r>
            <a:r>
              <a:rPr sz="1050" b="0" i="0" u="none">
                <a:solidFill>
                  <a:srgbClr val="1D2D24"/>
                </a:solidFill>
                <a:latin typeface="Fira Code"/>
              </a:rPr>
              <a:t>()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248346"/>
            <a:ext cx="5429250" cy="2838450"/>
          </a:xfrm>
          <a:prstGeom prst="roundRect">
            <a:avLst>
              <a:gd name="adj" fmla="val 8053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29350" y="2091183"/>
            <a:ext cx="5429250" cy="3152775"/>
          </a:xfrm>
          <a:prstGeom prst="roundRect">
            <a:avLst>
              <a:gd name="adj" fmla="val 7250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553146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2395983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CI/CD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CD — and the honest limits of a green check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2943671"/>
            <a:ext cx="6400800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28593E"/>
                </a:solidFill>
                <a:latin typeface="Quicksand"/>
              </a:rPr>
              <a:t>Continuous deployment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362771"/>
            <a:ext cx="4972050" cy="876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F5247"/>
                </a:solidFill>
                <a:latin typeface="Nunito"/>
              </a:rPr>
              <a:t>Tests green → merge to main → the app updates. Streamlit Community Cloud watches your main branch and redeploys on every merge — so for this dashboard, CD costs nothing extra to set 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372421"/>
            <a:ext cx="49720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D2D24"/>
                </a:solidFill>
                <a:latin typeface="Nunito"/>
              </a:rPr>
              <a:t>The discipline: nothing reaches users that did not pass the tests. Compare: emailing model_v13.xlsx to the deal team at 11 pm.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575" y="2786508"/>
            <a:ext cx="568642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B84322"/>
                </a:solidFill>
                <a:latin typeface="Quicksand"/>
              </a:rPr>
              <a:t>What green does not mean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575" y="3205608"/>
            <a:ext cx="49720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F5247"/>
                </a:solidFill>
                <a:latin typeface="Nunito"/>
              </a:rPr>
              <a:t>It means: the tests you wrote passed on a clean machine. Nothing more.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5575" y="3758058"/>
            <a:ext cx="49720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F5247"/>
                </a:solidFill>
                <a:latin typeface="Nunito"/>
              </a:rPr>
              <a:t>It does not mean the analysis is right, the assumptions are sound, or the data is current.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5575" y="4310508"/>
            <a:ext cx="4972050" cy="657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1D2D24"/>
                </a:solidFill>
                <a:latin typeface="Nunito"/>
              </a:rPr>
              <a:t>The exercise's four tests cover the GEOID dtype, the satellite rule and the whitespace cut. They do not cover 'the analysis answers the right question'. Say what is covered.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1653033"/>
            <a:ext cx="11125200" cy="381000"/>
          </a:xfrm>
          <a:prstGeom prst="roundRect">
            <a:avLst>
              <a:gd name="adj" fmla="val 50000"/>
            </a:avLst>
          </a:prstGeom>
          <a:solidFill>
            <a:srgbClr val="3B7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3400" y="2429321"/>
            <a:ext cx="6261050" cy="2914650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984950" y="2148333"/>
            <a:ext cx="4673649" cy="1428750"/>
          </a:xfrm>
          <a:prstGeom prst="roundRect">
            <a:avLst>
              <a:gd name="adj" fmla="val 16000"/>
            </a:avLst>
          </a:prstGeom>
          <a:solidFill>
            <a:srgbClr val="FDEAE3"/>
          </a:solidFill>
          <a:ln w="9525">
            <a:solidFill>
              <a:srgbClr val="F9C6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984950" y="3672333"/>
            <a:ext cx="4673649" cy="1066800"/>
          </a:xfrm>
          <a:prstGeom prst="roundRect">
            <a:avLst>
              <a:gd name="adj" fmla="val 21428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984950" y="4834383"/>
            <a:ext cx="4673649" cy="790575"/>
          </a:xfrm>
          <a:prstGeom prst="roundRect">
            <a:avLst>
              <a:gd name="adj" fmla="val 28915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CI/CD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Exercise · 4:35 · 15 minutes — push, break, fix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1748283"/>
            <a:ext cx="22502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Fira Code"/>
              </a:rPr>
              <a:t>EXERCISE · YOUR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987" y="1748283"/>
            <a:ext cx="473868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FFFFF"/>
                </a:solidFill>
                <a:latin typeface="Nunito"/>
              </a:rPr>
              <a:t>all in the browser on github.com · nothing to install · 15 min</a:t>
            </a:r>
          </a:p>
        </p:txBody>
      </p:sp>
      <p:sp>
        <p:nvSpPr>
          <p:cNvPr id="15" name="TextBox 14">
            <a:hlinkClick r:id="rId2"/>
          </p:cNvPr>
          <p:cNvSpPr txBox="1"/>
          <p:nvPr/>
        </p:nvSpPr>
        <p:spPr>
          <a:xfrm>
            <a:off x="10067544" y="1709928"/>
            <a:ext cx="1481328" cy="274320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>
            <a:noFill/>
          </a:ln>
          <a:effectLst>
            <a:outerShdw blurRad="50800" dist="25400" dir="5400000" rotWithShape="0">
              <a:srgbClr val="1A3A2A">
                <a:alpha val="40000"/>
              </a:srgbClr>
            </a:outerShdw>
          </a:effectLst>
        </p:spPr>
        <p:txBody>
          <a:bodyPr wrap="none" lIns="36576" tIns="0" rIns="36576" bIns="0" anchor="ctr" anchorCtr="0">
            <a:spAutoFit/>
          </a:bodyPr>
          <a:lstStyle/>
          <a:p>
            <a:pPr algn="ctr"/>
            <a:r>
              <a:rPr sz="1000" b="1" i="0" u="none">
                <a:solidFill>
                  <a:srgbClr val="3B7A57"/>
                </a:solidFill>
                <a:latin typeface="Nunito"/>
              </a:rPr>
              <a:t>github.com/new 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950" y="2600771"/>
            <a:ext cx="7667559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3B7A57"/>
                </a:solidFill>
                <a:latin typeface="Quicksand"/>
              </a:rPr>
              <a:t>Do — exact steps (one driver, everyone reads along)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896046"/>
            <a:ext cx="7302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F5247"/>
                </a:solidFill>
                <a:latin typeface="Nunito"/>
              </a:rPr>
              <a:t>1 ·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github.com/new → name it ci-exercise → Public → Create 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2950" y="3124646"/>
            <a:ext cx="7302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F5247"/>
                </a:solidFill>
                <a:latin typeface="Nunito"/>
              </a:rPr>
              <a:t>2 ·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Get the code: workshop repo → green Code button → Download ZIP → unzip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950" y="3353246"/>
            <a:ext cx="59372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F5247"/>
                </a:solidFill>
                <a:latin typeface="Nunito"/>
              </a:rPr>
              <a:t>3 ·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Your new repo → Add file → Upload files → drag in case1/ and .github/ → Commit changes. (.github must sit at the repo root — it is the only place GitHub looks for workflows)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2950" y="3762821"/>
            <a:ext cx="59372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F5247"/>
                </a:solidFill>
                <a:latin typeface="Nunito"/>
              </a:rPr>
              <a:t>4 ·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Actions tab → ci runs → green ✓ — this afternoon's whitespace tests passing on GitHub's machine, not yours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950" y="4172396"/>
            <a:ext cx="59372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F5247"/>
                </a:solidFill>
                <a:latin typeface="Nunito"/>
              </a:rPr>
              <a:t>5 ·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Break it: open case1/whitespace.py → pencil icon (Edit) → in served_offers, delete the line &amp; ~avail["technology"].isin(SATELLITE) → Commit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2950" y="4581971"/>
            <a:ext cx="59372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F5247"/>
                </a:solidFill>
                <a:latin typeface="Nunito"/>
              </a:rPr>
              <a:t>6 ·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Actions tab → red ✗ → click the run, then the failed step. Read aloud: which test failed, what it expected, what it saw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950" y="4991546"/>
            <a:ext cx="73024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F5247"/>
                </a:solidFill>
                <a:latin typeface="Nunito"/>
              </a:rPr>
              <a:t>7 ·</a:t>
            </a:r>
            <a:r>
              <a:rPr sz="1050" b="0" i="0" u="none">
                <a:solidFill>
                  <a:srgbClr val="3F5247"/>
                </a:solidFill>
                <a:latin typeface="Nunito"/>
              </a:rPr>
              <a:t> Fix it: paste the satellite line back → Commit → green 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65925" y="2291208"/>
            <a:ext cx="50260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B84322"/>
                </a:solidFill>
                <a:latin typeface="Quicksand"/>
              </a:rPr>
              <a:t>Why step 6 is the point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5925" y="2529333"/>
            <a:ext cx="4406949" cy="90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The red ✗ is CI doing its job: test_satellite_never_counts_as_served names the exact bug from this afternoon — satellite rows quietly counting as served — and catches it before anyone downstream builds on the wrong number. Reading a failure calmly (test name, expected, got) is the skill.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65925" y="3815208"/>
            <a:ext cx="502607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92400E"/>
                </a:solidFill>
                <a:latin typeface="Quicksand"/>
              </a:rPr>
              <a:t>Done early? 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65925" y="4053333"/>
            <a:ext cx="4406949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F5247"/>
                </a:solidFill>
                <a:latin typeface="Nunito"/>
              </a:rPr>
              <a:t>Add a test of your own: at 25/3 thresholds, served_offers must return at least as many rows as at 100/20. Then try it on a branch and open a pull request — CI runs on the PR before you merge.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65925" y="4958208"/>
            <a:ext cx="4406949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8593E"/>
                </a:solidFill>
                <a:latin typeface="Nunito"/>
              </a:rPr>
              <a:t>Checkpoint, 4:50 — your repo shows a green check, everyone saw the red one, and anyone in the group can name what the failing test checked.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F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4157662"/>
            <a:ext cx="9144000" cy="1009650"/>
          </a:xfrm>
          <a:prstGeom prst="roundRect">
            <a:avLst>
              <a:gd name="adj" fmla="val 22641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90687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75" y="1871662"/>
            <a:ext cx="247650" cy="247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2528887"/>
            <a:ext cx="114300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B7A57"/>
                </a:solidFill>
                <a:latin typeface="Fira Code"/>
              </a:rPr>
              <a:t>SECTION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786062"/>
            <a:ext cx="11582400" cy="666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200" b="1" i="0" u="none">
                <a:solidFill>
                  <a:srgbClr val="1D2D24"/>
                </a:solidFill>
                <a:latin typeface="Quicksand"/>
              </a:rPr>
              <a:t>Wrap-up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605212"/>
            <a:ext cx="114300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B7A57"/>
                </a:solidFill>
                <a:latin typeface="Fira Code"/>
              </a:rPr>
              <a:t>10 minutes (4:50–5:00)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4405312"/>
            <a:ext cx="1071562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95D39"/>
                </a:solidFill>
                <a:latin typeface="Fira Code"/>
              </a:rPr>
              <a:t>BY THE END OF THIS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4662487"/>
            <a:ext cx="10715625" cy="2571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1D2D24"/>
                </a:solidFill>
                <a:latin typeface="Nunito"/>
              </a:rPr>
              <a:t>Know what to take home from today · Know what to practise before tomorrow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33400" y="1581596"/>
            <a:ext cx="5476875" cy="190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81725" y="1686371"/>
            <a:ext cx="5476875" cy="1695450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33400" y="3762821"/>
            <a:ext cx="5476875" cy="1885950"/>
          </a:xfrm>
          <a:prstGeom prst="roundRect">
            <a:avLst>
              <a:gd name="adj" fmla="val 12121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181725" y="3658046"/>
            <a:ext cx="5476875" cy="209550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10196"/>
            <a:ext cx="400050" cy="4000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1914971"/>
            <a:ext cx="400050" cy="4000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475" y="3981896"/>
            <a:ext cx="400050" cy="4000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877121"/>
            <a:ext cx="400050" cy="4000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1914971"/>
            <a:ext cx="190500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5100" y="2019746"/>
            <a:ext cx="19050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3437" y="4086671"/>
            <a:ext cx="238125" cy="1905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5575" y="3981896"/>
            <a:ext cx="190500" cy="190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WRAP-UP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Takeaways — put them to work Monday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51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000" y="2305496"/>
            <a:ext cx="6588323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Rebuild your last Excel analysis in a notebook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000" y="2629346"/>
            <a:ext cx="51149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Not a new one — the last one. Load, clean, aggregate, export. Keep the Excel→pandas table open. Budget two hours; expect four; the second one takes 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0325" y="2410271"/>
            <a:ext cx="57816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Put every assumption at the 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0325" y="2734121"/>
            <a:ext cx="511492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In capitals, with a comment. When someone asks 'what if', change one line and re-run. Show them the assumptions sheet in the export.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2475" y="4477196"/>
            <a:ext cx="661332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Let an LLM draft the code — then read every 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475" y="4801046"/>
            <a:ext cx="513397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28593E"/>
                </a:solidFill>
                <a:latin typeface="Nunito"/>
              </a:rPr>
              <a:t>'Write pandas to group this by county and sum units' is a good prompt. Paste the error back when it fails. You are the reviewer; it is the associate.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372421"/>
            <a:ext cx="5791200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Come back tomorrow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696271"/>
            <a:ext cx="5133975" cy="838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Day 2, same room, 9:00–3:00: how LLMs actually work, context engineering, Case 2 — an AI news screen you measure before trusting — ending in a team build sprint with UChicago tech students. Bring this laptop.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055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33400" y="2600771"/>
            <a:ext cx="2667000" cy="2133600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9050">
            <a:solidFill>
              <a:srgbClr val="E2EC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371850" y="2629346"/>
            <a:ext cx="2647950" cy="2076450"/>
          </a:xfrm>
          <a:prstGeom prst="roundRect">
            <a:avLst>
              <a:gd name="adj" fmla="val 11009"/>
            </a:avLst>
          </a:prstGeom>
          <a:solidFill>
            <a:srgbClr val="E6F2EA"/>
          </a:solidFill>
          <a:ln w="9525">
            <a:solidFill>
              <a:srgbClr val="C8D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505521"/>
            <a:ext cx="2647950" cy="2324100"/>
          </a:xfrm>
          <a:prstGeom prst="roundRect">
            <a:avLst>
              <a:gd name="adj" fmla="val 9836"/>
            </a:avLst>
          </a:prstGeom>
          <a:solidFill>
            <a:srgbClr val="FEF3C7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010650" y="2629346"/>
            <a:ext cx="2647950" cy="2076450"/>
          </a:xfrm>
          <a:prstGeom prst="roundRect">
            <a:avLst>
              <a:gd name="adj" fmla="val 11009"/>
            </a:avLst>
          </a:prstGeom>
          <a:solidFill>
            <a:srgbClr val="F2EFE9"/>
          </a:solidFill>
          <a:ln w="9525">
            <a:solidFill>
              <a:srgbClr val="E2DD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6305550"/>
            <a:ext cx="11125200" cy="9525"/>
          </a:xfrm>
          <a:prstGeom prst="rect">
            <a:avLst/>
          </a:prstGeom>
          <a:solidFill>
            <a:srgbClr val="DCE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3400" y="3810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B7A57"/>
                </a:solidFill>
                <a:latin typeface="Fira Code"/>
              </a:rPr>
              <a:t>WRAP-UP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6191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1D2D24"/>
                </a:solidFill>
                <a:latin typeface="Quicksand"/>
              </a:rPr>
              <a:t>Tomorrow · Day 2 — the AI 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64103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06200" y="64103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5C7065"/>
                </a:solidFill>
                <a:latin typeface="Fira Code"/>
              </a:rPr>
              <a:t>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2848421"/>
            <a:ext cx="238029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3B7A57"/>
                </a:solidFill>
                <a:latin typeface="Quicksand"/>
              </a:rPr>
              <a:t>Morning · how LLMs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50" y="3438971"/>
            <a:ext cx="22669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Next-token prediction, training stages, tool use and agents — then context engineering. Everything you measure in Case 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9975" y="2867471"/>
            <a:ext cx="285035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28593E"/>
                </a:solidFill>
                <a:latin typeface="Quicksand"/>
              </a:rPr>
              <a:t>Midday · Case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9975" y="3210371"/>
            <a:ext cx="2266950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A news screen for Marriott: lexicon baseline vs an LLM classifier vs your own labels. The deliverable is a number and the list of cases where the model was wrong.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9375" y="2743646"/>
            <a:ext cx="2380297" cy="495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92400E"/>
                </a:solidFill>
                <a:latin typeface="Quicksand"/>
              </a:rPr>
              <a:t>Afternoon · extension sprint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334196"/>
            <a:ext cx="2266950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Teams of five — you plus UChicago tech majors. Extend your Case 2 pipeline in a 45-minute sprint; two-minute demos; prizes. Day ends at 3:00.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775" y="2867471"/>
            <a:ext cx="2850356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75" b="1" i="0" u="none">
                <a:solidFill>
                  <a:srgbClr val="1D2D24"/>
                </a:solidFill>
                <a:latin typeface="Quicksand"/>
              </a:rPr>
              <a:t>What to bring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8775" y="3210371"/>
            <a:ext cx="2266950" cy="1257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5247"/>
                </a:solidFill>
                <a:latin typeface="Nunito"/>
              </a:rPr>
              <a:t>This laptop, your Colab account, and your Case 1 notebook — tomorrow's case reuses today's push/CI/test loop on a new problem. Same room, 9:00 sharp.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2D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6343650"/>
            <a:ext cx="11125200" cy="285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32464" y="2148333"/>
            <a:ext cx="4326135" cy="3000375"/>
          </a:xfrm>
          <a:prstGeom prst="roundRect">
            <a:avLst>
              <a:gd name="adj" fmla="val 8888"/>
            </a:avLst>
          </a:prstGeom>
          <a:solidFill>
            <a:srgbClr val="263B2F"/>
          </a:solidFill>
          <a:ln w="19050">
            <a:solidFill>
              <a:srgbClr val="3B59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33400" y="6343650"/>
            <a:ext cx="11125200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1991171"/>
            <a:ext cx="1228129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761529" y="1991171"/>
            <a:ext cx="5342334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33400" y="2457896"/>
            <a:ext cx="1228129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761529" y="2457896"/>
            <a:ext cx="5342334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33400" y="2924621"/>
            <a:ext cx="1228129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761529" y="2924621"/>
            <a:ext cx="5342334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3400" y="3391346"/>
            <a:ext cx="1228129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761529" y="3391346"/>
            <a:ext cx="5342334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3400" y="3858071"/>
            <a:ext cx="1228129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761529" y="3858071"/>
            <a:ext cx="5342334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33400" y="4324796"/>
            <a:ext cx="1228129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761529" y="4324796"/>
            <a:ext cx="5342334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33400" y="4791521"/>
            <a:ext cx="1228129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761529" y="4791521"/>
            <a:ext cx="5342334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33400" y="5086796"/>
            <a:ext cx="1228129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761529" y="5086796"/>
            <a:ext cx="5342334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33400" y="5553521"/>
            <a:ext cx="1228129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1761529" y="5553521"/>
            <a:ext cx="5342334" cy="9525"/>
          </a:xfrm>
          <a:prstGeom prst="rect">
            <a:avLst/>
          </a:prstGeom>
          <a:solidFill>
            <a:srgbClr val="3B59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214" y="2434083"/>
            <a:ext cx="419100" cy="4191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2514" y="2548383"/>
            <a:ext cx="190500" cy="190500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533400" y="1729233"/>
            <a:ext cx="6570464" cy="3838575"/>
          </a:xfrm>
          <a:prstGeom prst="roundRect">
            <a:avLst>
              <a:gd name="adj" fmla="val 0"/>
            </a:avLst>
          </a:prstGeom>
          <a:solidFill>
            <a:srgbClr val="263B2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533400" y="1729233"/>
          <a:ext cx="6570463" cy="3838575"/>
        </p:xfrm>
        <a:graphic>
          <a:graphicData uri="http://schemas.openxmlformats.org/drawingml/2006/table">
            <a:tbl>
              <a:tblPr/>
              <a:tblGrid>
                <a:gridCol w="1228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2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508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DE68A"/>
                          </a:solidFill>
                          <a:latin typeface="Quicksand"/>
                        </a:rPr>
                        <a:t>Topic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493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DE68A"/>
                          </a:solidFill>
                          <a:latin typeface="Quicksand"/>
                        </a:rPr>
                        <a:t>Resource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F49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80ED99"/>
                          </a:solidFill>
                          <a:latin typeface="Nunito"/>
                        </a:rPr>
                        <a:t>Python &amp; pandas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AF7F0"/>
                          </a:solidFill>
                          <a:latin typeface="Nunito"/>
                        </a:rPr>
                        <a:t>Python for Data Analysis, 3rd ed. (free online) — wesmckinney.com/book · Kaggle Learn: Python, Pandas (free, short)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80ED99"/>
                          </a:solidFill>
                          <a:latin typeface="Nunito"/>
                        </a:rPr>
                        <a:t>The 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AF7F0"/>
                          </a:solidFill>
                          <a:latin typeface="Nunito"/>
                        </a:rPr>
                        <a:t>FCC National Broadband Map &amp; downloads — broadbandmap.fcc.gov · Census data via data.census.gov · FRED — fred.stlouisfed.org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80ED99"/>
                          </a:solidFill>
                          <a:latin typeface="Nunito"/>
                        </a:rPr>
                        <a:t>How LLMs work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AF7F0"/>
                          </a:solidFill>
                          <a:latin typeface="Nunito"/>
                        </a:rPr>
                        <a:t>3Blue1Brown, 'But what is a GPT?' — 3blue1brown.com/lessons/gpt · Karpathy, 'Intro to Large Language Models' (YouTube)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80ED99"/>
                          </a:solidFill>
                          <a:latin typeface="Nunito"/>
                        </a:rPr>
                        <a:t>Prompting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AF7F0"/>
                          </a:solidFill>
                          <a:latin typeface="Nunito"/>
                        </a:rPr>
                        <a:t>Anthropic prompt engineering docs — docs.claude.com · the PROMPT_V2 in today's newslib.py, read again in a week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80ED99"/>
                          </a:solidFill>
                          <a:latin typeface="Nunito"/>
                        </a:rPr>
                        <a:t>Evaluation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AF7F0"/>
                          </a:solidFill>
                          <a:latin typeface="Nunito"/>
                        </a:rPr>
                        <a:t>Today's notebook, Steps 4–6: gold set → confusion matrix → disagreement list. Repeat it on your own task.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80ED99"/>
                          </a:solidFill>
                          <a:latin typeface="Nunito"/>
                        </a:rPr>
                        <a:t>Git &amp; CI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AF7F0"/>
                          </a:solidFill>
                          <a:latin typeface="Nunito"/>
                        </a:rPr>
                        <a:t>GitHub Skills (skills.github.com) · GitHub Actions quickstart — docs.github.com/actions · today's ci.yml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508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80ED99"/>
                          </a:solidFill>
                          <a:latin typeface="Nunito"/>
                        </a:rPr>
                        <a:t>Dashboards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AF7F0"/>
                          </a:solidFill>
                          <a:latin typeface="Nunito"/>
                        </a:rPr>
                        <a:t>Streamlit docs — docs.streamlit.io · Community Cloud (free hosting from a GitHub repo)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511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80ED99"/>
                          </a:solidFill>
                          <a:latin typeface="Nunito"/>
                        </a:rPr>
                        <a:t>Finance text analysis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FAF7F0"/>
                          </a:solidFill>
                          <a:latin typeface="Nunito"/>
                        </a:rPr>
                        <a:t>Loughran–McDonald sentiment word lists — sraf.nd.edu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63B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33400" y="342900"/>
            <a:ext cx="116586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0ED99"/>
                </a:solidFill>
                <a:latin typeface="Fira Code"/>
              </a:rPr>
              <a:t>WRAP-UP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581025"/>
            <a:ext cx="11658600" cy="37236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932"/>
              </a:lnSpc>
            </a:pPr>
            <a:r>
              <a:rPr sz="2550" b="1" i="0" u="none">
                <a:solidFill>
                  <a:srgbClr val="FAF7F0"/>
                </a:solidFill>
                <a:latin typeface="Quicksand"/>
              </a:rPr>
              <a:t>Resources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400" y="6448425"/>
            <a:ext cx="384571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8DFD0"/>
                </a:solidFill>
                <a:latin typeface="Nunito"/>
              </a:rPr>
              <a:t>From Excel to Python and AI · University of Chicago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06200" y="6448425"/>
            <a:ext cx="43815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8DFD0"/>
                </a:solidFill>
                <a:latin typeface="Fira Code"/>
              </a:rPr>
              <a:t>53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18214" y="2986533"/>
            <a:ext cx="4573785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FDE68A"/>
                </a:solidFill>
                <a:latin typeface="Quicksand"/>
              </a:rPr>
              <a:t>Thank you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18214" y="3500883"/>
            <a:ext cx="384988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AF7F0"/>
                </a:solidFill>
                <a:latin typeface="Nunito"/>
              </a:rPr>
              <a:t>Everything from today lives in the repository: notebooks, data, the app, this deck, and the syllabus.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18214" y="4053333"/>
            <a:ext cx="3849885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80ED99"/>
                </a:solidFill>
                <a:latin typeface="Nunito"/>
              </a:rPr>
              <a:t>See you tomorrow at 9:00 — AI day, joint with the tech cohort.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18214" y="4681983"/>
            <a:ext cx="3286156" cy="16158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sz="1050" b="0" i="0" u="none" dirty="0">
                <a:solidFill>
                  <a:srgbClr val="C8DFD0"/>
                </a:solidFill>
                <a:latin typeface="Fira Code"/>
              </a:rPr>
              <a:t>Limor Gultchin · </a:t>
            </a:r>
            <a:r>
              <a:rPr lang="en-US" sz="1050">
                <a:solidFill>
                  <a:srgbClr val="C8DFD0"/>
                </a:solidFill>
                <a:latin typeface="Fira Code"/>
              </a:rPr>
              <a:t>limor.Gultchin@gmail.com</a:t>
            </a:r>
            <a:endParaRPr sz="1050" b="0" i="0" u="none" dirty="0">
              <a:solidFill>
                <a:srgbClr val="C8DFD0"/>
              </a:solidFill>
              <a:latin typeface="Fira Cod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9454</Words>
  <Application>Microsoft Macintosh PowerPoint</Application>
  <PresentationFormat>Widescreen</PresentationFormat>
  <Paragraphs>873</Paragraphs>
  <Slides>53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9" baseType="lpstr">
      <vt:lpstr>Fira Code</vt:lpstr>
      <vt:lpstr>Calibri</vt:lpstr>
      <vt:lpstr>Nunito</vt:lpstr>
      <vt:lpstr>Quicksand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Limor Gultchin</cp:lastModifiedBy>
  <cp:revision>3</cp:revision>
  <dcterms:created xsi:type="dcterms:W3CDTF">2013-01-27T09:14:16Z</dcterms:created>
  <dcterms:modified xsi:type="dcterms:W3CDTF">2026-10-15T19:26:15Z</dcterms:modified>
  <cp:category/>
</cp:coreProperties>
</file>